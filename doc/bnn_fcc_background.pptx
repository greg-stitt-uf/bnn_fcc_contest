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4"/>
    <p:sldMasterId id="2147483648" r:id="rId5"/>
    <p:sldMasterId id="2147483676" r:id="rId6"/>
  </p:sldMasterIdLst>
  <p:notesMasterIdLst>
    <p:notesMasterId r:id="rId30"/>
  </p:notesMasterIdLst>
  <p:sldIdLst>
    <p:sldId id="321" r:id="rId7"/>
    <p:sldId id="409" r:id="rId8"/>
    <p:sldId id="410" r:id="rId9"/>
    <p:sldId id="411" r:id="rId10"/>
    <p:sldId id="412" r:id="rId11"/>
    <p:sldId id="413" r:id="rId12"/>
    <p:sldId id="414" r:id="rId13"/>
    <p:sldId id="415" r:id="rId14"/>
    <p:sldId id="416" r:id="rId15"/>
    <p:sldId id="417" r:id="rId16"/>
    <p:sldId id="431" r:id="rId17"/>
    <p:sldId id="432" r:id="rId18"/>
    <p:sldId id="418" r:id="rId19"/>
    <p:sldId id="419" r:id="rId20"/>
    <p:sldId id="422" r:id="rId21"/>
    <p:sldId id="423" r:id="rId22"/>
    <p:sldId id="436" r:id="rId23"/>
    <p:sldId id="437" r:id="rId24"/>
    <p:sldId id="428" r:id="rId25"/>
    <p:sldId id="438" r:id="rId26"/>
    <p:sldId id="439" r:id="rId27"/>
    <p:sldId id="441" r:id="rId28"/>
    <p:sldId id="442" r:id="rId29"/>
  </p:sldIdLst>
  <p:sldSz cx="12192000" cy="6858000"/>
  <p:notesSz cx="6858000" cy="9144000"/>
  <p:defaultTextStyle>
    <a:lvl1pPr defTabSz="321457">
      <a:defRPr sz="844">
        <a:latin typeface="Helvetica"/>
        <a:ea typeface="Helvetica"/>
        <a:cs typeface="Helvetica"/>
        <a:sym typeface="Helvetica"/>
      </a:defRPr>
    </a:lvl1pPr>
    <a:lvl2pPr indent="160729" defTabSz="321457">
      <a:defRPr sz="844">
        <a:latin typeface="Helvetica"/>
        <a:ea typeface="Helvetica"/>
        <a:cs typeface="Helvetica"/>
        <a:sym typeface="Helvetica"/>
      </a:defRPr>
    </a:lvl2pPr>
    <a:lvl3pPr indent="321457" defTabSz="321457">
      <a:defRPr sz="844">
        <a:latin typeface="Helvetica"/>
        <a:ea typeface="Helvetica"/>
        <a:cs typeface="Helvetica"/>
        <a:sym typeface="Helvetica"/>
      </a:defRPr>
    </a:lvl3pPr>
    <a:lvl4pPr indent="482186" defTabSz="321457">
      <a:defRPr sz="844">
        <a:latin typeface="Helvetica"/>
        <a:ea typeface="Helvetica"/>
        <a:cs typeface="Helvetica"/>
        <a:sym typeface="Helvetica"/>
      </a:defRPr>
    </a:lvl4pPr>
    <a:lvl5pPr indent="642915" defTabSz="321457">
      <a:defRPr sz="844">
        <a:latin typeface="Helvetica"/>
        <a:ea typeface="Helvetica"/>
        <a:cs typeface="Helvetica"/>
        <a:sym typeface="Helvetica"/>
      </a:defRPr>
    </a:lvl5pPr>
    <a:lvl6pPr indent="803643" defTabSz="321457">
      <a:defRPr sz="844">
        <a:latin typeface="Helvetica"/>
        <a:ea typeface="Helvetica"/>
        <a:cs typeface="Helvetica"/>
        <a:sym typeface="Helvetica"/>
      </a:defRPr>
    </a:lvl6pPr>
    <a:lvl7pPr indent="964372" defTabSz="321457">
      <a:defRPr sz="844">
        <a:latin typeface="Helvetica"/>
        <a:ea typeface="Helvetica"/>
        <a:cs typeface="Helvetica"/>
        <a:sym typeface="Helvetica"/>
      </a:defRPr>
    </a:lvl7pPr>
    <a:lvl8pPr indent="1125101" defTabSz="321457">
      <a:defRPr sz="844">
        <a:latin typeface="Helvetica"/>
        <a:ea typeface="Helvetica"/>
        <a:cs typeface="Helvetica"/>
        <a:sym typeface="Helvetica"/>
      </a:defRPr>
    </a:lvl8pPr>
    <a:lvl9pPr indent="1285829" defTabSz="321457">
      <a:defRPr sz="844">
        <a:latin typeface="Helvetica"/>
        <a:ea typeface="Helvetica"/>
        <a:cs typeface="Helvetica"/>
        <a:sym typeface="Helvetica"/>
      </a:defRPr>
    </a:lvl9pPr>
  </p:defaultTextStyle>
  <p:extLst>
    <p:ext uri="{521415D9-36F7-43E2-AB2F-B90AF26B5E84}">
      <p14:sectionLst xmlns:p14="http://schemas.microsoft.com/office/powerpoint/2010/main">
        <p14:section name="Default Section" id="{5C7B5D19-E944-4FD9-9D02-AEA7E8882AB7}">
          <p14:sldIdLst>
            <p14:sldId id="321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31"/>
            <p14:sldId id="432"/>
            <p14:sldId id="418"/>
            <p14:sldId id="419"/>
            <p14:sldId id="422"/>
            <p14:sldId id="423"/>
            <p14:sldId id="436"/>
            <p14:sldId id="437"/>
            <p14:sldId id="428"/>
            <p14:sldId id="438"/>
            <p14:sldId id="439"/>
            <p14:sldId id="441"/>
            <p14:sldId id="4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51CF"/>
    <a:srgbClr val="191EA2"/>
    <a:srgbClr val="FF4B01"/>
    <a:srgbClr val="D14C64"/>
    <a:srgbClr val="BDA4E6"/>
    <a:srgbClr val="5A2DA3"/>
    <a:srgbClr val="FFFFFF"/>
    <a:srgbClr val="F37021"/>
    <a:srgbClr val="45A4FC"/>
    <a:srgbClr val="1E2C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Gill Sans"/>
          <a:ea typeface="Gill Sans"/>
          <a:cs typeface="Gill Sans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</a:tcStyle>
    </a:firstCol>
    <a:la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</a:tcStyle>
    </a:lastRow>
    <a:firstRow>
      <a:tcTxStyle b="off" i="off">
        <a:font>
          <a:latin typeface="Gill Sans"/>
          <a:ea typeface="Gill Sans"/>
          <a:cs typeface="Gill Sans"/>
        </a:font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Light"/>
          <a:ea typeface="Helvetica Light"/>
          <a:cs typeface="Helvetica Light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4659" autoAdjust="0"/>
  </p:normalViewPr>
  <p:slideViewPr>
    <p:cSldViewPr snapToGrid="0">
      <p:cViewPr varScale="1">
        <p:scale>
          <a:sx n="105" d="100"/>
          <a:sy n="105" d="100"/>
        </p:scale>
        <p:origin x="102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2" d="100"/>
          <a:sy n="122" d="100"/>
        </p:scale>
        <p:origin x="4076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00" name="Shape 10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98531482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321457">
      <a:defRPr sz="1547">
        <a:latin typeface="Lucida Grande"/>
        <a:ea typeface="Lucida Grande"/>
        <a:cs typeface="Lucida Grande"/>
        <a:sym typeface="Lucida Grande"/>
      </a:defRPr>
    </a:lvl1pPr>
    <a:lvl2pPr indent="160729" defTabSz="321457">
      <a:defRPr sz="1547">
        <a:latin typeface="Lucida Grande"/>
        <a:ea typeface="Lucida Grande"/>
        <a:cs typeface="Lucida Grande"/>
        <a:sym typeface="Lucida Grande"/>
      </a:defRPr>
    </a:lvl2pPr>
    <a:lvl3pPr indent="321457" defTabSz="321457">
      <a:defRPr sz="1547">
        <a:latin typeface="Lucida Grande"/>
        <a:ea typeface="Lucida Grande"/>
        <a:cs typeface="Lucida Grande"/>
        <a:sym typeface="Lucida Grande"/>
      </a:defRPr>
    </a:lvl3pPr>
    <a:lvl4pPr indent="482186" defTabSz="321457">
      <a:defRPr sz="1547">
        <a:latin typeface="Lucida Grande"/>
        <a:ea typeface="Lucida Grande"/>
        <a:cs typeface="Lucida Grande"/>
        <a:sym typeface="Lucida Grande"/>
      </a:defRPr>
    </a:lvl4pPr>
    <a:lvl5pPr indent="642915" defTabSz="321457">
      <a:defRPr sz="1547">
        <a:latin typeface="Lucida Grande"/>
        <a:ea typeface="Lucida Grande"/>
        <a:cs typeface="Lucida Grande"/>
        <a:sym typeface="Lucida Grande"/>
      </a:defRPr>
    </a:lvl5pPr>
    <a:lvl6pPr indent="803643" defTabSz="321457">
      <a:defRPr sz="1547">
        <a:latin typeface="Lucida Grande"/>
        <a:ea typeface="Lucida Grande"/>
        <a:cs typeface="Lucida Grande"/>
        <a:sym typeface="Lucida Grande"/>
      </a:defRPr>
    </a:lvl6pPr>
    <a:lvl7pPr indent="964372" defTabSz="321457">
      <a:defRPr sz="1547">
        <a:latin typeface="Lucida Grande"/>
        <a:ea typeface="Lucida Grande"/>
        <a:cs typeface="Lucida Grande"/>
        <a:sym typeface="Lucida Grande"/>
      </a:defRPr>
    </a:lvl7pPr>
    <a:lvl8pPr indent="1125101" defTabSz="321457">
      <a:defRPr sz="1547">
        <a:latin typeface="Lucida Grande"/>
        <a:ea typeface="Lucida Grande"/>
        <a:cs typeface="Lucida Grande"/>
        <a:sym typeface="Lucida Grande"/>
      </a:defRPr>
    </a:lvl8pPr>
    <a:lvl9pPr indent="1285829" defTabSz="321457">
      <a:defRPr sz="1547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DC230-4512-4A5F-A884-56552F483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53908" y="7201277"/>
            <a:ext cx="64" cy="194797"/>
          </a:xfrm>
          <a:prstGeom prst="rect">
            <a:avLst/>
          </a:prstGeom>
        </p:spPr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0347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1574651-A192-4B59-999F-27F2F6F4D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116013"/>
            <a:ext cx="11657824" cy="50787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CB352-D126-4987-888C-A2784FB29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850" y="0"/>
            <a:ext cx="9414997" cy="8661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DC230-4512-4A5F-A884-56552F483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71209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F46240A3-74D4-4D24-8F08-F9C0C724B792}"/>
              </a:ext>
            </a:extLst>
          </p:cNvPr>
          <p:cNvSpPr/>
          <p:nvPr userDrawn="1"/>
        </p:nvSpPr>
        <p:spPr>
          <a:xfrm flipV="1">
            <a:off x="0" y="925033"/>
            <a:ext cx="12192000" cy="5289696"/>
          </a:xfrm>
          <a:prstGeom prst="rect">
            <a:avLst/>
          </a:prstGeom>
          <a:solidFill>
            <a:srgbClr val="5A2DA3"/>
          </a:solidFill>
          <a:ln w="25400" cap="flat">
            <a:solidFill>
              <a:srgbClr val="5A2DA3">
                <a:alpha val="0"/>
              </a:srgbClr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 defTabSz="41073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67384D-5974-4F0B-9058-0079520B4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BEEC8-C753-4A7A-95E5-32A4C4BF14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9556" y="2607598"/>
            <a:ext cx="9132888" cy="1820862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Text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50686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ne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67384D-5974-4F0B-9058-0079520B4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BEEC8-C753-4A7A-95E5-32A4C4BF14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6700" y="1608138"/>
            <a:ext cx="9132888" cy="1820862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3600"/>
            </a:lvl1pPr>
          </a:lstStyle>
          <a:p>
            <a:pPr lvl="0"/>
            <a:r>
              <a:rPr lang="en-US"/>
              <a:t>Title Text</a:t>
            </a:r>
          </a:p>
          <a:p>
            <a:pPr lvl="0"/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D0DB4E-8335-4CF5-9322-9D12958597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36700" y="3428999"/>
            <a:ext cx="9132888" cy="1267146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2800"/>
            </a:lvl1pPr>
          </a:lstStyle>
          <a:p>
            <a:pPr lvl="0"/>
            <a:r>
              <a:rPr lang="en-US"/>
              <a:t>Presenter Text</a:t>
            </a:r>
          </a:p>
          <a:p>
            <a:pPr lvl="0"/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D0075DB-70CD-478D-B8AC-D3AC9CEA0A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6700" y="4696145"/>
            <a:ext cx="9132888" cy="889000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2400" b="0"/>
            </a:lvl1pPr>
          </a:lstStyle>
          <a:p>
            <a:pPr lvl="0"/>
            <a:r>
              <a:rPr lang="en-US"/>
              <a:t>Author Text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6695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ine dar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F46240A3-74D4-4D24-8F08-F9C0C724B792}"/>
              </a:ext>
            </a:extLst>
          </p:cNvPr>
          <p:cNvSpPr/>
          <p:nvPr userDrawn="1"/>
        </p:nvSpPr>
        <p:spPr>
          <a:xfrm flipV="1">
            <a:off x="0" y="925033"/>
            <a:ext cx="12192000" cy="5289696"/>
          </a:xfrm>
          <a:prstGeom prst="rect">
            <a:avLst/>
          </a:prstGeom>
          <a:solidFill>
            <a:srgbClr val="5A2DA3"/>
          </a:solidFill>
          <a:ln w="25400" cap="flat">
            <a:solidFill>
              <a:srgbClr val="5A2DA3">
                <a:alpha val="0"/>
              </a:srgbClr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 defTabSz="41073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67384D-5974-4F0B-9058-0079520B4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BEEC8-C753-4A7A-95E5-32A4C4BF14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6700" y="1608138"/>
            <a:ext cx="9132888" cy="1820862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Text</a:t>
            </a:r>
          </a:p>
          <a:p>
            <a:pPr lvl="0"/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D0DB4E-8335-4CF5-9322-9D12958597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36700" y="3428999"/>
            <a:ext cx="9132888" cy="1267146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Text</a:t>
            </a:r>
          </a:p>
          <a:p>
            <a:pPr lvl="0"/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D0075DB-70CD-478D-B8AC-D3AC9CEA0A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6700" y="4696145"/>
            <a:ext cx="9132888" cy="889000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 Text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94796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 text with fancy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1574651-A192-4B59-999F-27F2F6F4D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116013"/>
            <a:ext cx="11657824" cy="50787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CB352-D126-4987-888C-A2784FB29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" y="0"/>
            <a:ext cx="10941844" cy="866180"/>
          </a:xfrm>
          <a:prstGeom prst="rect">
            <a:avLst/>
          </a:prstGeom>
        </p:spPr>
        <p:txBody>
          <a:bodyPr/>
          <a:lstStyle>
            <a:lvl1pPr>
              <a:defRPr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DC230-4512-4A5F-A884-56552F483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35022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>
            <a:extLst>
              <a:ext uri="{FF2B5EF4-FFF2-40B4-BE49-F238E27FC236}">
                <a16:creationId xmlns:a16="http://schemas.microsoft.com/office/drawing/2014/main" id="{F46240A3-74D4-4D24-8F08-F9C0C724B792}"/>
              </a:ext>
            </a:extLst>
          </p:cNvPr>
          <p:cNvSpPr/>
          <p:nvPr userDrawn="1"/>
        </p:nvSpPr>
        <p:spPr>
          <a:xfrm flipV="1">
            <a:off x="0" y="925033"/>
            <a:ext cx="12192000" cy="5289696"/>
          </a:xfrm>
          <a:prstGeom prst="rect">
            <a:avLst/>
          </a:prstGeom>
          <a:solidFill>
            <a:srgbClr val="5A2DA3"/>
          </a:solidFill>
          <a:ln w="25400" cap="flat">
            <a:solidFill>
              <a:srgbClr val="5A2DA3">
                <a:alpha val="0"/>
              </a:srgbClr>
            </a:solidFill>
            <a:prstDash val="solid"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 defTabSz="41073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200" dirty="0"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67384D-5974-4F0B-9058-0079520B4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BEEC8-C753-4A7A-95E5-32A4C4BF14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9556" y="1608138"/>
            <a:ext cx="9132888" cy="901146"/>
          </a:xfrm>
          <a:prstGeom prst="rect">
            <a:avLst/>
          </a:prstGeom>
        </p:spPr>
        <p:txBody>
          <a:bodyPr/>
          <a:lstStyle>
            <a:lvl1pPr marL="223224" indent="0" algn="ctr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Text</a:t>
            </a:r>
          </a:p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F5DD7-E1EF-4A89-A504-F55F801AD2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8765" y="2509838"/>
            <a:ext cx="9134475" cy="32051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583487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m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1574651-A192-4B59-999F-27F2F6F4D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116013"/>
            <a:ext cx="11657824" cy="50787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CB352-D126-4987-888C-A2784FB29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DC230-4512-4A5F-A884-56552F483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A2CCA-4016-444A-8A97-A6204D35368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8910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3750172" y="153052"/>
            <a:ext cx="4654297" cy="2666431"/>
            <a:chOff x="3750165" y="153042"/>
            <a:chExt cx="4654297" cy="2666431"/>
          </a:xfrm>
        </p:grpSpPr>
        <p:grpSp>
          <p:nvGrpSpPr>
            <p:cNvPr id="3" name="Group 2"/>
            <p:cNvGrpSpPr/>
            <p:nvPr userDrawn="1"/>
          </p:nvGrpSpPr>
          <p:grpSpPr>
            <a:xfrm>
              <a:off x="3830765" y="153042"/>
              <a:ext cx="4510325" cy="1869138"/>
              <a:chOff x="3830765" y="153042"/>
              <a:chExt cx="4510325" cy="1869138"/>
            </a:xfrm>
          </p:grpSpPr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EEA5F129-B69D-46D3-B598-FE7AC117CFFB}"/>
                  </a:ext>
                </a:extLst>
              </p:cNvPr>
              <p:cNvSpPr/>
              <p:nvPr/>
            </p:nvSpPr>
            <p:spPr>
              <a:xfrm rot="5400000">
                <a:off x="4449351" y="179592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29" name="Isosceles Triangle 28">
                <a:extLst>
                  <a:ext uri="{FF2B5EF4-FFF2-40B4-BE49-F238E27FC236}">
                    <a16:creationId xmlns:a16="http://schemas.microsoft.com/office/drawing/2014/main" id="{17DE2F6E-8409-4871-A50A-2704ABA2B16A}"/>
                  </a:ext>
                </a:extLst>
              </p:cNvPr>
              <p:cNvSpPr/>
              <p:nvPr/>
            </p:nvSpPr>
            <p:spPr>
              <a:xfrm rot="16200000">
                <a:off x="4127186" y="179591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0" name="Isosceles Triangle 29">
                <a:extLst>
                  <a:ext uri="{FF2B5EF4-FFF2-40B4-BE49-F238E27FC236}">
                    <a16:creationId xmlns:a16="http://schemas.microsoft.com/office/drawing/2014/main" id="{8242403B-CCA9-4687-BD33-1ABA8F626759}"/>
                  </a:ext>
                </a:extLst>
              </p:cNvPr>
              <p:cNvSpPr/>
              <p:nvPr/>
            </p:nvSpPr>
            <p:spPr>
              <a:xfrm rot="16200000">
                <a:off x="4449351" y="366447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1" name="Isosceles Triangle 30">
                <a:extLst>
                  <a:ext uri="{FF2B5EF4-FFF2-40B4-BE49-F238E27FC236}">
                    <a16:creationId xmlns:a16="http://schemas.microsoft.com/office/drawing/2014/main" id="{453C691D-24CB-462B-A7AE-4023DACD2EEE}"/>
                  </a:ext>
                </a:extLst>
              </p:cNvPr>
              <p:cNvSpPr/>
              <p:nvPr/>
            </p:nvSpPr>
            <p:spPr>
              <a:xfrm rot="5400000">
                <a:off x="4771516" y="366446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F62773CB-CA35-4CA9-99D4-EF3966B5F45A}"/>
                  </a:ext>
                </a:extLst>
              </p:cNvPr>
              <p:cNvSpPr/>
              <p:nvPr/>
            </p:nvSpPr>
            <p:spPr>
              <a:xfrm rot="16200000">
                <a:off x="4771516" y="553300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E961C749-C850-460E-9FE3-59518A7C962B}"/>
                  </a:ext>
                </a:extLst>
              </p:cNvPr>
              <p:cNvSpPr/>
              <p:nvPr/>
            </p:nvSpPr>
            <p:spPr>
              <a:xfrm rot="5400000">
                <a:off x="4771516" y="740155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00563AD1-1BBF-4BA8-9EB1-C741432A4BAA}"/>
                  </a:ext>
                </a:extLst>
              </p:cNvPr>
              <p:cNvSpPr/>
              <p:nvPr/>
            </p:nvSpPr>
            <p:spPr>
              <a:xfrm rot="16200000">
                <a:off x="4771515" y="927009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FF4990E1-D8D0-498B-B173-79708114774C}"/>
                  </a:ext>
                </a:extLst>
              </p:cNvPr>
              <p:cNvSpPr/>
              <p:nvPr/>
            </p:nvSpPr>
            <p:spPr>
              <a:xfrm rot="5400000">
                <a:off x="4771514" y="1113861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 dirty="0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6C4776AE-2783-4B83-B7D9-7AEE13333594}"/>
                  </a:ext>
                </a:extLst>
              </p:cNvPr>
              <p:cNvSpPr/>
              <p:nvPr/>
            </p:nvSpPr>
            <p:spPr>
              <a:xfrm rot="5400000">
                <a:off x="4127185" y="366446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7" name="Isosceles Triangle 36">
                <a:extLst>
                  <a:ext uri="{FF2B5EF4-FFF2-40B4-BE49-F238E27FC236}">
                    <a16:creationId xmlns:a16="http://schemas.microsoft.com/office/drawing/2014/main" id="{96D9A147-54ED-49B2-BABE-632974A10AC0}"/>
                  </a:ext>
                </a:extLst>
              </p:cNvPr>
              <p:cNvSpPr/>
              <p:nvPr/>
            </p:nvSpPr>
            <p:spPr>
              <a:xfrm rot="16200000">
                <a:off x="3805019" y="366443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8" name="Isosceles Triangle 37">
                <a:extLst>
                  <a:ext uri="{FF2B5EF4-FFF2-40B4-BE49-F238E27FC236}">
                    <a16:creationId xmlns:a16="http://schemas.microsoft.com/office/drawing/2014/main" id="{9EEB982E-EC34-4520-9700-DB394DD5B9DE}"/>
                  </a:ext>
                </a:extLst>
              </p:cNvPr>
              <p:cNvSpPr/>
              <p:nvPr/>
            </p:nvSpPr>
            <p:spPr>
              <a:xfrm rot="5400000">
                <a:off x="3802388" y="555925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39" name="Isosceles Triangle 38">
                <a:extLst>
                  <a:ext uri="{FF2B5EF4-FFF2-40B4-BE49-F238E27FC236}">
                    <a16:creationId xmlns:a16="http://schemas.microsoft.com/office/drawing/2014/main" id="{A72467F0-1D54-423E-AB87-2D25FA0F7DF8}"/>
                  </a:ext>
                </a:extLst>
              </p:cNvPr>
              <p:cNvSpPr/>
              <p:nvPr/>
            </p:nvSpPr>
            <p:spPr>
              <a:xfrm rot="16200000">
                <a:off x="3802389" y="742773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40" name="Isosceles Triangle 39">
                <a:extLst>
                  <a:ext uri="{FF2B5EF4-FFF2-40B4-BE49-F238E27FC236}">
                    <a16:creationId xmlns:a16="http://schemas.microsoft.com/office/drawing/2014/main" id="{03A59A7C-1802-42EA-AF09-7F6A1E886251}"/>
                  </a:ext>
                </a:extLst>
              </p:cNvPr>
              <p:cNvSpPr/>
              <p:nvPr/>
            </p:nvSpPr>
            <p:spPr>
              <a:xfrm rot="16200000">
                <a:off x="3802388" y="1116462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41" name="Isosceles Triangle 40">
                <a:extLst>
                  <a:ext uri="{FF2B5EF4-FFF2-40B4-BE49-F238E27FC236}">
                    <a16:creationId xmlns:a16="http://schemas.microsoft.com/office/drawing/2014/main" id="{04CE007B-6CDC-4351-8EA0-D53F02F1A706}"/>
                  </a:ext>
                </a:extLst>
              </p:cNvPr>
              <p:cNvSpPr/>
              <p:nvPr/>
            </p:nvSpPr>
            <p:spPr>
              <a:xfrm rot="5400000">
                <a:off x="3802388" y="929625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 dirty="0"/>
              </a:p>
            </p:txBody>
          </p:sp>
          <p:sp>
            <p:nvSpPr>
              <p:cNvPr id="42" name="Isosceles Triangle 41">
                <a:extLst>
                  <a:ext uri="{FF2B5EF4-FFF2-40B4-BE49-F238E27FC236}">
                    <a16:creationId xmlns:a16="http://schemas.microsoft.com/office/drawing/2014/main" id="{D8C60621-C544-41EE-9B24-56E6C112AE20}"/>
                  </a:ext>
                </a:extLst>
              </p:cNvPr>
              <p:cNvSpPr/>
              <p:nvPr/>
            </p:nvSpPr>
            <p:spPr>
              <a:xfrm rot="5400000">
                <a:off x="4124552" y="1116462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 dirty="0"/>
              </a:p>
            </p:txBody>
          </p:sp>
          <p:sp>
            <p:nvSpPr>
              <p:cNvPr id="43" name="Isosceles Triangle 42">
                <a:extLst>
                  <a:ext uri="{FF2B5EF4-FFF2-40B4-BE49-F238E27FC236}">
                    <a16:creationId xmlns:a16="http://schemas.microsoft.com/office/drawing/2014/main" id="{B5509CCE-7EB4-4B00-AE2D-E4490499C98C}"/>
                  </a:ext>
                </a:extLst>
              </p:cNvPr>
              <p:cNvSpPr/>
              <p:nvPr/>
            </p:nvSpPr>
            <p:spPr>
              <a:xfrm rot="16200000">
                <a:off x="4446718" y="1116458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CC363E33-CF04-4B65-98EB-023E7DB1DFFB}"/>
                  </a:ext>
                </a:extLst>
              </p:cNvPr>
              <p:cNvSpPr/>
              <p:nvPr/>
            </p:nvSpPr>
            <p:spPr>
              <a:xfrm rot="5400000">
                <a:off x="4446905" y="939257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 dirty="0"/>
              </a:p>
            </p:txBody>
          </p:sp>
          <p:sp>
            <p:nvSpPr>
              <p:cNvPr id="45" name="Isosceles Triangle 44">
                <a:extLst>
                  <a:ext uri="{FF2B5EF4-FFF2-40B4-BE49-F238E27FC236}">
                    <a16:creationId xmlns:a16="http://schemas.microsoft.com/office/drawing/2014/main" id="{0102B108-B666-4939-951F-68DEB69E0047}"/>
                  </a:ext>
                </a:extLst>
              </p:cNvPr>
              <p:cNvSpPr/>
              <p:nvPr/>
            </p:nvSpPr>
            <p:spPr>
              <a:xfrm rot="16200000">
                <a:off x="4124548" y="929585"/>
                <a:ext cx="378972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46" name="Isosceles Triangle 45">
                <a:extLst>
                  <a:ext uri="{FF2B5EF4-FFF2-40B4-BE49-F238E27FC236}">
                    <a16:creationId xmlns:a16="http://schemas.microsoft.com/office/drawing/2014/main" id="{0FE17111-1279-4843-83EB-A8CB05BD2461}"/>
                  </a:ext>
                </a:extLst>
              </p:cNvPr>
              <p:cNvSpPr/>
              <p:nvPr/>
            </p:nvSpPr>
            <p:spPr>
              <a:xfrm rot="16200000">
                <a:off x="4771513" y="1300667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47" name="Isosceles Triangle 46">
                <a:extLst>
                  <a:ext uri="{FF2B5EF4-FFF2-40B4-BE49-F238E27FC236}">
                    <a16:creationId xmlns:a16="http://schemas.microsoft.com/office/drawing/2014/main" id="{4A4F31E0-0525-4F5C-8A99-0E8DA5D16080}"/>
                  </a:ext>
                </a:extLst>
              </p:cNvPr>
              <p:cNvSpPr/>
              <p:nvPr/>
            </p:nvSpPr>
            <p:spPr>
              <a:xfrm rot="5400000">
                <a:off x="4771512" y="1487481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 dirty="0"/>
              </a:p>
            </p:txBody>
          </p:sp>
          <p:sp>
            <p:nvSpPr>
              <p:cNvPr id="48" name="Isosceles Triangle 47">
                <a:extLst>
                  <a:ext uri="{FF2B5EF4-FFF2-40B4-BE49-F238E27FC236}">
                    <a16:creationId xmlns:a16="http://schemas.microsoft.com/office/drawing/2014/main" id="{53365DB6-24C8-48BF-888A-1BA65BC384BA}"/>
                  </a:ext>
                </a:extLst>
              </p:cNvPr>
              <p:cNvSpPr/>
              <p:nvPr/>
            </p:nvSpPr>
            <p:spPr>
              <a:xfrm rot="16200000">
                <a:off x="4771512" y="1674242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49" name="Isosceles Triangle 48">
                <a:extLst>
                  <a:ext uri="{FF2B5EF4-FFF2-40B4-BE49-F238E27FC236}">
                    <a16:creationId xmlns:a16="http://schemas.microsoft.com/office/drawing/2014/main" id="{38696BEF-52F1-4559-8DF1-0B2BB3734278}"/>
                  </a:ext>
                </a:extLst>
              </p:cNvPr>
              <p:cNvSpPr/>
              <p:nvPr/>
            </p:nvSpPr>
            <p:spPr>
              <a:xfrm rot="5400000">
                <a:off x="3805005" y="1300652"/>
                <a:ext cx="373711" cy="322165"/>
              </a:xfrm>
              <a:prstGeom prst="triangle">
                <a:avLst/>
              </a:prstGeom>
              <a:solidFill>
                <a:srgbClr val="5A2D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 dirty="0"/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641E2135-60EA-4983-8C07-D6C9B9D8C649}"/>
                  </a:ext>
                </a:extLst>
              </p:cNvPr>
              <p:cNvSpPr/>
              <p:nvPr/>
            </p:nvSpPr>
            <p:spPr>
              <a:xfrm rot="16200000">
                <a:off x="3804992" y="1487464"/>
                <a:ext cx="373711" cy="322165"/>
              </a:xfrm>
              <a:prstGeom prst="triangle">
                <a:avLst/>
              </a:prstGeom>
              <a:solidFill>
                <a:srgbClr val="5A2D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1" name="Isosceles Triangle 50">
                <a:extLst>
                  <a:ext uri="{FF2B5EF4-FFF2-40B4-BE49-F238E27FC236}">
                    <a16:creationId xmlns:a16="http://schemas.microsoft.com/office/drawing/2014/main" id="{AE120624-07DE-4657-8F5C-06E1BFD8AF27}"/>
                  </a:ext>
                </a:extLst>
              </p:cNvPr>
              <p:cNvSpPr/>
              <p:nvPr/>
            </p:nvSpPr>
            <p:spPr>
              <a:xfrm rot="5400000">
                <a:off x="3804992" y="1674221"/>
                <a:ext cx="373711" cy="322165"/>
              </a:xfrm>
              <a:prstGeom prst="triangle">
                <a:avLst/>
              </a:prstGeom>
              <a:solidFill>
                <a:srgbClr val="5A2D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 dirty="0"/>
              </a:p>
            </p:txBody>
          </p:sp>
          <p:sp>
            <p:nvSpPr>
              <p:cNvPr id="52" name="Isosceles Triangle 51">
                <a:extLst>
                  <a:ext uri="{FF2B5EF4-FFF2-40B4-BE49-F238E27FC236}">
                    <a16:creationId xmlns:a16="http://schemas.microsoft.com/office/drawing/2014/main" id="{C564AAC8-884D-4DAA-8792-E29259851823}"/>
                  </a:ext>
                </a:extLst>
              </p:cNvPr>
              <p:cNvSpPr/>
              <p:nvPr/>
            </p:nvSpPr>
            <p:spPr>
              <a:xfrm rot="5400000">
                <a:off x="5415838" y="552556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536FA4BC-1EE2-4801-B57A-9717D25EEFC2}"/>
                  </a:ext>
                </a:extLst>
              </p:cNvPr>
              <p:cNvSpPr/>
              <p:nvPr/>
            </p:nvSpPr>
            <p:spPr>
              <a:xfrm rot="5400000">
                <a:off x="6060169" y="178846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4" name="Isosceles Triangle 53">
                <a:extLst>
                  <a:ext uri="{FF2B5EF4-FFF2-40B4-BE49-F238E27FC236}">
                    <a16:creationId xmlns:a16="http://schemas.microsoft.com/office/drawing/2014/main" id="{BCD0475C-303E-4298-850D-5EBD7BD901DA}"/>
                  </a:ext>
                </a:extLst>
              </p:cNvPr>
              <p:cNvSpPr/>
              <p:nvPr/>
            </p:nvSpPr>
            <p:spPr>
              <a:xfrm rot="16200000">
                <a:off x="5738004" y="178845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5" name="Isosceles Triangle 54">
                <a:extLst>
                  <a:ext uri="{FF2B5EF4-FFF2-40B4-BE49-F238E27FC236}">
                    <a16:creationId xmlns:a16="http://schemas.microsoft.com/office/drawing/2014/main" id="{B2E404C2-5393-41E7-8989-2AB1E1A40BCF}"/>
                  </a:ext>
                </a:extLst>
              </p:cNvPr>
              <p:cNvSpPr/>
              <p:nvPr/>
            </p:nvSpPr>
            <p:spPr>
              <a:xfrm rot="16200000">
                <a:off x="6060169" y="365701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AC678C4C-F2C2-4686-9FFC-D7A3982F3916}"/>
                  </a:ext>
                </a:extLst>
              </p:cNvPr>
              <p:cNvSpPr/>
              <p:nvPr/>
            </p:nvSpPr>
            <p:spPr>
              <a:xfrm rot="5400000">
                <a:off x="6382334" y="365700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7" name="Isosceles Triangle 56">
                <a:extLst>
                  <a:ext uri="{FF2B5EF4-FFF2-40B4-BE49-F238E27FC236}">
                    <a16:creationId xmlns:a16="http://schemas.microsoft.com/office/drawing/2014/main" id="{B59AA72B-1AFB-4D52-9C48-658BF1FD0A54}"/>
                  </a:ext>
                </a:extLst>
              </p:cNvPr>
              <p:cNvSpPr/>
              <p:nvPr/>
            </p:nvSpPr>
            <p:spPr>
              <a:xfrm rot="5400000">
                <a:off x="5738003" y="365700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8" name="Isosceles Triangle 57">
                <a:extLst>
                  <a:ext uri="{FF2B5EF4-FFF2-40B4-BE49-F238E27FC236}">
                    <a16:creationId xmlns:a16="http://schemas.microsoft.com/office/drawing/2014/main" id="{139235AE-FF4B-4115-963A-1E59882800E2}"/>
                  </a:ext>
                </a:extLst>
              </p:cNvPr>
              <p:cNvSpPr/>
              <p:nvPr/>
            </p:nvSpPr>
            <p:spPr>
              <a:xfrm rot="16200000">
                <a:off x="5415837" y="365697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59" name="Isosceles Triangle 58">
                <a:extLst>
                  <a:ext uri="{FF2B5EF4-FFF2-40B4-BE49-F238E27FC236}">
                    <a16:creationId xmlns:a16="http://schemas.microsoft.com/office/drawing/2014/main" id="{26AE8C7A-A2B3-4518-A691-CAD8DADB84DD}"/>
                  </a:ext>
                </a:extLst>
              </p:cNvPr>
              <p:cNvSpPr/>
              <p:nvPr/>
            </p:nvSpPr>
            <p:spPr>
              <a:xfrm rot="16200000">
                <a:off x="6382333" y="552552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0" name="Isosceles Triangle 59">
                <a:extLst>
                  <a:ext uri="{FF2B5EF4-FFF2-40B4-BE49-F238E27FC236}">
                    <a16:creationId xmlns:a16="http://schemas.microsoft.com/office/drawing/2014/main" id="{46652A8C-4804-474D-AFD5-96CCBCCC6AD5}"/>
                  </a:ext>
                </a:extLst>
              </p:cNvPr>
              <p:cNvSpPr/>
              <p:nvPr/>
            </p:nvSpPr>
            <p:spPr>
              <a:xfrm rot="5400000">
                <a:off x="6382333" y="739407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1" name="Isosceles Triangle 60">
                <a:extLst>
                  <a:ext uri="{FF2B5EF4-FFF2-40B4-BE49-F238E27FC236}">
                    <a16:creationId xmlns:a16="http://schemas.microsoft.com/office/drawing/2014/main" id="{6272B7D7-9957-4DB9-AC5E-045FB0457883}"/>
                  </a:ext>
                </a:extLst>
              </p:cNvPr>
              <p:cNvSpPr/>
              <p:nvPr/>
            </p:nvSpPr>
            <p:spPr>
              <a:xfrm rot="16200000">
                <a:off x="6382333" y="926257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2" name="Isosceles Triangle 61">
                <a:extLst>
                  <a:ext uri="{FF2B5EF4-FFF2-40B4-BE49-F238E27FC236}">
                    <a16:creationId xmlns:a16="http://schemas.microsoft.com/office/drawing/2014/main" id="{FE8076F4-712D-46B5-A683-34012BDAD034}"/>
                  </a:ext>
                </a:extLst>
              </p:cNvPr>
              <p:cNvSpPr/>
              <p:nvPr/>
            </p:nvSpPr>
            <p:spPr>
              <a:xfrm rot="5400000">
                <a:off x="6383879" y="1113103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C5E2CE46-D1DF-4154-BB42-F4DBB23840CE}"/>
                  </a:ext>
                </a:extLst>
              </p:cNvPr>
              <p:cNvSpPr/>
              <p:nvPr/>
            </p:nvSpPr>
            <p:spPr>
              <a:xfrm rot="16200000">
                <a:off x="6060164" y="1113098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02FEFC13-B25A-4129-9048-FFCDEFF7965C}"/>
                  </a:ext>
                </a:extLst>
              </p:cNvPr>
              <p:cNvSpPr/>
              <p:nvPr/>
            </p:nvSpPr>
            <p:spPr>
              <a:xfrm rot="5400000">
                <a:off x="6059393" y="1299932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5" name="Isosceles Triangle 64">
                <a:extLst>
                  <a:ext uri="{FF2B5EF4-FFF2-40B4-BE49-F238E27FC236}">
                    <a16:creationId xmlns:a16="http://schemas.microsoft.com/office/drawing/2014/main" id="{FD9C1DBD-AAA7-4BEE-B579-6A4675275736}"/>
                  </a:ext>
                </a:extLst>
              </p:cNvPr>
              <p:cNvSpPr/>
              <p:nvPr/>
            </p:nvSpPr>
            <p:spPr>
              <a:xfrm rot="16200000">
                <a:off x="6059393" y="1486783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6" name="Isosceles Triangle 65">
                <a:extLst>
                  <a:ext uri="{FF2B5EF4-FFF2-40B4-BE49-F238E27FC236}">
                    <a16:creationId xmlns:a16="http://schemas.microsoft.com/office/drawing/2014/main" id="{A40C5956-5BB0-45E9-8396-A6BB0BE54E97}"/>
                  </a:ext>
                </a:extLst>
              </p:cNvPr>
              <p:cNvSpPr/>
              <p:nvPr/>
            </p:nvSpPr>
            <p:spPr>
              <a:xfrm rot="5400000">
                <a:off x="6382333" y="1486781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73ABA9FF-6F1C-4E92-BE95-56221B3A0407}"/>
                  </a:ext>
                </a:extLst>
              </p:cNvPr>
              <p:cNvSpPr/>
              <p:nvPr/>
            </p:nvSpPr>
            <p:spPr>
              <a:xfrm rot="16200000">
                <a:off x="6382333" y="1673593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8" name="Isosceles Triangle 67">
                <a:extLst>
                  <a:ext uri="{FF2B5EF4-FFF2-40B4-BE49-F238E27FC236}">
                    <a16:creationId xmlns:a16="http://schemas.microsoft.com/office/drawing/2014/main" id="{33F45D4A-D5A2-4D41-90D1-253D6106AC13}"/>
                  </a:ext>
                </a:extLst>
              </p:cNvPr>
              <p:cNvSpPr/>
              <p:nvPr/>
            </p:nvSpPr>
            <p:spPr>
              <a:xfrm rot="16200000">
                <a:off x="5415063" y="739382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69" name="Isosceles Triangle 68">
                <a:extLst>
                  <a:ext uri="{FF2B5EF4-FFF2-40B4-BE49-F238E27FC236}">
                    <a16:creationId xmlns:a16="http://schemas.microsoft.com/office/drawing/2014/main" id="{8415ADA4-C29E-48BC-9DCA-FFA00C949B47}"/>
                  </a:ext>
                </a:extLst>
              </p:cNvPr>
              <p:cNvSpPr/>
              <p:nvPr/>
            </p:nvSpPr>
            <p:spPr>
              <a:xfrm rot="5400000">
                <a:off x="5414678" y="926233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8351412A-CB55-4917-8F10-C71E2963328C}"/>
                  </a:ext>
                </a:extLst>
              </p:cNvPr>
              <p:cNvSpPr/>
              <p:nvPr/>
            </p:nvSpPr>
            <p:spPr>
              <a:xfrm rot="16200000">
                <a:off x="5414485" y="1113085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1" name="Isosceles Triangle 70">
                <a:extLst>
                  <a:ext uri="{FF2B5EF4-FFF2-40B4-BE49-F238E27FC236}">
                    <a16:creationId xmlns:a16="http://schemas.microsoft.com/office/drawing/2014/main" id="{049AD1B7-7A10-4EA7-9FEB-4F0169CA934C}"/>
                  </a:ext>
                </a:extLst>
              </p:cNvPr>
              <p:cNvSpPr/>
              <p:nvPr/>
            </p:nvSpPr>
            <p:spPr>
              <a:xfrm rot="5400000">
                <a:off x="5736650" y="1113046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2" name="Isosceles Triangle 71">
                <a:extLst>
                  <a:ext uri="{FF2B5EF4-FFF2-40B4-BE49-F238E27FC236}">
                    <a16:creationId xmlns:a16="http://schemas.microsoft.com/office/drawing/2014/main" id="{63C31B12-6B0F-4325-9726-2195A13A248D}"/>
                  </a:ext>
                </a:extLst>
              </p:cNvPr>
              <p:cNvSpPr/>
              <p:nvPr/>
            </p:nvSpPr>
            <p:spPr>
              <a:xfrm rot="16200000">
                <a:off x="5736453" y="1299872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9BE1C940-41D8-49E1-956F-1E3B84807CA1}"/>
                  </a:ext>
                </a:extLst>
              </p:cNvPr>
              <p:cNvSpPr/>
              <p:nvPr/>
            </p:nvSpPr>
            <p:spPr>
              <a:xfrm rot="5400000">
                <a:off x="5413512" y="1299862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4" name="Isosceles Triangle 73">
                <a:extLst>
                  <a:ext uri="{FF2B5EF4-FFF2-40B4-BE49-F238E27FC236}">
                    <a16:creationId xmlns:a16="http://schemas.microsoft.com/office/drawing/2014/main" id="{98F83143-A1B0-4C97-805A-115AD67202C3}"/>
                  </a:ext>
                </a:extLst>
              </p:cNvPr>
              <p:cNvSpPr/>
              <p:nvPr/>
            </p:nvSpPr>
            <p:spPr>
              <a:xfrm rot="16200000">
                <a:off x="5411962" y="1486631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5" name="Isosceles Triangle 74">
                <a:extLst>
                  <a:ext uri="{FF2B5EF4-FFF2-40B4-BE49-F238E27FC236}">
                    <a16:creationId xmlns:a16="http://schemas.microsoft.com/office/drawing/2014/main" id="{9EBEEEA2-9483-4DAA-9440-5CF1E5B7BBE6}"/>
                  </a:ext>
                </a:extLst>
              </p:cNvPr>
              <p:cNvSpPr/>
              <p:nvPr/>
            </p:nvSpPr>
            <p:spPr>
              <a:xfrm rot="5400000">
                <a:off x="5411184" y="1671183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6FFAB2C3-D5B6-47A3-9F8B-30FB06EAE3AD}"/>
                  </a:ext>
                </a:extLst>
              </p:cNvPr>
              <p:cNvSpPr/>
              <p:nvPr/>
            </p:nvSpPr>
            <p:spPr>
              <a:xfrm rot="5400000">
                <a:off x="7670987" y="178816"/>
                <a:ext cx="373711" cy="322165"/>
              </a:xfrm>
              <a:prstGeom prst="triangle">
                <a:avLst/>
              </a:prstGeom>
              <a:solidFill>
                <a:srgbClr val="5A2D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7" name="Isosceles Triangle 76">
                <a:extLst>
                  <a:ext uri="{FF2B5EF4-FFF2-40B4-BE49-F238E27FC236}">
                    <a16:creationId xmlns:a16="http://schemas.microsoft.com/office/drawing/2014/main" id="{9B5036F5-4303-4E3D-A996-4BA948D3AF57}"/>
                  </a:ext>
                </a:extLst>
              </p:cNvPr>
              <p:cNvSpPr/>
              <p:nvPr/>
            </p:nvSpPr>
            <p:spPr>
              <a:xfrm rot="16200000">
                <a:off x="7348822" y="178815"/>
                <a:ext cx="373711" cy="322165"/>
              </a:xfrm>
              <a:prstGeom prst="triangle">
                <a:avLst/>
              </a:prstGeom>
              <a:solidFill>
                <a:srgbClr val="5A2D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8" name="Isosceles Triangle 77">
                <a:extLst>
                  <a:ext uri="{FF2B5EF4-FFF2-40B4-BE49-F238E27FC236}">
                    <a16:creationId xmlns:a16="http://schemas.microsoft.com/office/drawing/2014/main" id="{87E6F76D-D64B-465D-B513-43831F706608}"/>
                  </a:ext>
                </a:extLst>
              </p:cNvPr>
              <p:cNvSpPr/>
              <p:nvPr/>
            </p:nvSpPr>
            <p:spPr>
              <a:xfrm rot="16200000">
                <a:off x="7670987" y="365671"/>
                <a:ext cx="373711" cy="322165"/>
              </a:xfrm>
              <a:prstGeom prst="triangle">
                <a:avLst/>
              </a:prstGeom>
              <a:solidFill>
                <a:srgbClr val="5A2D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79" name="Isosceles Triangle 78">
                <a:extLst>
                  <a:ext uri="{FF2B5EF4-FFF2-40B4-BE49-F238E27FC236}">
                    <a16:creationId xmlns:a16="http://schemas.microsoft.com/office/drawing/2014/main" id="{E9011ED1-EBB7-4965-80D2-773D83F72A64}"/>
                  </a:ext>
                </a:extLst>
              </p:cNvPr>
              <p:cNvSpPr/>
              <p:nvPr/>
            </p:nvSpPr>
            <p:spPr>
              <a:xfrm rot="5400000">
                <a:off x="7993152" y="365670"/>
                <a:ext cx="373711" cy="322165"/>
              </a:xfrm>
              <a:prstGeom prst="triangle">
                <a:avLst/>
              </a:prstGeom>
              <a:solidFill>
                <a:srgbClr val="5A2D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0" name="Isosceles Triangle 79">
                <a:extLst>
                  <a:ext uri="{FF2B5EF4-FFF2-40B4-BE49-F238E27FC236}">
                    <a16:creationId xmlns:a16="http://schemas.microsoft.com/office/drawing/2014/main" id="{0AFFA867-F36A-461C-A5EB-2D1C3AC0406D}"/>
                  </a:ext>
                </a:extLst>
              </p:cNvPr>
              <p:cNvSpPr/>
              <p:nvPr/>
            </p:nvSpPr>
            <p:spPr>
              <a:xfrm rot="5400000">
                <a:off x="7348821" y="365670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1" name="Isosceles Triangle 80">
                <a:extLst>
                  <a:ext uri="{FF2B5EF4-FFF2-40B4-BE49-F238E27FC236}">
                    <a16:creationId xmlns:a16="http://schemas.microsoft.com/office/drawing/2014/main" id="{656920B9-99D3-498E-82B2-6016258F0AA4}"/>
                  </a:ext>
                </a:extLst>
              </p:cNvPr>
              <p:cNvSpPr/>
              <p:nvPr/>
            </p:nvSpPr>
            <p:spPr>
              <a:xfrm rot="16200000">
                <a:off x="7026655" y="365667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2" name="Isosceles Triangle 81">
                <a:extLst>
                  <a:ext uri="{FF2B5EF4-FFF2-40B4-BE49-F238E27FC236}">
                    <a16:creationId xmlns:a16="http://schemas.microsoft.com/office/drawing/2014/main" id="{3F77B3D7-214F-4C0E-8589-BA6741B3C217}"/>
                  </a:ext>
                </a:extLst>
              </p:cNvPr>
              <p:cNvSpPr/>
              <p:nvPr/>
            </p:nvSpPr>
            <p:spPr>
              <a:xfrm rot="5400000">
                <a:off x="7029764" y="552526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3" name="Isosceles Triangle 82">
                <a:extLst>
                  <a:ext uri="{FF2B5EF4-FFF2-40B4-BE49-F238E27FC236}">
                    <a16:creationId xmlns:a16="http://schemas.microsoft.com/office/drawing/2014/main" id="{6A1F22BA-1563-4E1C-B895-09092B032CE4}"/>
                  </a:ext>
                </a:extLst>
              </p:cNvPr>
              <p:cNvSpPr/>
              <p:nvPr/>
            </p:nvSpPr>
            <p:spPr>
              <a:xfrm rot="16200000">
                <a:off x="7028989" y="739352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4" name="Isosceles Triangle 83">
                <a:extLst>
                  <a:ext uri="{FF2B5EF4-FFF2-40B4-BE49-F238E27FC236}">
                    <a16:creationId xmlns:a16="http://schemas.microsoft.com/office/drawing/2014/main" id="{1B03B5B3-7D5C-4849-8946-7453D23836CE}"/>
                  </a:ext>
                </a:extLst>
              </p:cNvPr>
              <p:cNvSpPr/>
              <p:nvPr/>
            </p:nvSpPr>
            <p:spPr>
              <a:xfrm rot="5400000">
                <a:off x="7028604" y="926203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5" name="Isosceles Triangle 84">
                <a:extLst>
                  <a:ext uri="{FF2B5EF4-FFF2-40B4-BE49-F238E27FC236}">
                    <a16:creationId xmlns:a16="http://schemas.microsoft.com/office/drawing/2014/main" id="{82D324C5-C2BF-4740-B189-69D06CE8345F}"/>
                  </a:ext>
                </a:extLst>
              </p:cNvPr>
              <p:cNvSpPr/>
              <p:nvPr/>
            </p:nvSpPr>
            <p:spPr>
              <a:xfrm rot="16200000">
                <a:off x="7026654" y="1110612"/>
                <a:ext cx="373711" cy="322165"/>
              </a:xfrm>
              <a:prstGeom prst="triangle">
                <a:avLst/>
              </a:prstGeom>
              <a:solidFill>
                <a:srgbClr val="A07BDB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6" name="Isosceles Triangle 85">
                <a:extLst>
                  <a:ext uri="{FF2B5EF4-FFF2-40B4-BE49-F238E27FC236}">
                    <a16:creationId xmlns:a16="http://schemas.microsoft.com/office/drawing/2014/main" id="{5B204B05-53A8-40A8-8385-DF9C65019327}"/>
                  </a:ext>
                </a:extLst>
              </p:cNvPr>
              <p:cNvSpPr/>
              <p:nvPr/>
            </p:nvSpPr>
            <p:spPr>
              <a:xfrm rot="5400000">
                <a:off x="7027438" y="1299832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7" name="Isosceles Triangle 86">
                <a:extLst>
                  <a:ext uri="{FF2B5EF4-FFF2-40B4-BE49-F238E27FC236}">
                    <a16:creationId xmlns:a16="http://schemas.microsoft.com/office/drawing/2014/main" id="{E8A0F616-6C51-4594-BBE9-FE2363F4FADD}"/>
                  </a:ext>
                </a:extLst>
              </p:cNvPr>
              <p:cNvSpPr/>
              <p:nvPr/>
            </p:nvSpPr>
            <p:spPr>
              <a:xfrm rot="16200000">
                <a:off x="7029764" y="1486587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8" name="Isosceles Triangle 87">
                <a:extLst>
                  <a:ext uri="{FF2B5EF4-FFF2-40B4-BE49-F238E27FC236}">
                    <a16:creationId xmlns:a16="http://schemas.microsoft.com/office/drawing/2014/main" id="{6FC84557-5A1E-4F50-BA9D-2FEB2B19996F}"/>
                  </a:ext>
                </a:extLst>
              </p:cNvPr>
              <p:cNvSpPr/>
              <p:nvPr/>
            </p:nvSpPr>
            <p:spPr>
              <a:xfrm rot="5400000">
                <a:off x="7346112" y="1484323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89" name="Isosceles Triangle 88">
                <a:extLst>
                  <a:ext uri="{FF2B5EF4-FFF2-40B4-BE49-F238E27FC236}">
                    <a16:creationId xmlns:a16="http://schemas.microsoft.com/office/drawing/2014/main" id="{0A7D9225-30D6-4C44-B7B6-8E16118AA127}"/>
                  </a:ext>
                </a:extLst>
              </p:cNvPr>
              <p:cNvSpPr/>
              <p:nvPr/>
            </p:nvSpPr>
            <p:spPr>
              <a:xfrm rot="16200000">
                <a:off x="7346112" y="1671183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90" name="Isosceles Triangle 89">
                <a:extLst>
                  <a:ext uri="{FF2B5EF4-FFF2-40B4-BE49-F238E27FC236}">
                    <a16:creationId xmlns:a16="http://schemas.microsoft.com/office/drawing/2014/main" id="{D442C836-D240-4BC4-A7F0-D85996DD3924}"/>
                  </a:ext>
                </a:extLst>
              </p:cNvPr>
              <p:cNvSpPr/>
              <p:nvPr/>
            </p:nvSpPr>
            <p:spPr>
              <a:xfrm rot="5400000">
                <a:off x="7672543" y="1671187"/>
                <a:ext cx="373711" cy="322165"/>
              </a:xfrm>
              <a:prstGeom prst="triangle">
                <a:avLst/>
              </a:prstGeom>
              <a:solidFill>
                <a:srgbClr val="BDA4E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91" name="Isosceles Triangle 90">
                <a:extLst>
                  <a:ext uri="{FF2B5EF4-FFF2-40B4-BE49-F238E27FC236}">
                    <a16:creationId xmlns:a16="http://schemas.microsoft.com/office/drawing/2014/main" id="{055EDEDE-56BF-482C-AA13-16413F0E590E}"/>
                  </a:ext>
                </a:extLst>
              </p:cNvPr>
              <p:cNvSpPr/>
              <p:nvPr/>
            </p:nvSpPr>
            <p:spPr>
              <a:xfrm rot="16200000">
                <a:off x="7677970" y="1484332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  <p:sp>
            <p:nvSpPr>
              <p:cNvPr id="92" name="Isosceles Triangle 91">
                <a:extLst>
                  <a:ext uri="{FF2B5EF4-FFF2-40B4-BE49-F238E27FC236}">
                    <a16:creationId xmlns:a16="http://schemas.microsoft.com/office/drawing/2014/main" id="{2FDA096F-C8A8-4DE6-B4A2-CAB5D303C71B}"/>
                  </a:ext>
                </a:extLst>
              </p:cNvPr>
              <p:cNvSpPr/>
              <p:nvPr/>
            </p:nvSpPr>
            <p:spPr>
              <a:xfrm rot="5400000">
                <a:off x="7993152" y="1484332"/>
                <a:ext cx="373711" cy="322165"/>
              </a:xfrm>
              <a:prstGeom prst="triangle">
                <a:avLst/>
              </a:prstGeom>
              <a:solidFill>
                <a:srgbClr val="8151C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44"/>
              </a:p>
            </p:txBody>
          </p:sp>
        </p:grp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B1F2820-850B-4CDA-B417-DDF60BF1D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50165" y="2126059"/>
              <a:ext cx="4654297" cy="693414"/>
            </a:xfrm>
            <a:prstGeom prst="rect">
              <a:avLst/>
            </a:prstGeom>
          </p:spPr>
        </p:pic>
      </p:grpSp>
      <p:sp>
        <p:nvSpPr>
          <p:cNvPr id="2" name="Oval 1"/>
          <p:cNvSpPr/>
          <p:nvPr userDrawn="1"/>
        </p:nvSpPr>
        <p:spPr>
          <a:xfrm>
            <a:off x="5966619" y="2123224"/>
            <a:ext cx="73047" cy="1009848"/>
          </a:xfrm>
          <a:prstGeom prst="ellipse">
            <a:avLst/>
          </a:prstGeom>
          <a:solidFill>
            <a:schemeClr val="bg1"/>
          </a:solidFill>
          <a:ln w="25400" cap="flat">
            <a:noFill/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171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EB3935-ECE8-4134-9114-019B32758F1E}"/>
              </a:ext>
            </a:extLst>
          </p:cNvPr>
          <p:cNvCxnSpPr>
            <a:cxnSpLocks/>
          </p:cNvCxnSpPr>
          <p:nvPr userDrawn="1"/>
        </p:nvCxnSpPr>
        <p:spPr>
          <a:xfrm>
            <a:off x="650311" y="2875158"/>
            <a:ext cx="10982528" cy="0"/>
          </a:xfrm>
          <a:prstGeom prst="line">
            <a:avLst/>
          </a:prstGeom>
          <a:noFill/>
          <a:ln w="25400" cap="rnd">
            <a:solidFill>
              <a:srgbClr val="5A2DA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80086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ransition spd="med"/>
  <p:hf hdr="0" ftr="0" dt="0"/>
  <p:txStyles>
    <p:titleStyle>
      <a:lvl1pPr defTabSz="410730" eaLnBrk="1" hangingPunct="1">
        <a:defRPr sz="4400" b="1">
          <a:solidFill>
            <a:srgbClr val="FFFFFF"/>
          </a:solidFill>
          <a:latin typeface="Arial"/>
          <a:ea typeface="+mn-ea"/>
          <a:cs typeface="Arial"/>
          <a:sym typeface="Gill Sans Light"/>
        </a:defRPr>
      </a:lvl1pPr>
      <a:lvl2pPr indent="160721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2pPr>
      <a:lvl3pPr indent="321441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3pPr>
      <a:lvl4pPr indent="48216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4pPr>
      <a:lvl5pPr indent="64288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5pPr>
      <a:lvl6pPr indent="80360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6pPr>
      <a:lvl7pPr indent="964324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7pPr>
      <a:lvl8pPr indent="1125045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8pPr>
      <a:lvl9pPr indent="1285765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9pPr>
    </p:titleStyle>
    <p:bodyStyle>
      <a:lvl1pPr marL="625024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2800" b="1"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1pPr>
      <a:lvl2pPr marL="937538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2400" b="1">
          <a:solidFill>
            <a:srgbClr val="191EA2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2pPr>
      <a:lvl3pPr marL="1250050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1800" b="1">
          <a:solidFill>
            <a:srgbClr val="FF4B0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3pPr>
      <a:lvl4pPr marL="1562562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1600" b="1">
          <a:solidFill>
            <a:srgbClr val="7030A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4pPr>
      <a:lvl5pPr marL="1875074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1400" b="1">
          <a:solidFill>
            <a:srgbClr val="00B05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5pPr>
      <a:lvl6pPr marL="2125086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6pPr>
      <a:lvl7pPr marL="2375094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7pPr>
      <a:lvl8pPr marL="2625104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8pPr>
      <a:lvl9pPr marL="2875113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9pPr>
    </p:bodyStyle>
    <p:otherStyle>
      <a:lvl1pPr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indent="160721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indent="321441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indent="48216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indent="64288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indent="80360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6pPr>
      <a:lvl7pPr indent="964324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7pPr>
      <a:lvl8pPr indent="1125045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8pPr>
      <a:lvl9pPr indent="1285765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xfrm>
            <a:off x="1762299" y="0"/>
            <a:ext cx="9179548" cy="866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127000" tIns="127000" rIns="127000" bIns="127000" anchor="ctr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781" dirty="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14" name="Shape 14"/>
          <p:cNvSpPr>
            <a:spLocks noGrp="1"/>
          </p:cNvSpPr>
          <p:nvPr>
            <p:ph type="sldNum" sz="quarter" idx="2"/>
          </p:nvPr>
        </p:nvSpPr>
        <p:spPr>
          <a:xfrm>
            <a:off x="5996619" y="6510169"/>
            <a:ext cx="198772" cy="19466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 defTabSz="410730">
              <a:defRPr sz="1265" baseline="0">
                <a:solidFill>
                  <a:srgbClr val="191EA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5A61919A-E88E-41BD-A444-D5D1392CB19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556EF4-C8C6-41A9-8730-F4ECA9AAC0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975"/>
          <a:stretch/>
        </p:blipFill>
        <p:spPr>
          <a:xfrm>
            <a:off x="606399" y="6316256"/>
            <a:ext cx="1195495" cy="50229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EB3935-ECE8-4134-9114-019B32758F1E}"/>
              </a:ext>
            </a:extLst>
          </p:cNvPr>
          <p:cNvCxnSpPr>
            <a:cxnSpLocks/>
          </p:cNvCxnSpPr>
          <p:nvPr/>
        </p:nvCxnSpPr>
        <p:spPr>
          <a:xfrm>
            <a:off x="606392" y="6195002"/>
            <a:ext cx="10982528" cy="0"/>
          </a:xfrm>
          <a:prstGeom prst="line">
            <a:avLst/>
          </a:prstGeom>
          <a:noFill/>
          <a:ln w="25400" cap="rnd">
            <a:solidFill>
              <a:srgbClr val="191EA2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94" name="Picture 93">
            <a:extLst>
              <a:ext uri="{FF2B5EF4-FFF2-40B4-BE49-F238E27FC236}">
                <a16:creationId xmlns:a16="http://schemas.microsoft.com/office/drawing/2014/main" id="{9EA94E3E-7601-46C3-AF7C-06F8871ACD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3026" b="1135"/>
          <a:stretch/>
        </p:blipFill>
        <p:spPr>
          <a:xfrm>
            <a:off x="1873651" y="6602561"/>
            <a:ext cx="1337935" cy="198905"/>
          </a:xfrm>
          <a:prstGeom prst="rect">
            <a:avLst/>
          </a:prstGeom>
        </p:spPr>
      </p:pic>
      <p:sp>
        <p:nvSpPr>
          <p:cNvPr id="95" name="Shape 13">
            <a:extLst>
              <a:ext uri="{FF2B5EF4-FFF2-40B4-BE49-F238E27FC236}">
                <a16:creationId xmlns:a16="http://schemas.microsoft.com/office/drawing/2014/main" id="{B387110C-E361-48FF-93B8-15DC20F50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088" y="1086022"/>
            <a:ext cx="11657824" cy="5078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4B7C4B9-C92D-44EE-A944-6E9E129B0190}"/>
              </a:ext>
            </a:extLst>
          </p:cNvPr>
          <p:cNvGrpSpPr/>
          <p:nvPr userDrawn="1"/>
        </p:nvGrpSpPr>
        <p:grpSpPr>
          <a:xfrm rot="16200000" flipV="1">
            <a:off x="424712" y="-424712"/>
            <a:ext cx="918658" cy="1768081"/>
            <a:chOff x="10208215" y="409493"/>
            <a:chExt cx="644341" cy="752676"/>
          </a:xfrm>
        </p:grpSpPr>
        <p:sp>
          <p:nvSpPr>
            <p:cNvPr id="179" name="Isosceles Triangle 178">
              <a:extLst>
                <a:ext uri="{FF2B5EF4-FFF2-40B4-BE49-F238E27FC236}">
                  <a16:creationId xmlns:a16="http://schemas.microsoft.com/office/drawing/2014/main" id="{F93E7285-7C09-420F-82F1-266986CCB14A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80" name="Isosceles Triangle 179">
              <a:extLst>
                <a:ext uri="{FF2B5EF4-FFF2-40B4-BE49-F238E27FC236}">
                  <a16:creationId xmlns:a16="http://schemas.microsoft.com/office/drawing/2014/main" id="{3831B438-36DF-41C1-957B-174CAAA75B1A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81" name="Isosceles Triangle 180">
              <a:extLst>
                <a:ext uri="{FF2B5EF4-FFF2-40B4-BE49-F238E27FC236}">
                  <a16:creationId xmlns:a16="http://schemas.microsoft.com/office/drawing/2014/main" id="{2567F0D4-587C-4D42-8CF4-D7B18B46BD5C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82" name="Isosceles Triangle 181">
              <a:extLst>
                <a:ext uri="{FF2B5EF4-FFF2-40B4-BE49-F238E27FC236}">
                  <a16:creationId xmlns:a16="http://schemas.microsoft.com/office/drawing/2014/main" id="{B5DC08D3-2FC6-472C-B81E-E9D3C8D63203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3EB3935-ECE8-4134-9114-019B32758F1E}"/>
              </a:ext>
            </a:extLst>
          </p:cNvPr>
          <p:cNvCxnSpPr>
            <a:cxnSpLocks/>
          </p:cNvCxnSpPr>
          <p:nvPr userDrawn="1"/>
        </p:nvCxnSpPr>
        <p:spPr>
          <a:xfrm>
            <a:off x="1285416" y="885613"/>
            <a:ext cx="10303505" cy="0"/>
          </a:xfrm>
          <a:prstGeom prst="line">
            <a:avLst/>
          </a:prstGeom>
          <a:noFill/>
          <a:ln w="25400" cap="rnd">
            <a:solidFill>
              <a:srgbClr val="191EA2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ransition spd="med"/>
  <p:hf hdr="0" ftr="0" dt="0"/>
  <p:txStyles>
    <p:titleStyle>
      <a:lvl1pPr defTabSz="410730" eaLnBrk="1" hangingPunct="1">
        <a:defRPr sz="4400" b="1" baseline="0">
          <a:solidFill>
            <a:srgbClr val="191EA2"/>
          </a:solidFill>
          <a:latin typeface="Arial"/>
          <a:ea typeface="+mn-ea"/>
          <a:cs typeface="Arial"/>
          <a:sym typeface="Gill Sans Light"/>
        </a:defRPr>
      </a:lvl1pPr>
      <a:lvl2pPr indent="160721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2pPr>
      <a:lvl3pPr indent="321441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3pPr>
      <a:lvl4pPr indent="48216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4pPr>
      <a:lvl5pPr indent="64288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5pPr>
      <a:lvl6pPr indent="80360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6pPr>
      <a:lvl7pPr indent="964324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7pPr>
      <a:lvl8pPr indent="1125045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8pPr>
      <a:lvl9pPr indent="1285765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9pPr>
    </p:titleStyle>
    <p:bodyStyle>
      <a:lvl1pPr marL="457200" indent="-401803" defTabSz="410730" eaLnBrk="1" hangingPunct="1">
        <a:spcBef>
          <a:spcPts val="600"/>
        </a:spcBef>
        <a:buSzPct val="100000"/>
        <a:buFont typeface="Wingdings" panose="05000000000000000000" pitchFamily="2" charset="2"/>
        <a:buChar char="§"/>
        <a:defRPr sz="2800" b="0"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1pPr>
      <a:lvl2pPr marL="742950" indent="-280988" defTabSz="410730" eaLnBrk="1" hangingPunct="1">
        <a:spcBef>
          <a:spcPts val="300"/>
        </a:spcBef>
        <a:buSzPct val="50000"/>
        <a:buFont typeface="Wingdings" panose="05000000000000000000" pitchFamily="2" charset="2"/>
        <a:buChar char="q"/>
        <a:defRPr sz="2400" b="0">
          <a:solidFill>
            <a:srgbClr val="191EA2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2pPr>
      <a:lvl3pPr marL="1085850" indent="-282575" defTabSz="410730" eaLnBrk="1" hangingPunct="1">
        <a:spcBef>
          <a:spcPts val="300"/>
        </a:spcBef>
        <a:buSzPct val="100000"/>
        <a:buFont typeface="Wingdings" panose="05000000000000000000" pitchFamily="2" charset="2"/>
        <a:buChar char="§"/>
        <a:defRPr sz="1800" b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3pPr>
      <a:lvl4pPr marL="1427163" indent="-266700" defTabSz="410730" eaLnBrk="1" hangingPunct="1">
        <a:spcBef>
          <a:spcPts val="300"/>
        </a:spcBef>
        <a:buSzPct val="100000"/>
        <a:buFont typeface="Wingdings" panose="05000000000000000000" pitchFamily="2" charset="2"/>
        <a:buChar char="§"/>
        <a:defRPr sz="1600" b="0">
          <a:solidFill>
            <a:srgbClr val="7030A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4pPr>
      <a:lvl5pPr marL="1657350" indent="-230188" defTabSz="410730" eaLnBrk="1" hangingPunct="1">
        <a:spcBef>
          <a:spcPts val="300"/>
        </a:spcBef>
        <a:buSzPct val="100000"/>
        <a:buFont typeface="Wingdings" panose="05000000000000000000" pitchFamily="2" charset="2"/>
        <a:buChar char="§"/>
        <a:defRPr sz="1400" b="0">
          <a:solidFill>
            <a:srgbClr val="00B05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5pPr>
      <a:lvl6pPr marL="2125086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6pPr>
      <a:lvl7pPr marL="2375094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7pPr>
      <a:lvl8pPr marL="2625104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8pPr>
      <a:lvl9pPr marL="2875113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9pPr>
    </p:bodyStyle>
    <p:otherStyle>
      <a:lvl1pPr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indent="160721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indent="321441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indent="48216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indent="64288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indent="80360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6pPr>
      <a:lvl7pPr indent="964324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7pPr>
      <a:lvl8pPr indent="1125045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8pPr>
      <a:lvl9pPr indent="1285765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sldNum" sz="quarter" idx="2"/>
          </p:nvPr>
        </p:nvSpPr>
        <p:spPr>
          <a:xfrm>
            <a:off x="5996615" y="6510169"/>
            <a:ext cx="198772" cy="19466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 defTabSz="410730">
              <a:defRPr sz="1265" baseline="0">
                <a:solidFill>
                  <a:srgbClr val="5A2DA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BEFA2CCA-4016-444A-8A97-A6204D35368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556EF4-C8C6-41A9-8730-F4ECA9AAC07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26975"/>
          <a:stretch/>
        </p:blipFill>
        <p:spPr>
          <a:xfrm>
            <a:off x="606399" y="6316256"/>
            <a:ext cx="1195495" cy="50229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EB3935-ECE8-4134-9114-019B32758F1E}"/>
              </a:ext>
            </a:extLst>
          </p:cNvPr>
          <p:cNvCxnSpPr>
            <a:cxnSpLocks/>
          </p:cNvCxnSpPr>
          <p:nvPr/>
        </p:nvCxnSpPr>
        <p:spPr>
          <a:xfrm>
            <a:off x="606392" y="6195002"/>
            <a:ext cx="10982528" cy="0"/>
          </a:xfrm>
          <a:prstGeom prst="line">
            <a:avLst/>
          </a:prstGeom>
          <a:noFill/>
          <a:ln w="25400" cap="rnd">
            <a:solidFill>
              <a:srgbClr val="5A2DA3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94" name="Picture 93">
            <a:extLst>
              <a:ext uri="{FF2B5EF4-FFF2-40B4-BE49-F238E27FC236}">
                <a16:creationId xmlns:a16="http://schemas.microsoft.com/office/drawing/2014/main" id="{9EA94E3E-7601-46C3-AF7C-06F8871ACD5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73026" b="1135"/>
          <a:stretch/>
        </p:blipFill>
        <p:spPr>
          <a:xfrm>
            <a:off x="1873651" y="6602561"/>
            <a:ext cx="1337935" cy="198905"/>
          </a:xfrm>
          <a:prstGeom prst="rect">
            <a:avLst/>
          </a:prstGeom>
        </p:spPr>
      </p:pic>
      <p:sp>
        <p:nvSpPr>
          <p:cNvPr id="95" name="Shape 13">
            <a:extLst>
              <a:ext uri="{FF2B5EF4-FFF2-40B4-BE49-F238E27FC236}">
                <a16:creationId xmlns:a16="http://schemas.microsoft.com/office/drawing/2014/main" id="{B387110C-E361-48FF-93B8-15DC20F50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088" y="1086022"/>
            <a:ext cx="11657824" cy="5078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1069935-43E3-47A0-B76A-BFEFFB6097FD}"/>
              </a:ext>
            </a:extLst>
          </p:cNvPr>
          <p:cNvGrpSpPr/>
          <p:nvPr userDrawn="1"/>
        </p:nvGrpSpPr>
        <p:grpSpPr>
          <a:xfrm rot="16200000" flipV="1">
            <a:off x="11360666" y="-439005"/>
            <a:ext cx="918649" cy="1768081"/>
            <a:chOff x="10208215" y="409493"/>
            <a:chExt cx="644333" cy="752676"/>
          </a:xfrm>
        </p:grpSpPr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861465EC-7A57-45F5-BAE1-BFD471B68CDF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70" name="Isosceles Triangle 169">
              <a:extLst>
                <a:ext uri="{FF2B5EF4-FFF2-40B4-BE49-F238E27FC236}">
                  <a16:creationId xmlns:a16="http://schemas.microsoft.com/office/drawing/2014/main" id="{325AB880-31B1-4635-A502-38A40DC89A31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0F630910-3C43-4B4F-9D27-8506DC444313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72" name="Isosceles Triangle 171">
              <a:extLst>
                <a:ext uri="{FF2B5EF4-FFF2-40B4-BE49-F238E27FC236}">
                  <a16:creationId xmlns:a16="http://schemas.microsoft.com/office/drawing/2014/main" id="{528B9B50-71F5-42E2-B3E3-F7D869742171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A14368A5-115F-4DDF-BE32-B8B38925F392}"/>
              </a:ext>
            </a:extLst>
          </p:cNvPr>
          <p:cNvGrpSpPr/>
          <p:nvPr userDrawn="1"/>
        </p:nvGrpSpPr>
        <p:grpSpPr>
          <a:xfrm rot="16200000" flipV="1">
            <a:off x="12217911" y="-426163"/>
            <a:ext cx="892973" cy="1768081"/>
            <a:chOff x="10208215" y="409493"/>
            <a:chExt cx="644333" cy="752676"/>
          </a:xfrm>
        </p:grpSpPr>
        <p:sp>
          <p:nvSpPr>
            <p:cNvPr id="174" name="Isosceles Triangle 173">
              <a:extLst>
                <a:ext uri="{FF2B5EF4-FFF2-40B4-BE49-F238E27FC236}">
                  <a16:creationId xmlns:a16="http://schemas.microsoft.com/office/drawing/2014/main" id="{3B4A4583-563E-4F0D-A9F9-C025D4D15F8B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75" name="Isosceles Triangle 174">
              <a:extLst>
                <a:ext uri="{FF2B5EF4-FFF2-40B4-BE49-F238E27FC236}">
                  <a16:creationId xmlns:a16="http://schemas.microsoft.com/office/drawing/2014/main" id="{5BBA86F6-6F4E-4D9D-80DE-EEAB7975A591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76" name="Isosceles Triangle 175">
              <a:extLst>
                <a:ext uri="{FF2B5EF4-FFF2-40B4-BE49-F238E27FC236}">
                  <a16:creationId xmlns:a16="http://schemas.microsoft.com/office/drawing/2014/main" id="{9072CBF9-F84A-492F-8CB3-2F9AF2155CC4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77" name="Isosceles Triangle 176">
              <a:extLst>
                <a:ext uri="{FF2B5EF4-FFF2-40B4-BE49-F238E27FC236}">
                  <a16:creationId xmlns:a16="http://schemas.microsoft.com/office/drawing/2014/main" id="{EFC1103F-6C8E-4E08-8E72-3EEA1FE41B42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4B7C4B9-C92D-44EE-A944-6E9E129B0190}"/>
              </a:ext>
            </a:extLst>
          </p:cNvPr>
          <p:cNvGrpSpPr/>
          <p:nvPr userDrawn="1"/>
        </p:nvGrpSpPr>
        <p:grpSpPr>
          <a:xfrm rot="16200000" flipV="1">
            <a:off x="10476623" y="-438995"/>
            <a:ext cx="918658" cy="1768081"/>
            <a:chOff x="10208215" y="409493"/>
            <a:chExt cx="644341" cy="752676"/>
          </a:xfrm>
        </p:grpSpPr>
        <p:sp>
          <p:nvSpPr>
            <p:cNvPr id="179" name="Isosceles Triangle 178">
              <a:extLst>
                <a:ext uri="{FF2B5EF4-FFF2-40B4-BE49-F238E27FC236}">
                  <a16:creationId xmlns:a16="http://schemas.microsoft.com/office/drawing/2014/main" id="{F93E7285-7C09-420F-82F1-266986CCB14A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80" name="Isosceles Triangle 179">
              <a:extLst>
                <a:ext uri="{FF2B5EF4-FFF2-40B4-BE49-F238E27FC236}">
                  <a16:creationId xmlns:a16="http://schemas.microsoft.com/office/drawing/2014/main" id="{3831B438-36DF-41C1-957B-174CAAA75B1A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81" name="Isosceles Triangle 180">
              <a:extLst>
                <a:ext uri="{FF2B5EF4-FFF2-40B4-BE49-F238E27FC236}">
                  <a16:creationId xmlns:a16="http://schemas.microsoft.com/office/drawing/2014/main" id="{2567F0D4-587C-4D42-8CF4-D7B18B46BD5C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82" name="Isosceles Triangle 181">
              <a:extLst>
                <a:ext uri="{FF2B5EF4-FFF2-40B4-BE49-F238E27FC236}">
                  <a16:creationId xmlns:a16="http://schemas.microsoft.com/office/drawing/2014/main" id="{B5DC08D3-2FC6-472C-B81E-E9D3C8D63203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sp>
        <p:nvSpPr>
          <p:cNvPr id="26" name="Shape 6"/>
          <p:cNvSpPr/>
          <p:nvPr userDrawn="1"/>
        </p:nvSpPr>
        <p:spPr>
          <a:xfrm>
            <a:off x="12192001" y="-52386"/>
            <a:ext cx="1630363" cy="1001623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 defTabSz="41073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200">
              <a:effectLst/>
            </a:endParaRPr>
          </a:p>
        </p:txBody>
      </p:sp>
      <p:sp>
        <p:nvSpPr>
          <p:cNvPr id="183" name="Shape 12">
            <a:extLst>
              <a:ext uri="{FF2B5EF4-FFF2-40B4-BE49-F238E27FC236}">
                <a16:creationId xmlns:a16="http://schemas.microsoft.com/office/drawing/2014/main" id="{1E97763E-6C98-4574-99B6-3A10AE085C3B}"/>
              </a:ext>
            </a:extLst>
          </p:cNvPr>
          <p:cNvSpPr txBox="1">
            <a:spLocks/>
          </p:cNvSpPr>
          <p:nvPr userDrawn="1"/>
        </p:nvSpPr>
        <p:spPr>
          <a:xfrm>
            <a:off x="7717766" y="5807814"/>
            <a:ext cx="3867844" cy="143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127000" tIns="127000" rIns="127000" bIns="127000" anchor="ctr"/>
          <a:lstStyle>
            <a:lvl1pPr defTabSz="410751" eaLnBrk="1" hangingPunct="1">
              <a:defRPr sz="4400" b="1">
                <a:solidFill>
                  <a:srgbClr val="FFFFFF"/>
                </a:solidFill>
                <a:latin typeface="Arial"/>
                <a:ea typeface="+mn-ea"/>
                <a:cs typeface="Arial"/>
                <a:sym typeface="Gill Sans Light"/>
              </a:defRPr>
            </a:lvl1pPr>
            <a:lvl2pPr indent="160729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2pPr>
            <a:lvl3pPr indent="321457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3pPr>
            <a:lvl4pPr indent="482186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4pPr>
            <a:lvl5pPr indent="642915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5pPr>
            <a:lvl6pPr indent="803643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6pPr>
            <a:lvl7pPr indent="964372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7pPr>
            <a:lvl8pPr indent="1125101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8pPr>
            <a:lvl9pPr indent="1285829" defTabSz="410751" eaLnBrk="1" hangingPunct="1">
              <a:defRPr sz="4781">
                <a:solidFill>
                  <a:srgbClr val="FFFFFF"/>
                </a:solidFill>
                <a:latin typeface="+mn-lt"/>
                <a:ea typeface="+mn-ea"/>
                <a:cs typeface="+mn-cs"/>
                <a:sym typeface="Gill Sans Light"/>
              </a:defRPr>
            </a:lvl9pPr>
          </a:lstStyle>
          <a:p>
            <a:pPr algn="r">
              <a:defRPr sz="1800">
                <a:solidFill>
                  <a:srgbClr val="000000"/>
                </a:solidFill>
              </a:defRPr>
            </a:pPr>
            <a:r>
              <a:rPr lang="en-US" sz="1800" b="1">
                <a:solidFill>
                  <a:schemeClr val="tx1"/>
                </a:solidFill>
              </a:rPr>
              <a:t>All-Hands Spring 2020</a:t>
            </a:r>
          </a:p>
          <a:p>
            <a:pPr algn="r">
              <a:defRPr sz="1800">
                <a:solidFill>
                  <a:srgbClr val="000000"/>
                </a:solidFill>
              </a:defRPr>
            </a:pPr>
            <a:r>
              <a:rPr lang="en-US" sz="1400" b="1">
                <a:solidFill>
                  <a:srgbClr val="BDA4E6"/>
                </a:solidFill>
              </a:rPr>
              <a:t>January 21</a:t>
            </a:r>
            <a:r>
              <a:rPr lang="en-US" sz="1400" b="1" baseline="30000">
                <a:solidFill>
                  <a:srgbClr val="BDA4E6"/>
                </a:solidFill>
              </a:rPr>
              <a:t>st</a:t>
            </a:r>
            <a:r>
              <a:rPr lang="en-US" sz="1400" b="1">
                <a:solidFill>
                  <a:srgbClr val="BDA4E6"/>
                </a:solidFill>
              </a:rPr>
              <a:t>, 2020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A706DB5-958A-451B-A00B-B31AAC73DD40}"/>
              </a:ext>
            </a:extLst>
          </p:cNvPr>
          <p:cNvGrpSpPr/>
          <p:nvPr userDrawn="1"/>
        </p:nvGrpSpPr>
        <p:grpSpPr>
          <a:xfrm rot="16200000" flipV="1">
            <a:off x="9598774" y="-439022"/>
            <a:ext cx="918649" cy="1768081"/>
            <a:chOff x="10208215" y="409493"/>
            <a:chExt cx="644333" cy="752676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B9FC4AA5-0DAD-4094-9AB8-E181D9E1DB63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5375AC5D-BE51-4768-8DCF-1607B14FA6BA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6FD25F83-D058-4016-8B29-C48CF67B6282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4D4396AA-49CE-47E4-B904-4A9F636A025A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7F2A933-698A-4AF4-9EA9-2C44A3B08EB7}"/>
              </a:ext>
            </a:extLst>
          </p:cNvPr>
          <p:cNvGrpSpPr/>
          <p:nvPr userDrawn="1"/>
        </p:nvGrpSpPr>
        <p:grpSpPr>
          <a:xfrm rot="16200000" flipV="1">
            <a:off x="8714730" y="-439012"/>
            <a:ext cx="918658" cy="1768081"/>
            <a:chOff x="10208215" y="409493"/>
            <a:chExt cx="644341" cy="752676"/>
          </a:xfrm>
        </p:grpSpPr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7C586271-D0F3-4667-8B90-CD907CBC57C0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460A2B0D-49E5-4137-B3DB-C56CBBB72426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545A3713-EAA2-40AA-84D5-46602BAE113B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19BCCF99-56FE-4E32-BE15-0DE627427515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34BA4B-2097-4F50-B090-EFB10B9151EE}"/>
              </a:ext>
            </a:extLst>
          </p:cNvPr>
          <p:cNvGrpSpPr/>
          <p:nvPr userDrawn="1"/>
        </p:nvGrpSpPr>
        <p:grpSpPr>
          <a:xfrm rot="16200000" flipV="1">
            <a:off x="7848820" y="-445426"/>
            <a:ext cx="918649" cy="1768081"/>
            <a:chOff x="10208215" y="409493"/>
            <a:chExt cx="644333" cy="752676"/>
          </a:xfrm>
        </p:grpSpPr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A08233F7-D738-45E1-86BE-723DD44872DB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EDCEED5E-208F-4062-997E-6E8831891809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B70D8917-ACB2-402F-BA84-79A47D4266A6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D5E6BDE4-4782-4048-8830-3CAFDB506AF8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5123C6-2A86-4650-8DE2-976ADD49A813}"/>
              </a:ext>
            </a:extLst>
          </p:cNvPr>
          <p:cNvGrpSpPr/>
          <p:nvPr userDrawn="1"/>
        </p:nvGrpSpPr>
        <p:grpSpPr>
          <a:xfrm rot="16200000" flipV="1">
            <a:off x="6964776" y="-445417"/>
            <a:ext cx="918658" cy="1768081"/>
            <a:chOff x="10208215" y="409493"/>
            <a:chExt cx="644341" cy="752676"/>
          </a:xfrm>
        </p:grpSpPr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F6E88AFB-6B21-452E-AE1A-11B6237C17B7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BDB67139-BE8D-4290-A401-85FA1766369C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A2A729C3-A409-42BC-A6F3-A6E151236132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D29462C8-D1C3-45D4-BAE5-63B138BC4BB0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DA27570-F6C8-4B65-BE63-AF86B4ABC4B3}"/>
              </a:ext>
            </a:extLst>
          </p:cNvPr>
          <p:cNvGrpSpPr/>
          <p:nvPr userDrawn="1"/>
        </p:nvGrpSpPr>
        <p:grpSpPr>
          <a:xfrm rot="16200000" flipV="1">
            <a:off x="6102274" y="-445440"/>
            <a:ext cx="918649" cy="1768081"/>
            <a:chOff x="10208215" y="409493"/>
            <a:chExt cx="644333" cy="752676"/>
          </a:xfrm>
        </p:grpSpPr>
        <p:sp>
          <p:nvSpPr>
            <p:cNvPr id="48" name="Isosceles Triangle 47">
              <a:extLst>
                <a:ext uri="{FF2B5EF4-FFF2-40B4-BE49-F238E27FC236}">
                  <a16:creationId xmlns:a16="http://schemas.microsoft.com/office/drawing/2014/main" id="{A1ACB21F-93E7-4EC6-BD5C-EB6C41416E2B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FE13F6C5-F7ED-4C52-A098-31A7BBDB7AF5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B58E0AC3-9438-4200-81A8-A4C742992DB8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5A69F8B3-0F5B-45F6-AB47-5BA35DDCBACC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1900918-ED23-4AC5-B6A7-B8FBF31E383C}"/>
              </a:ext>
            </a:extLst>
          </p:cNvPr>
          <p:cNvGrpSpPr/>
          <p:nvPr userDrawn="1"/>
        </p:nvGrpSpPr>
        <p:grpSpPr>
          <a:xfrm rot="16200000" flipV="1">
            <a:off x="5218230" y="-445430"/>
            <a:ext cx="918658" cy="1768081"/>
            <a:chOff x="10208215" y="409493"/>
            <a:chExt cx="644341" cy="752676"/>
          </a:xfrm>
        </p:grpSpPr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C033270F-D683-4298-B7D4-E09120E4F6A2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4749A5D6-3607-423A-8F0B-83A2A560ABBB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23935803-8EB5-415B-8863-21C1B68CA529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56" name="Isosceles Triangle 55">
              <a:extLst>
                <a:ext uri="{FF2B5EF4-FFF2-40B4-BE49-F238E27FC236}">
                  <a16:creationId xmlns:a16="http://schemas.microsoft.com/office/drawing/2014/main" id="{2DD1FE69-CCB7-4CD9-9EC8-1F71091F896E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ABD22A0-CBBD-437D-90AE-3C3185F0A83A}"/>
              </a:ext>
            </a:extLst>
          </p:cNvPr>
          <p:cNvGrpSpPr/>
          <p:nvPr userDrawn="1"/>
        </p:nvGrpSpPr>
        <p:grpSpPr>
          <a:xfrm rot="16200000" flipV="1">
            <a:off x="4334202" y="-445442"/>
            <a:ext cx="918649" cy="1768081"/>
            <a:chOff x="10208215" y="409493"/>
            <a:chExt cx="644333" cy="752676"/>
          </a:xfrm>
        </p:grpSpPr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05EC9E9E-AC37-459B-8105-C06C0D543E7B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69" name="Isosceles Triangle 68">
              <a:extLst>
                <a:ext uri="{FF2B5EF4-FFF2-40B4-BE49-F238E27FC236}">
                  <a16:creationId xmlns:a16="http://schemas.microsoft.com/office/drawing/2014/main" id="{A1066AFE-4A23-438E-8840-CEF0BCA97953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FBEC449D-0295-4276-80F4-6E989215B473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F862ABB4-57D4-46E5-843F-5217CF2964EE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6DDE311-7A9C-40E3-8352-396719D3B95A}"/>
              </a:ext>
            </a:extLst>
          </p:cNvPr>
          <p:cNvGrpSpPr/>
          <p:nvPr userDrawn="1"/>
        </p:nvGrpSpPr>
        <p:grpSpPr>
          <a:xfrm rot="16200000" flipV="1">
            <a:off x="3450158" y="-445431"/>
            <a:ext cx="918658" cy="1768081"/>
            <a:chOff x="10208215" y="409493"/>
            <a:chExt cx="644341" cy="752676"/>
          </a:xfrm>
        </p:grpSpPr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30301232-B630-408A-9A45-3D48D88F3886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77BF786C-D1DB-47F3-A0A8-B06BBC69880B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7FF89AEB-0336-4931-A6DF-F08A05CD7A25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CD921BB7-6040-40A8-B9A3-100A65CDB8B1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3077248-779D-4A96-AA8F-4C675A2BAE35}"/>
              </a:ext>
            </a:extLst>
          </p:cNvPr>
          <p:cNvGrpSpPr/>
          <p:nvPr userDrawn="1"/>
        </p:nvGrpSpPr>
        <p:grpSpPr>
          <a:xfrm rot="16200000" flipV="1">
            <a:off x="2570996" y="-445467"/>
            <a:ext cx="918649" cy="1768081"/>
            <a:chOff x="10208215" y="409493"/>
            <a:chExt cx="644333" cy="752676"/>
          </a:xfrm>
        </p:grpSpPr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116E6E1C-0F30-4D6F-82EF-6FA1DE256241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EAB739F2-7BB0-4F24-BF0D-5D92E6F52B38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58A6A12B-B857-4AD5-A7F6-2DC11C7B5659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E2B8EFA8-7FCC-4788-BCA3-58B668E1148F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4D51E86-6E46-4541-9BAC-69E8B4538E2E}"/>
              </a:ext>
            </a:extLst>
          </p:cNvPr>
          <p:cNvGrpSpPr/>
          <p:nvPr userDrawn="1"/>
        </p:nvGrpSpPr>
        <p:grpSpPr>
          <a:xfrm rot="16200000" flipV="1">
            <a:off x="1686952" y="-445457"/>
            <a:ext cx="918658" cy="1768081"/>
            <a:chOff x="10208215" y="409493"/>
            <a:chExt cx="644341" cy="752676"/>
          </a:xfrm>
        </p:grpSpPr>
        <p:sp>
          <p:nvSpPr>
            <p:cNvPr id="83" name="Isosceles Triangle 82">
              <a:extLst>
                <a:ext uri="{FF2B5EF4-FFF2-40B4-BE49-F238E27FC236}">
                  <a16:creationId xmlns:a16="http://schemas.microsoft.com/office/drawing/2014/main" id="{337C7094-3FDD-429F-835A-76E90C8CE3D9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84" name="Isosceles Triangle 83">
              <a:extLst>
                <a:ext uri="{FF2B5EF4-FFF2-40B4-BE49-F238E27FC236}">
                  <a16:creationId xmlns:a16="http://schemas.microsoft.com/office/drawing/2014/main" id="{95F22837-A7FB-490F-96F2-03FAF6647F67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3A084D3B-27C1-4E71-A014-105256CBE15C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86" name="Isosceles Triangle 85">
              <a:extLst>
                <a:ext uri="{FF2B5EF4-FFF2-40B4-BE49-F238E27FC236}">
                  <a16:creationId xmlns:a16="http://schemas.microsoft.com/office/drawing/2014/main" id="{7C5C06DB-1909-43EC-9204-018D79176452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C72D7FA-0FC4-4E4D-99C9-912B0D118EF3}"/>
              </a:ext>
            </a:extLst>
          </p:cNvPr>
          <p:cNvGrpSpPr/>
          <p:nvPr userDrawn="1"/>
        </p:nvGrpSpPr>
        <p:grpSpPr>
          <a:xfrm rot="16200000" flipV="1">
            <a:off x="811538" y="-439025"/>
            <a:ext cx="918649" cy="1768081"/>
            <a:chOff x="10208215" y="409493"/>
            <a:chExt cx="644333" cy="752676"/>
          </a:xfrm>
        </p:grpSpPr>
        <p:sp>
          <p:nvSpPr>
            <p:cNvPr id="88" name="Isosceles Triangle 87">
              <a:extLst>
                <a:ext uri="{FF2B5EF4-FFF2-40B4-BE49-F238E27FC236}">
                  <a16:creationId xmlns:a16="http://schemas.microsoft.com/office/drawing/2014/main" id="{FA360DCF-D8CC-416A-8E5F-EC50E9C74639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64429EA3-ADB9-499F-87AC-EDE1DDAEE4D3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90" name="Isosceles Triangle 89">
              <a:extLst>
                <a:ext uri="{FF2B5EF4-FFF2-40B4-BE49-F238E27FC236}">
                  <a16:creationId xmlns:a16="http://schemas.microsoft.com/office/drawing/2014/main" id="{1F817801-53C7-47AC-AA33-FB746D43D17D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C868F042-7E5B-40E5-9370-F97230F8A689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35AC64F-AF01-4120-B7C8-F2C10679639F}"/>
              </a:ext>
            </a:extLst>
          </p:cNvPr>
          <p:cNvGrpSpPr/>
          <p:nvPr userDrawn="1"/>
        </p:nvGrpSpPr>
        <p:grpSpPr>
          <a:xfrm rot="16200000" flipV="1">
            <a:off x="-72505" y="-439015"/>
            <a:ext cx="918658" cy="1768081"/>
            <a:chOff x="10208215" y="409493"/>
            <a:chExt cx="644341" cy="752676"/>
          </a:xfrm>
        </p:grpSpPr>
        <p:sp>
          <p:nvSpPr>
            <p:cNvPr id="93" name="Isosceles Triangle 92">
              <a:extLst>
                <a:ext uri="{FF2B5EF4-FFF2-40B4-BE49-F238E27FC236}">
                  <a16:creationId xmlns:a16="http://schemas.microsoft.com/office/drawing/2014/main" id="{DFDDFEB8-5715-4C4C-A455-A4C0FE9452D5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96" name="Isosceles Triangle 95">
              <a:extLst>
                <a:ext uri="{FF2B5EF4-FFF2-40B4-BE49-F238E27FC236}">
                  <a16:creationId xmlns:a16="http://schemas.microsoft.com/office/drawing/2014/main" id="{C5A112C7-8104-4E78-8F4B-9B21D7DA7C79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97" name="Isosceles Triangle 96">
              <a:extLst>
                <a:ext uri="{FF2B5EF4-FFF2-40B4-BE49-F238E27FC236}">
                  <a16:creationId xmlns:a16="http://schemas.microsoft.com/office/drawing/2014/main" id="{65E9C00E-0508-4CB4-BE59-BA2B64722C07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98" name="Isosceles Triangle 97">
              <a:extLst>
                <a:ext uri="{FF2B5EF4-FFF2-40B4-BE49-F238E27FC236}">
                  <a16:creationId xmlns:a16="http://schemas.microsoft.com/office/drawing/2014/main" id="{C0792DD9-8B47-4EE0-A415-AFD29B0ED1A3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91A8C2C-48E7-4762-BEA7-DDCE2E1B4849}"/>
              </a:ext>
            </a:extLst>
          </p:cNvPr>
          <p:cNvGrpSpPr/>
          <p:nvPr userDrawn="1"/>
        </p:nvGrpSpPr>
        <p:grpSpPr>
          <a:xfrm rot="16200000" flipV="1">
            <a:off x="-941349" y="-439038"/>
            <a:ext cx="918649" cy="1768081"/>
            <a:chOff x="10208215" y="409493"/>
            <a:chExt cx="644333" cy="752676"/>
          </a:xfrm>
        </p:grpSpPr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221DB37C-C04E-4766-A227-2F1801B739E2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01" name="Isosceles Triangle 100">
              <a:extLst>
                <a:ext uri="{FF2B5EF4-FFF2-40B4-BE49-F238E27FC236}">
                  <a16:creationId xmlns:a16="http://schemas.microsoft.com/office/drawing/2014/main" id="{8D27102B-D75D-415B-9D9B-A599C6782508}"/>
                </a:ext>
              </a:extLst>
            </p:cNvPr>
            <p:cNvSpPr/>
            <p:nvPr userDrawn="1"/>
          </p:nvSpPr>
          <p:spPr>
            <a:xfrm rot="5400000">
              <a:off x="10504609" y="622121"/>
              <a:ext cx="373711" cy="322165"/>
            </a:xfrm>
            <a:prstGeom prst="triangle">
              <a:avLst/>
            </a:prstGeom>
            <a:solidFill>
              <a:srgbClr val="5A2DA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02" name="Isosceles Triangle 101">
              <a:extLst>
                <a:ext uri="{FF2B5EF4-FFF2-40B4-BE49-F238E27FC236}">
                  <a16:creationId xmlns:a16="http://schemas.microsoft.com/office/drawing/2014/main" id="{B6BB37B2-15FA-4352-83B1-DB7A05533DF5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3CA67A55-CFE5-4B54-BF3B-716C01A55582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BDA4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82E92B1-BB65-4949-AAEE-459BE7C01710}"/>
              </a:ext>
            </a:extLst>
          </p:cNvPr>
          <p:cNvGrpSpPr/>
          <p:nvPr userDrawn="1"/>
        </p:nvGrpSpPr>
        <p:grpSpPr>
          <a:xfrm rot="16200000" flipV="1">
            <a:off x="-1825388" y="-439028"/>
            <a:ext cx="918658" cy="1768081"/>
            <a:chOff x="10208215" y="409493"/>
            <a:chExt cx="644341" cy="752676"/>
          </a:xfrm>
        </p:grpSpPr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D80964BA-645A-4E2A-ABE4-CF4E2E07549B}"/>
                </a:ext>
              </a:extLst>
            </p:cNvPr>
            <p:cNvSpPr/>
            <p:nvPr userDrawn="1"/>
          </p:nvSpPr>
          <p:spPr>
            <a:xfrm rot="16200000">
              <a:off x="10504610" y="435266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06" name="Isosceles Triangle 105">
              <a:extLst>
                <a:ext uri="{FF2B5EF4-FFF2-40B4-BE49-F238E27FC236}">
                  <a16:creationId xmlns:a16="http://schemas.microsoft.com/office/drawing/2014/main" id="{3293C24B-FCF7-4BF1-B1DE-8513FBCAE7BE}"/>
                </a:ext>
              </a:extLst>
            </p:cNvPr>
            <p:cNvSpPr/>
            <p:nvPr userDrawn="1"/>
          </p:nvSpPr>
          <p:spPr>
            <a:xfrm rot="5400000">
              <a:off x="10504618" y="624580"/>
              <a:ext cx="373711" cy="322165"/>
            </a:xfrm>
            <a:prstGeom prst="triangle">
              <a:avLst/>
            </a:prstGeom>
            <a:solidFill>
              <a:srgbClr val="A07BDB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07" name="Isosceles Triangle 106">
              <a:extLst>
                <a:ext uri="{FF2B5EF4-FFF2-40B4-BE49-F238E27FC236}">
                  <a16:creationId xmlns:a16="http://schemas.microsoft.com/office/drawing/2014/main" id="{D7A9A175-D52A-4A9D-9EE7-F54A027050F7}"/>
                </a:ext>
              </a:extLst>
            </p:cNvPr>
            <p:cNvSpPr/>
            <p:nvPr userDrawn="1"/>
          </p:nvSpPr>
          <p:spPr>
            <a:xfrm rot="16200000">
              <a:off x="10182443" y="622118"/>
              <a:ext cx="373711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  <p:sp>
          <p:nvSpPr>
            <p:cNvPr id="108" name="Isosceles Triangle 107">
              <a:extLst>
                <a:ext uri="{FF2B5EF4-FFF2-40B4-BE49-F238E27FC236}">
                  <a16:creationId xmlns:a16="http://schemas.microsoft.com/office/drawing/2014/main" id="{A1296B77-10AF-41C7-B018-43EB9ED2C4B3}"/>
                </a:ext>
              </a:extLst>
            </p:cNvPr>
            <p:cNvSpPr/>
            <p:nvPr userDrawn="1"/>
          </p:nvSpPr>
          <p:spPr>
            <a:xfrm rot="5400000">
              <a:off x="10179812" y="811600"/>
              <a:ext cx="378972" cy="322165"/>
            </a:xfrm>
            <a:prstGeom prst="triangle">
              <a:avLst/>
            </a:prstGeom>
            <a:solidFill>
              <a:srgbClr val="8151C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4"/>
            </a:p>
          </p:txBody>
        </p:sp>
      </p:grpSp>
      <p:sp>
        <p:nvSpPr>
          <p:cNvPr id="109" name="Shape 6">
            <a:extLst>
              <a:ext uri="{FF2B5EF4-FFF2-40B4-BE49-F238E27FC236}">
                <a16:creationId xmlns:a16="http://schemas.microsoft.com/office/drawing/2014/main" id="{112E3E8F-2179-45C8-84F1-3AF8667A86AE}"/>
              </a:ext>
            </a:extLst>
          </p:cNvPr>
          <p:cNvSpPr/>
          <p:nvPr userDrawn="1"/>
        </p:nvSpPr>
        <p:spPr>
          <a:xfrm>
            <a:off x="-1621986" y="-42937"/>
            <a:ext cx="1630363" cy="1001623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lvl="0" algn="ctr" defTabSz="41073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320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34329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7" r:id="rId2"/>
    <p:sldLayoutId id="2147483681" r:id="rId3"/>
    <p:sldLayoutId id="2147483678" r:id="rId4"/>
    <p:sldLayoutId id="2147483683" r:id="rId5"/>
    <p:sldLayoutId id="2147483684" r:id="rId6"/>
  </p:sldLayoutIdLst>
  <p:transition spd="med"/>
  <p:hf hdr="0" ftr="0" dt="0"/>
  <p:txStyles>
    <p:titleStyle>
      <a:lvl1pPr defTabSz="410730" eaLnBrk="1" hangingPunct="1">
        <a:defRPr sz="4400" b="1">
          <a:solidFill>
            <a:srgbClr val="FFFFFF"/>
          </a:solidFill>
          <a:latin typeface="Arial"/>
          <a:ea typeface="+mn-ea"/>
          <a:cs typeface="Arial"/>
          <a:sym typeface="Gill Sans Light"/>
        </a:defRPr>
      </a:lvl1pPr>
      <a:lvl2pPr indent="160721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2pPr>
      <a:lvl3pPr indent="321441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3pPr>
      <a:lvl4pPr indent="48216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4pPr>
      <a:lvl5pPr indent="64288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5pPr>
      <a:lvl6pPr indent="803603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6pPr>
      <a:lvl7pPr indent="964324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7pPr>
      <a:lvl8pPr indent="1125045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8pPr>
      <a:lvl9pPr indent="1285765" defTabSz="410730" eaLnBrk="1" hangingPunct="1">
        <a:defRPr sz="4781">
          <a:solidFill>
            <a:srgbClr val="FFFFFF"/>
          </a:solidFill>
          <a:latin typeface="+mn-lt"/>
          <a:ea typeface="+mn-ea"/>
          <a:cs typeface="+mn-cs"/>
          <a:sym typeface="Gill Sans Light"/>
        </a:defRPr>
      </a:lvl9pPr>
    </p:titleStyle>
    <p:bodyStyle>
      <a:lvl1pPr marL="625024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2800" b="1"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1pPr>
      <a:lvl2pPr marL="937538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2400" b="1">
          <a:solidFill>
            <a:srgbClr val="191EA2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2pPr>
      <a:lvl3pPr marL="1250050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1800" b="1">
          <a:solidFill>
            <a:srgbClr val="FF4B0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3pPr>
      <a:lvl4pPr marL="1562562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1600" b="1">
          <a:solidFill>
            <a:srgbClr val="7030A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4pPr>
      <a:lvl5pPr marL="1875074" indent="-401803" defTabSz="410730" eaLnBrk="1" hangingPunct="1">
        <a:spcBef>
          <a:spcPts val="844"/>
        </a:spcBef>
        <a:buSzPct val="100000"/>
        <a:buFont typeface="Wingdings" panose="05000000000000000000" pitchFamily="2" charset="2"/>
        <a:buChar char="§"/>
        <a:defRPr sz="1400" b="1">
          <a:solidFill>
            <a:srgbClr val="00B050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Gill Sans Light"/>
        </a:defRPr>
      </a:lvl5pPr>
      <a:lvl6pPr marL="2125086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6pPr>
      <a:lvl7pPr marL="2375094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7pPr>
      <a:lvl8pPr marL="2625104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8pPr>
      <a:lvl9pPr marL="2875113" indent="-401803" defTabSz="410730" eaLnBrk="1" hangingPunct="1">
        <a:spcBef>
          <a:spcPts val="1687"/>
        </a:spcBef>
        <a:buSzPct val="171000"/>
        <a:buChar char="•"/>
        <a:defRPr sz="2953">
          <a:latin typeface="+mn-lt"/>
          <a:ea typeface="+mn-ea"/>
          <a:cs typeface="+mn-cs"/>
          <a:sym typeface="Gill Sans Light"/>
        </a:defRPr>
      </a:lvl9pPr>
    </p:bodyStyle>
    <p:otherStyle>
      <a:lvl1pPr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1pPr>
      <a:lvl2pPr indent="160721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2pPr>
      <a:lvl3pPr indent="321441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3pPr>
      <a:lvl4pPr indent="48216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4pPr>
      <a:lvl5pPr indent="64288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5pPr>
      <a:lvl6pPr indent="803603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6pPr>
      <a:lvl7pPr indent="964324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7pPr>
      <a:lvl8pPr indent="1125045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8pPr>
      <a:lvl9pPr indent="1285765" algn="ctr" defTabSz="410730" eaLnBrk="1" hangingPunct="1">
        <a:defRPr>
          <a:solidFill>
            <a:schemeClr val="tx1"/>
          </a:solidFill>
          <a:latin typeface="+mn-lt"/>
          <a:ea typeface="+mn-ea"/>
          <a:cs typeface="+mn-cs"/>
          <a:sym typeface="Gill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datasets/catalog/mnist" TargetMode="External"/><Relationship Id="rId2" Type="http://schemas.openxmlformats.org/officeDocument/2006/relationships/hyperlink" Target="https://doi.org/10.1145/3020078.302174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/>
          <p:cNvSpPr txBox="1">
            <a:spLocks/>
          </p:cNvSpPr>
          <p:nvPr/>
        </p:nvSpPr>
        <p:spPr>
          <a:xfrm>
            <a:off x="1780032" y="3027570"/>
            <a:ext cx="8650224" cy="1239631"/>
          </a:xfrm>
          <a:prstGeom prst="rect">
            <a:avLst/>
          </a:prstGeom>
        </p:spPr>
        <p:txBody>
          <a:bodyPr/>
          <a:lstStyle>
            <a:lvl1pPr marL="625024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2800" b="1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1pPr>
            <a:lvl2pPr marL="937538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2400" b="1">
                <a:solidFill>
                  <a:srgbClr val="191EA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2pPr>
            <a:lvl3pPr marL="1250050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1800" b="1">
                <a:solidFill>
                  <a:srgbClr val="FF4B0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3pPr>
            <a:lvl4pPr marL="1562562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1600" b="1">
                <a:solidFill>
                  <a:srgbClr val="7030A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4pPr>
            <a:lvl5pPr marL="1875074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1400" b="1">
                <a:solidFill>
                  <a:srgbClr val="00B05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5pPr>
            <a:lvl6pPr marL="2125086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6pPr>
            <a:lvl7pPr marL="2375094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7pPr>
            <a:lvl8pPr marL="2625104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8pPr>
            <a:lvl9pPr marL="2875113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9pPr>
          </a:lstStyle>
          <a:p>
            <a:pPr marL="223221" indent="0" algn="ctr">
              <a:buNone/>
            </a:pPr>
            <a:r>
              <a:rPr lang="en-US" sz="3200" dirty="0"/>
              <a:t>Binary Neural Net Design Contest</a:t>
            </a:r>
          </a:p>
          <a:p>
            <a:pPr marL="223221" indent="0" algn="ctr">
              <a:buNone/>
            </a:pPr>
            <a:r>
              <a:rPr lang="en-US" u="sng" dirty="0"/>
              <a:t>Background Information</a:t>
            </a:r>
          </a:p>
          <a:p>
            <a:pPr marL="223221" indent="0" algn="ctr">
              <a:buNone/>
            </a:pPr>
            <a:endParaRPr lang="en-US" u="sng" dirty="0"/>
          </a:p>
        </p:txBody>
      </p:sp>
      <p:sp>
        <p:nvSpPr>
          <p:cNvPr id="3" name="Text Placeholder 3"/>
          <p:cNvSpPr txBox="1">
            <a:spLocks/>
          </p:cNvSpPr>
          <p:nvPr/>
        </p:nvSpPr>
        <p:spPr>
          <a:xfrm>
            <a:off x="2001642" y="4946872"/>
            <a:ext cx="8205788" cy="1831647"/>
          </a:xfrm>
          <a:prstGeom prst="rect">
            <a:avLst/>
          </a:prstGeom>
        </p:spPr>
        <p:txBody>
          <a:bodyPr/>
          <a:lstStyle>
            <a:lvl1pPr marL="625024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2800" b="1"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1pPr>
            <a:lvl2pPr marL="937538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2400" b="1">
                <a:solidFill>
                  <a:srgbClr val="191EA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2pPr>
            <a:lvl3pPr marL="1250050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1800" b="1">
                <a:solidFill>
                  <a:srgbClr val="FF4B0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3pPr>
            <a:lvl4pPr marL="1562562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1600" b="1">
                <a:solidFill>
                  <a:srgbClr val="7030A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4pPr>
            <a:lvl5pPr marL="1875074" indent="-401803" defTabSz="410730" eaLnBrk="1" hangingPunct="1">
              <a:spcBef>
                <a:spcPts val="844"/>
              </a:spcBef>
              <a:buSzPct val="100000"/>
              <a:buFont typeface="Wingdings" panose="05000000000000000000" pitchFamily="2" charset="2"/>
              <a:buChar char="§"/>
              <a:defRPr sz="1400" b="1">
                <a:solidFill>
                  <a:srgbClr val="00B05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Gill Sans Light"/>
              </a:defRPr>
            </a:lvl5pPr>
            <a:lvl6pPr marL="2125086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6pPr>
            <a:lvl7pPr marL="2375094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7pPr>
            <a:lvl8pPr marL="2625104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8pPr>
            <a:lvl9pPr marL="2875113" indent="-401803" defTabSz="410730" eaLnBrk="1" hangingPunct="1">
              <a:spcBef>
                <a:spcPts val="1687"/>
              </a:spcBef>
              <a:buSzPct val="171000"/>
              <a:buChar char="•"/>
              <a:defRPr sz="2953">
                <a:latin typeface="+mn-lt"/>
                <a:ea typeface="+mn-ea"/>
                <a:cs typeface="+mn-cs"/>
                <a:sym typeface="Gill Sans Light"/>
              </a:defRPr>
            </a:lvl9pPr>
          </a:lstStyle>
          <a:p>
            <a:pPr marL="223221" indent="0" algn="ctr">
              <a:spcBef>
                <a:spcPts val="0"/>
              </a:spcBef>
              <a:buNone/>
            </a:pPr>
            <a:r>
              <a:rPr lang="en-US" sz="2000" dirty="0"/>
              <a:t>Greg Stitt</a:t>
            </a:r>
          </a:p>
          <a:p>
            <a:pPr marL="223221" indent="0" algn="ctr">
              <a:spcBef>
                <a:spcPts val="0"/>
              </a:spcBef>
              <a:buNone/>
            </a:pPr>
            <a:r>
              <a:rPr lang="en-US" sz="2000" dirty="0"/>
              <a:t>Department of Electrical and Computer Engineering</a:t>
            </a:r>
            <a:endParaRPr lang="en-US" sz="2000" b="0" dirty="0"/>
          </a:p>
          <a:p>
            <a:pPr marL="223221" indent="0" algn="ctr">
              <a:spcBef>
                <a:spcPts val="0"/>
              </a:spcBef>
              <a:buNone/>
            </a:pPr>
            <a:r>
              <a:rPr lang="en-US" sz="2000" dirty="0"/>
              <a:t>University of Florida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64" y="6256539"/>
            <a:ext cx="2606040" cy="52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0450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2107FD-C7CC-6D6B-4301-D3E98009D1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116013"/>
            <a:ext cx="11088687" cy="5078791"/>
          </a:xfrm>
        </p:spPr>
        <p:txBody>
          <a:bodyPr/>
          <a:lstStyle/>
          <a:p>
            <a:r>
              <a:rPr lang="en-US" sz="2400" dirty="0"/>
              <a:t>We will be creating an FPGA accelerator for binary neural nets (BNNs)</a:t>
            </a:r>
          </a:p>
          <a:p>
            <a:pPr lvl="1"/>
            <a:r>
              <a:rPr lang="en-US" sz="2000" dirty="0"/>
              <a:t>Specifically, a fully connected BNN for classification</a:t>
            </a:r>
          </a:p>
          <a:p>
            <a:pPr lvl="1"/>
            <a:r>
              <a:rPr lang="en-US" sz="2000" dirty="0"/>
              <a:t>Design should ideally work for any topology, but will be evaluated for specific topology for digit recognition</a:t>
            </a:r>
          </a:p>
          <a:p>
            <a:pPr lvl="2"/>
            <a:r>
              <a:rPr lang="en-US" sz="1600" dirty="0"/>
              <a:t>Classifies input images into 0-9 categories</a:t>
            </a:r>
          </a:p>
          <a:p>
            <a:r>
              <a:rPr lang="en-US" sz="2400" dirty="0"/>
              <a:t>You are provided with:</a:t>
            </a:r>
          </a:p>
          <a:p>
            <a:pPr lvl="1"/>
            <a:r>
              <a:rPr lang="en-US" sz="2000" dirty="0"/>
              <a:t>Testbench + reference model (behavioral, not synthesizable)</a:t>
            </a:r>
          </a:p>
          <a:p>
            <a:pPr lvl="1"/>
            <a:r>
              <a:rPr lang="en-US" sz="2000" dirty="0"/>
              <a:t>DUT interface + configuration parameters</a:t>
            </a:r>
          </a:p>
          <a:p>
            <a:pPr lvl="1"/>
            <a:r>
              <a:rPr lang="en-US" sz="2000" dirty="0"/>
              <a:t>See https://github.com/greg-stitt-uf/bnn_fcc_contest</a:t>
            </a:r>
          </a:p>
          <a:p>
            <a:r>
              <a:rPr lang="en-US" sz="2400" dirty="0"/>
              <a:t>You will:</a:t>
            </a:r>
          </a:p>
          <a:p>
            <a:pPr lvl="1"/>
            <a:r>
              <a:rPr lang="en-US" sz="2000" dirty="0"/>
              <a:t>Implement the DUT so that the testbench passes</a:t>
            </a:r>
          </a:p>
          <a:p>
            <a:pPr lvl="1"/>
            <a:r>
              <a:rPr lang="en-US" sz="2000" dirty="0"/>
              <a:t>Optimize the DUT for a specific use case</a:t>
            </a:r>
          </a:p>
          <a:p>
            <a:pPr marL="461962" lvl="1" indent="0">
              <a:buNone/>
            </a:pPr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52C102-4556-2579-21C4-F3C873EB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4951156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EC6D5-ABC3-15B8-54F5-2E1E46380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E7D5C5-3D5F-63BC-C389-0990236EBB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400" dirty="0"/>
              <a:t>Two use cases:</a:t>
            </a:r>
          </a:p>
          <a:p>
            <a:pPr lvl="1"/>
            <a:r>
              <a:rPr lang="en-US" sz="2000" dirty="0"/>
              <a:t>Minimize latency</a:t>
            </a:r>
            <a:endParaRPr lang="en-US" sz="1400" dirty="0"/>
          </a:p>
          <a:p>
            <a:pPr lvl="1"/>
            <a:r>
              <a:rPr lang="en-US" sz="2000" dirty="0"/>
              <a:t>Maximize throughput</a:t>
            </a:r>
          </a:p>
          <a:p>
            <a:r>
              <a:rPr lang="en-US" sz="2400" dirty="0"/>
              <a:t>Constraints</a:t>
            </a:r>
          </a:p>
          <a:p>
            <a:pPr lvl="1"/>
            <a:r>
              <a:rPr lang="en-US" sz="2000" dirty="0"/>
              <a:t>Resources</a:t>
            </a:r>
          </a:p>
          <a:p>
            <a:pPr lvl="2"/>
            <a:r>
              <a:rPr lang="en-US" sz="1600" dirty="0"/>
              <a:t>Both use cases will have some resource constraints, will likely require a specific FPGA</a:t>
            </a:r>
          </a:p>
          <a:p>
            <a:pPr lvl="1"/>
            <a:r>
              <a:rPr lang="en-US" sz="2000" dirty="0"/>
              <a:t>Clock</a:t>
            </a:r>
          </a:p>
          <a:p>
            <a:pPr lvl="2"/>
            <a:r>
              <a:rPr lang="en-US" sz="1600" dirty="0"/>
              <a:t>You might be required to achieve some minimum clock frequency (will be announced later)</a:t>
            </a:r>
          </a:p>
          <a:p>
            <a:r>
              <a:rPr lang="en-US" sz="2600" dirty="0"/>
              <a:t>Maximum throughput limited by bandwidth of input bus</a:t>
            </a:r>
          </a:p>
          <a:p>
            <a:pPr lvl="1"/>
            <a:r>
              <a:rPr lang="en-US" sz="2200" dirty="0"/>
              <a:t>It takes minimum of 98 cycles to load a new image</a:t>
            </a:r>
          </a:p>
          <a:p>
            <a:pPr lvl="2"/>
            <a:r>
              <a:rPr lang="en-US" sz="1600" dirty="0"/>
              <a:t>If you generate faster than that, you can increase input bus width (64 by default)</a:t>
            </a:r>
          </a:p>
          <a:p>
            <a:pPr lvl="2"/>
            <a:r>
              <a:rPr lang="en-US" sz="1600" dirty="0"/>
              <a:t>Or, you can also optimize for latency after achieving this maximum throughput for the 64-bit bus</a:t>
            </a:r>
          </a:p>
          <a:p>
            <a:pPr lvl="2"/>
            <a:r>
              <a:rPr lang="en-US" sz="1600" dirty="0"/>
              <a:t>Or, you can focus on maximizing clock frequency for the 64-bit bus</a:t>
            </a:r>
          </a:p>
          <a:p>
            <a:r>
              <a:rPr lang="en-US" sz="2600" dirty="0"/>
              <a:t>If you want to target a different use case, you can ask for permission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2A0582-C4BA-3D74-809F-B161239A0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</p:spTree>
    <p:extLst>
      <p:ext uri="{BB962C8B-B14F-4D97-AF65-F5344CB8AC3E}">
        <p14:creationId xmlns:p14="http://schemas.microsoft.com/office/powerpoint/2010/main" val="331979243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DFB379-8CFF-3B9D-7895-4B18B979DC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Multi-layer perceptron (MLP)</a:t>
            </a:r>
          </a:p>
          <a:p>
            <a:pPr lvl="1"/>
            <a:r>
              <a:rPr lang="en-US" dirty="0"/>
              <a:t>Form of artificial neuron net (ANN)</a:t>
            </a:r>
          </a:p>
          <a:p>
            <a:r>
              <a:rPr lang="en-US" dirty="0"/>
              <a:t>Consists of:</a:t>
            </a:r>
          </a:p>
          <a:p>
            <a:pPr lvl="1"/>
            <a:r>
              <a:rPr lang="en-US" dirty="0"/>
              <a:t>Input layer (some number of inputs)</a:t>
            </a:r>
          </a:p>
          <a:p>
            <a:pPr lvl="1"/>
            <a:r>
              <a:rPr lang="en-US" dirty="0"/>
              <a:t>One or more “hidden” layers</a:t>
            </a:r>
          </a:p>
          <a:p>
            <a:pPr lvl="2"/>
            <a:r>
              <a:rPr lang="en-US" dirty="0"/>
              <a:t>All inputs provided by previous layer to each neuron in current layer (i.e., fully connected)</a:t>
            </a:r>
          </a:p>
          <a:p>
            <a:pPr lvl="2"/>
            <a:r>
              <a:rPr lang="en-US" dirty="0"/>
              <a:t>Each neuron generates an output that is fed to the next layer</a:t>
            </a:r>
          </a:p>
          <a:p>
            <a:pPr lvl="1"/>
            <a:r>
              <a:rPr lang="en-US" dirty="0"/>
              <a:t>Output layer</a:t>
            </a:r>
          </a:p>
          <a:p>
            <a:pPr lvl="2"/>
            <a:r>
              <a:rPr lang="en-US" dirty="0"/>
              <a:t>Similar to hidden layers but modified to generate application-specific output</a:t>
            </a:r>
          </a:p>
          <a:p>
            <a:pPr lvl="2"/>
            <a:r>
              <a:rPr lang="en-US" dirty="0"/>
              <a:t>Binary classification: 1 bit</a:t>
            </a:r>
          </a:p>
          <a:p>
            <a:pPr lvl="2"/>
            <a:r>
              <a:rPr lang="en-US" dirty="0"/>
              <a:t>Multi-class classification: clog2(# of classes) bits</a:t>
            </a:r>
          </a:p>
          <a:p>
            <a:pPr lvl="2"/>
            <a:r>
              <a:rPr lang="en-US" dirty="0"/>
              <a:t>Regression: bits depend on precision of output, usually a real value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97D5A1-B193-D144-AD62-7654C8C8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412662997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9566C9-26E6-6982-A461-E5DFCB52FB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5324843"/>
            <a:ext cx="11657824" cy="869960"/>
          </a:xfrm>
        </p:spPr>
        <p:txBody>
          <a:bodyPr/>
          <a:lstStyle/>
          <a:p>
            <a:r>
              <a:rPr lang="en-US" sz="2400" dirty="0"/>
              <a:t>Input (x) and weight (w) pairs are multiplied and added together with a bias (b)</a:t>
            </a:r>
          </a:p>
          <a:p>
            <a:r>
              <a:rPr lang="en-US" sz="2400" dirty="0"/>
              <a:t>Activation function provides neuron output (y)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8591D2-40E3-7960-4B31-0A65EA92E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Neurons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00F5D8F-5781-DA1B-1C85-318530E306C4}"/>
              </a:ext>
            </a:extLst>
          </p:cNvPr>
          <p:cNvSpPr/>
          <p:nvPr/>
        </p:nvSpPr>
        <p:spPr>
          <a:xfrm>
            <a:off x="1998483" y="3026004"/>
            <a:ext cx="1131216" cy="1131216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894C40-E82B-E602-9D09-E98AA5D3456E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074656" y="1687398"/>
            <a:ext cx="1089490" cy="1504269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F0C159D-C0B7-9A29-CD3E-6A1AAA759013}"/>
              </a:ext>
            </a:extLst>
          </p:cNvPr>
          <p:cNvCxnSpPr>
            <a:cxnSpLocks/>
          </p:cNvCxnSpPr>
          <p:nvPr/>
        </p:nvCxnSpPr>
        <p:spPr>
          <a:xfrm>
            <a:off x="1957560" y="1687398"/>
            <a:ext cx="443681" cy="1370202"/>
          </a:xfrm>
          <a:prstGeom prst="straightConnector1">
            <a:avLst/>
          </a:prstGeom>
          <a:noFill/>
          <a:ln w="22225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6D760B-96EE-E6D2-5F91-61F9F0722B36}"/>
              </a:ext>
            </a:extLst>
          </p:cNvPr>
          <p:cNvCxnSpPr>
            <a:cxnSpLocks/>
          </p:cNvCxnSpPr>
          <p:nvPr/>
        </p:nvCxnSpPr>
        <p:spPr>
          <a:xfrm flipH="1">
            <a:off x="2738706" y="1694121"/>
            <a:ext cx="223869" cy="1370202"/>
          </a:xfrm>
          <a:prstGeom prst="straightConnector1">
            <a:avLst/>
          </a:prstGeom>
          <a:noFill/>
          <a:ln w="571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FC9CCF8-C05F-5520-F852-284728C246E2}"/>
              </a:ext>
            </a:extLst>
          </p:cNvPr>
          <p:cNvCxnSpPr>
            <a:cxnSpLocks/>
            <a:endCxn id="4" idx="7"/>
          </p:cNvCxnSpPr>
          <p:nvPr/>
        </p:nvCxnSpPr>
        <p:spPr>
          <a:xfrm flipH="1">
            <a:off x="2964036" y="1694121"/>
            <a:ext cx="740223" cy="1497546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424E9A-D613-370D-32AF-E21631E84090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2564091" y="4157220"/>
            <a:ext cx="0" cy="6315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5BE052E-D9A7-F286-B581-9068B0CAE4B2}"/>
              </a:ext>
            </a:extLst>
          </p:cNvPr>
          <p:cNvSpPr txBox="1"/>
          <p:nvPr/>
        </p:nvSpPr>
        <p:spPr>
          <a:xfrm>
            <a:off x="1706337" y="1398226"/>
            <a:ext cx="58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x</a:t>
            </a:r>
            <a:r>
              <a:rPr lang="en-US" sz="1600" i="1" baseline="-25000" dirty="0"/>
              <a:t>1</a:t>
            </a:r>
            <a:endParaRPr lang="en-US" sz="1200" i="1" baseline="-25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B2B9AA-43D8-3118-AAC7-BB7DC38299F3}"/>
              </a:ext>
            </a:extLst>
          </p:cNvPr>
          <p:cNvSpPr txBox="1"/>
          <p:nvPr/>
        </p:nvSpPr>
        <p:spPr>
          <a:xfrm>
            <a:off x="782510" y="1398226"/>
            <a:ext cx="58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x</a:t>
            </a:r>
            <a:r>
              <a:rPr lang="en-US" sz="1600" i="1" baseline="-25000" dirty="0"/>
              <a:t>0</a:t>
            </a:r>
            <a:endParaRPr lang="en-US" sz="1200" i="1" baseline="-25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40D5E7-087A-BB63-D309-A547A1B251D1}"/>
              </a:ext>
            </a:extLst>
          </p:cNvPr>
          <p:cNvSpPr txBox="1"/>
          <p:nvPr/>
        </p:nvSpPr>
        <p:spPr>
          <a:xfrm>
            <a:off x="3553907" y="1398226"/>
            <a:ext cx="58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x</a:t>
            </a:r>
            <a:r>
              <a:rPr lang="en-US" sz="1600" i="1" baseline="-25000" dirty="0"/>
              <a:t>3</a:t>
            </a:r>
            <a:endParaRPr lang="en-US" sz="1200" i="1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494287-6DEB-57AF-6C64-24C8A93D1D31}"/>
              </a:ext>
            </a:extLst>
          </p:cNvPr>
          <p:cNvSpPr txBox="1"/>
          <p:nvPr/>
        </p:nvSpPr>
        <p:spPr>
          <a:xfrm>
            <a:off x="2630080" y="1398226"/>
            <a:ext cx="58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x</a:t>
            </a:r>
            <a:r>
              <a:rPr lang="en-US" sz="1600" i="1" baseline="-25000" dirty="0"/>
              <a:t>2</a:t>
            </a:r>
            <a:endParaRPr lang="en-US" sz="1200" i="1" baseline="-25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AD8059-F3B9-1AF3-080D-CE7C09F68167}"/>
              </a:ext>
            </a:extLst>
          </p:cNvPr>
          <p:cNvSpPr txBox="1"/>
          <p:nvPr/>
        </p:nvSpPr>
        <p:spPr>
          <a:xfrm>
            <a:off x="2109826" y="2267685"/>
            <a:ext cx="58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w</a:t>
            </a:r>
            <a:r>
              <a:rPr lang="en-US" sz="1600" i="1" baseline="-25000" dirty="0"/>
              <a:t>1</a:t>
            </a:r>
            <a:endParaRPr lang="en-US" sz="1200" i="1" baseline="-25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2688D4-5271-4130-A90B-86DFD6E3E29B}"/>
              </a:ext>
            </a:extLst>
          </p:cNvPr>
          <p:cNvSpPr txBox="1"/>
          <p:nvPr/>
        </p:nvSpPr>
        <p:spPr>
          <a:xfrm>
            <a:off x="1510466" y="2267685"/>
            <a:ext cx="58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w</a:t>
            </a:r>
            <a:r>
              <a:rPr lang="en-US" sz="1600" i="1" baseline="-25000" dirty="0"/>
              <a:t>0</a:t>
            </a:r>
            <a:endParaRPr lang="en-US" sz="1200" i="1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85D799-FECD-6CD5-234A-DA67758746F5}"/>
              </a:ext>
            </a:extLst>
          </p:cNvPr>
          <p:cNvSpPr txBox="1"/>
          <p:nvPr/>
        </p:nvSpPr>
        <p:spPr>
          <a:xfrm>
            <a:off x="3334147" y="2267685"/>
            <a:ext cx="58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w</a:t>
            </a:r>
            <a:r>
              <a:rPr lang="en-US" sz="1600" i="1" baseline="-25000" dirty="0"/>
              <a:t>3</a:t>
            </a:r>
            <a:endParaRPr lang="en-US" sz="1200" i="1" baseline="-25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7159FB-93B9-048E-5001-657DF56FFD74}"/>
              </a:ext>
            </a:extLst>
          </p:cNvPr>
          <p:cNvSpPr txBox="1"/>
          <p:nvPr/>
        </p:nvSpPr>
        <p:spPr>
          <a:xfrm>
            <a:off x="2734787" y="2267685"/>
            <a:ext cx="58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w</a:t>
            </a:r>
            <a:r>
              <a:rPr lang="en-US" sz="1600" i="1" baseline="-25000" dirty="0"/>
              <a:t>2</a:t>
            </a:r>
            <a:endParaRPr lang="en-US" sz="1200" i="1" baseline="-25000" dirty="0"/>
          </a:p>
        </p:txBody>
      </p: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0A78664C-C747-3BBD-4832-9D5F6BE873EE}"/>
              </a:ext>
            </a:extLst>
          </p:cNvPr>
          <p:cNvSpPr/>
          <p:nvPr/>
        </p:nvSpPr>
        <p:spPr>
          <a:xfrm>
            <a:off x="5223306" y="2869499"/>
            <a:ext cx="1128828" cy="873199"/>
          </a:xfrm>
          <a:prstGeom prst="rightArrow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584200" rtl="0" latinLnBrk="1" hangingPunct="0"/>
            <a:endParaRPr lang="en-US"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A85B108-3789-11E9-A064-A87FB407CF95}"/>
              </a:ext>
            </a:extLst>
          </p:cNvPr>
          <p:cNvGrpSpPr/>
          <p:nvPr/>
        </p:nvGrpSpPr>
        <p:grpSpPr>
          <a:xfrm>
            <a:off x="7350006" y="1328450"/>
            <a:ext cx="3885044" cy="3726433"/>
            <a:chOff x="7267456" y="1003384"/>
            <a:chExt cx="4509228" cy="4325134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EC3530E-B5C6-5627-D031-513B0B45F8BF}"/>
                </a:ext>
              </a:extLst>
            </p:cNvPr>
            <p:cNvSpPr/>
            <p:nvPr/>
          </p:nvSpPr>
          <p:spPr>
            <a:xfrm>
              <a:off x="8054475" y="2365406"/>
              <a:ext cx="590269" cy="526939"/>
            </a:xfrm>
            <a:prstGeom prst="ellipse">
              <a:avLst/>
            </a:prstGeom>
            <a:solidFill>
              <a:schemeClr val="bg2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0" rIns="50800" bIns="0" numCol="1" spcCol="38100" rtlCol="0" anchor="ctr" anchorCtr="1">
              <a:no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200" dirty="0"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rPr>
                <a:t>+</a:t>
              </a:r>
              <a:endPara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4A16D12-1807-CCB1-3ABE-0BEF03EE5E92}"/>
                </a:ext>
              </a:extLst>
            </p:cNvPr>
            <p:cNvSpPr/>
            <p:nvPr/>
          </p:nvSpPr>
          <p:spPr>
            <a:xfrm>
              <a:off x="9855528" y="2365406"/>
              <a:ext cx="590269" cy="526939"/>
            </a:xfrm>
            <a:prstGeom prst="ellipse">
              <a:avLst/>
            </a:prstGeom>
            <a:solidFill>
              <a:schemeClr val="bg2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0" rIns="50800" bIns="0" numCol="1" spcCol="38100" rtlCol="0" anchor="ctr" anchorCtr="1">
              <a:noAutofit/>
            </a:bodyPr>
            <a:lstStyle/>
            <a:p>
              <a:pPr algn="ctr" defTabSz="584200" rtl="0" latinLnBrk="1" hangingPunct="0"/>
              <a:r>
                <a:rPr lang="en-US" sz="3200" dirty="0"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sym typeface="Gill Sans"/>
                </a:rPr>
                <a:t>+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40BD83C-7E40-9833-C377-CBC1F4B2E703}"/>
                </a:ext>
              </a:extLst>
            </p:cNvPr>
            <p:cNvSpPr/>
            <p:nvPr/>
          </p:nvSpPr>
          <p:spPr>
            <a:xfrm>
              <a:off x="8970498" y="3096399"/>
              <a:ext cx="590269" cy="526939"/>
            </a:xfrm>
            <a:prstGeom prst="ellipse">
              <a:avLst/>
            </a:prstGeom>
            <a:solidFill>
              <a:schemeClr val="bg2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0" rIns="50800" bIns="0" numCol="1" spcCol="38100" rtlCol="0" anchor="ctr" anchorCtr="1">
              <a:noAutofit/>
            </a:bodyPr>
            <a:lstStyle/>
            <a:p>
              <a:pPr algn="ctr" defTabSz="584200" rtl="0" latinLnBrk="1" hangingPunct="0"/>
              <a:r>
                <a:rPr lang="en-US" sz="3200" dirty="0"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sym typeface="Gill Sans"/>
                </a:rPr>
                <a:t>+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70D9A93-E327-3515-D63C-4DE72AF52FAA}"/>
                </a:ext>
              </a:extLst>
            </p:cNvPr>
            <p:cNvSpPr/>
            <p:nvPr/>
          </p:nvSpPr>
          <p:spPr>
            <a:xfrm>
              <a:off x="9062303" y="4588938"/>
              <a:ext cx="1600763" cy="454569"/>
            </a:xfrm>
            <a:prstGeom prst="rect">
              <a:avLst/>
            </a:prstGeom>
            <a:solidFill>
              <a:schemeClr val="bg2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0" rIns="50800" bIns="0" numCol="1" spcCol="38100" rtlCol="0" anchor="ctr" anchorCtr="1">
              <a:noAutofit/>
            </a:bodyPr>
            <a:lstStyle/>
            <a:p>
              <a:pPr algn="ctr" defTabSz="584200" rtl="0" latinLnBrk="1" hangingPunct="0"/>
              <a:r>
                <a:rPr lang="en-US" sz="2000" dirty="0"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sym typeface="Gill Sans"/>
                </a:rPr>
                <a:t>Activation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10566E5-2E5D-50E4-BE95-E3556E17D05F}"/>
                </a:ext>
              </a:extLst>
            </p:cNvPr>
            <p:cNvGrpSpPr/>
            <p:nvPr/>
          </p:nvGrpSpPr>
          <p:grpSpPr>
            <a:xfrm>
              <a:off x="7267456" y="1003384"/>
              <a:ext cx="1170394" cy="1115771"/>
              <a:chOff x="6825568" y="1424484"/>
              <a:chExt cx="1170394" cy="111577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D627F79-13ED-0416-10BB-A0BE89CED91E}"/>
                  </a:ext>
                </a:extLst>
              </p:cNvPr>
              <p:cNvSpPr/>
              <p:nvPr/>
            </p:nvSpPr>
            <p:spPr>
              <a:xfrm>
                <a:off x="7117714" y="2013316"/>
                <a:ext cx="590269" cy="526939"/>
              </a:xfrm>
              <a:prstGeom prst="ellipse">
                <a:avLst/>
              </a:prstGeom>
              <a:solidFill>
                <a:schemeClr val="bg2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182880" rIns="50800" bIns="0" numCol="1" spcCol="38100" rtlCol="0" anchor="ctr" anchorCtr="1">
                <a:noAutofit/>
              </a:bodyPr>
              <a:lstStyle/>
              <a:p>
                <a:pPr marL="0" marR="0" indent="0" algn="ctr" defTabSz="5842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rPr>
                  <a:t>*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EF6D2F6C-6EEA-B4DE-BF78-35F46B365BDF}"/>
                  </a:ext>
                </a:extLst>
              </p:cNvPr>
              <p:cNvCxnSpPr>
                <a:cxnSpLocks/>
                <a:endCxn id="34" idx="1"/>
              </p:cNvCxnSpPr>
              <p:nvPr/>
            </p:nvCxnSpPr>
            <p:spPr>
              <a:xfrm>
                <a:off x="7117714" y="1721736"/>
                <a:ext cx="86443" cy="368748"/>
              </a:xfrm>
              <a:prstGeom prst="straightConnector1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135240D3-8DD3-6CD9-7358-A9A1B705C611}"/>
                  </a:ext>
                </a:extLst>
              </p:cNvPr>
              <p:cNvCxnSpPr>
                <a:cxnSpLocks/>
                <a:endCxn id="34" idx="7"/>
              </p:cNvCxnSpPr>
              <p:nvPr/>
            </p:nvCxnSpPr>
            <p:spPr>
              <a:xfrm flipH="1">
                <a:off x="7621540" y="1744083"/>
                <a:ext cx="86443" cy="346401"/>
              </a:xfrm>
              <a:prstGeom prst="straightConnector1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D2CE01B-6A85-9018-AD8C-549FC02B0DBD}"/>
                  </a:ext>
                </a:extLst>
              </p:cNvPr>
              <p:cNvSpPr txBox="1"/>
              <p:nvPr/>
            </p:nvSpPr>
            <p:spPr>
              <a:xfrm>
                <a:off x="6825568" y="1424484"/>
                <a:ext cx="58429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i="1" dirty="0"/>
                  <a:t>x</a:t>
                </a:r>
                <a:r>
                  <a:rPr lang="en-US" sz="1600" i="1" baseline="-25000" dirty="0"/>
                  <a:t>0</a:t>
                </a:r>
                <a:endParaRPr lang="en-US" sz="1200" i="1" baseline="-25000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A62AC9C-A913-38BB-1607-490650923839}"/>
                  </a:ext>
                </a:extLst>
              </p:cNvPr>
              <p:cNvSpPr txBox="1"/>
              <p:nvPr/>
            </p:nvSpPr>
            <p:spPr>
              <a:xfrm>
                <a:off x="7411670" y="1424484"/>
                <a:ext cx="58429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i="1" dirty="0"/>
                  <a:t>w</a:t>
                </a:r>
                <a:r>
                  <a:rPr lang="en-US" sz="1600" i="1" baseline="-25000" dirty="0"/>
                  <a:t>0</a:t>
                </a:r>
                <a:endParaRPr lang="en-US" sz="1200" i="1" baseline="-25000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CAB5155-A048-CBBC-757A-6A90413B9ADB}"/>
                </a:ext>
              </a:extLst>
            </p:cNvPr>
            <p:cNvGrpSpPr/>
            <p:nvPr/>
          </p:nvGrpSpPr>
          <p:grpSpPr>
            <a:xfrm>
              <a:off x="8200707" y="1003384"/>
              <a:ext cx="1170394" cy="1115771"/>
              <a:chOff x="6825568" y="1424484"/>
              <a:chExt cx="1170394" cy="1115771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B75C3160-8DC6-0990-8BF3-FED039892771}"/>
                  </a:ext>
                </a:extLst>
              </p:cNvPr>
              <p:cNvSpPr/>
              <p:nvPr/>
            </p:nvSpPr>
            <p:spPr>
              <a:xfrm>
                <a:off x="7117714" y="2013316"/>
                <a:ext cx="590269" cy="526939"/>
              </a:xfrm>
              <a:prstGeom prst="ellipse">
                <a:avLst/>
              </a:prstGeom>
              <a:solidFill>
                <a:schemeClr val="bg2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182880" rIns="50800" bIns="0" numCol="1" spcCol="38100" rtlCol="0" anchor="ctr" anchorCtr="1">
                <a:noAutofit/>
              </a:bodyPr>
              <a:lstStyle/>
              <a:p>
                <a:pPr marL="0" marR="0" indent="0" algn="ctr" defTabSz="5842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rPr>
                  <a:t>*</a:t>
                </a:r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AC318021-35AE-A2F9-9B0A-6744D2729860}"/>
                  </a:ext>
                </a:extLst>
              </p:cNvPr>
              <p:cNvCxnSpPr>
                <a:cxnSpLocks/>
                <a:endCxn id="55" idx="1"/>
              </p:cNvCxnSpPr>
              <p:nvPr/>
            </p:nvCxnSpPr>
            <p:spPr>
              <a:xfrm>
                <a:off x="7117714" y="1721736"/>
                <a:ext cx="86443" cy="368748"/>
              </a:xfrm>
              <a:prstGeom prst="straightConnector1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4EBCE640-67B2-EAF6-CF3E-9EB5F220D482}"/>
                  </a:ext>
                </a:extLst>
              </p:cNvPr>
              <p:cNvCxnSpPr>
                <a:cxnSpLocks/>
                <a:endCxn id="55" idx="7"/>
              </p:cNvCxnSpPr>
              <p:nvPr/>
            </p:nvCxnSpPr>
            <p:spPr>
              <a:xfrm flipH="1">
                <a:off x="7621540" y="1744083"/>
                <a:ext cx="86443" cy="346401"/>
              </a:xfrm>
              <a:prstGeom prst="straightConnector1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F242E5B-F0A8-0C2D-5872-C16ACE8DC899}"/>
                  </a:ext>
                </a:extLst>
              </p:cNvPr>
              <p:cNvSpPr txBox="1"/>
              <p:nvPr/>
            </p:nvSpPr>
            <p:spPr>
              <a:xfrm>
                <a:off x="6825568" y="1424484"/>
                <a:ext cx="58429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i="1" dirty="0"/>
                  <a:t>x</a:t>
                </a:r>
                <a:r>
                  <a:rPr lang="en-US" sz="1600" i="1" baseline="-25000" dirty="0"/>
                  <a:t>1</a:t>
                </a:r>
                <a:endParaRPr lang="en-US" sz="1200" i="1" baseline="-25000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C9E0B54-980C-C6E6-6DF3-6ED6661D0A47}"/>
                  </a:ext>
                </a:extLst>
              </p:cNvPr>
              <p:cNvSpPr txBox="1"/>
              <p:nvPr/>
            </p:nvSpPr>
            <p:spPr>
              <a:xfrm>
                <a:off x="7411670" y="1424484"/>
                <a:ext cx="58429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i="1" dirty="0"/>
                  <a:t>w</a:t>
                </a:r>
                <a:r>
                  <a:rPr lang="en-US" sz="1600" i="1" baseline="-25000" dirty="0"/>
                  <a:t>1</a:t>
                </a:r>
                <a:endParaRPr lang="en-US" sz="1200" i="1" baseline="-25000" dirty="0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B6EA4F2-8E9F-F86D-F19E-FF27175467C4}"/>
                </a:ext>
              </a:extLst>
            </p:cNvPr>
            <p:cNvGrpSpPr/>
            <p:nvPr/>
          </p:nvGrpSpPr>
          <p:grpSpPr>
            <a:xfrm>
              <a:off x="9133958" y="1003384"/>
              <a:ext cx="1170394" cy="1115771"/>
              <a:chOff x="6825568" y="1424484"/>
              <a:chExt cx="1170394" cy="1115771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941B3983-B990-0435-8A89-FB77ED6C27BF}"/>
                  </a:ext>
                </a:extLst>
              </p:cNvPr>
              <p:cNvSpPr/>
              <p:nvPr/>
            </p:nvSpPr>
            <p:spPr>
              <a:xfrm>
                <a:off x="7117714" y="2013316"/>
                <a:ext cx="590269" cy="526939"/>
              </a:xfrm>
              <a:prstGeom prst="ellipse">
                <a:avLst/>
              </a:prstGeom>
              <a:solidFill>
                <a:schemeClr val="bg2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182880" rIns="50800" bIns="0" numCol="1" spcCol="38100" rtlCol="0" anchor="ctr" anchorCtr="1">
                <a:noAutofit/>
              </a:bodyPr>
              <a:lstStyle/>
              <a:p>
                <a:pPr marL="0" marR="0" indent="0" algn="ctr" defTabSz="5842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rPr>
                  <a:t>*</a:t>
                </a:r>
              </a:p>
            </p:txBody>
          </p: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EFDFE966-1B1F-0023-AE67-FB930449784A}"/>
                  </a:ext>
                </a:extLst>
              </p:cNvPr>
              <p:cNvCxnSpPr>
                <a:cxnSpLocks/>
                <a:endCxn id="61" idx="1"/>
              </p:cNvCxnSpPr>
              <p:nvPr/>
            </p:nvCxnSpPr>
            <p:spPr>
              <a:xfrm>
                <a:off x="7117714" y="1721736"/>
                <a:ext cx="86443" cy="368748"/>
              </a:xfrm>
              <a:prstGeom prst="straightConnector1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E9996367-D412-D1E2-821F-F406CB114555}"/>
                  </a:ext>
                </a:extLst>
              </p:cNvPr>
              <p:cNvCxnSpPr>
                <a:cxnSpLocks/>
                <a:endCxn id="61" idx="7"/>
              </p:cNvCxnSpPr>
              <p:nvPr/>
            </p:nvCxnSpPr>
            <p:spPr>
              <a:xfrm flipH="1">
                <a:off x="7621540" y="1744083"/>
                <a:ext cx="86443" cy="346401"/>
              </a:xfrm>
              <a:prstGeom prst="straightConnector1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64DE2E4-DFA7-AE67-6788-4028320541BE}"/>
                  </a:ext>
                </a:extLst>
              </p:cNvPr>
              <p:cNvSpPr txBox="1"/>
              <p:nvPr/>
            </p:nvSpPr>
            <p:spPr>
              <a:xfrm>
                <a:off x="6825568" y="1424484"/>
                <a:ext cx="58429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i="1" dirty="0"/>
                  <a:t>x</a:t>
                </a:r>
                <a:r>
                  <a:rPr lang="en-US" sz="1600" i="1" baseline="-25000" dirty="0"/>
                  <a:t>2</a:t>
                </a:r>
                <a:endParaRPr lang="en-US" sz="1200" i="1" baseline="-250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B52457E-3757-37D1-C3FE-85E2DB9E24B9}"/>
                  </a:ext>
                </a:extLst>
              </p:cNvPr>
              <p:cNvSpPr txBox="1"/>
              <p:nvPr/>
            </p:nvSpPr>
            <p:spPr>
              <a:xfrm>
                <a:off x="7411670" y="1424484"/>
                <a:ext cx="58429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i="1" dirty="0"/>
                  <a:t>w</a:t>
                </a:r>
                <a:r>
                  <a:rPr lang="en-US" sz="1600" i="1" baseline="-25000" dirty="0"/>
                  <a:t>2</a:t>
                </a:r>
                <a:endParaRPr lang="en-US" sz="1200" i="1" baseline="-25000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2610429-495B-BDEA-2C89-F9349A681A96}"/>
                </a:ext>
              </a:extLst>
            </p:cNvPr>
            <p:cNvGrpSpPr/>
            <p:nvPr/>
          </p:nvGrpSpPr>
          <p:grpSpPr>
            <a:xfrm>
              <a:off x="10067208" y="1003384"/>
              <a:ext cx="1170394" cy="1115771"/>
              <a:chOff x="6825568" y="1424484"/>
              <a:chExt cx="1170394" cy="1115771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D6B8061-07C1-D2DD-B880-D3ADCDE74BCD}"/>
                  </a:ext>
                </a:extLst>
              </p:cNvPr>
              <p:cNvSpPr/>
              <p:nvPr/>
            </p:nvSpPr>
            <p:spPr>
              <a:xfrm>
                <a:off x="7117714" y="2013316"/>
                <a:ext cx="590269" cy="526939"/>
              </a:xfrm>
              <a:prstGeom prst="ellipse">
                <a:avLst/>
              </a:prstGeom>
              <a:solidFill>
                <a:schemeClr val="bg2"/>
              </a:solidFill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182880" rIns="50800" bIns="0" numCol="1" spcCol="38100" rtlCol="0" anchor="ctr" anchorCtr="1">
                <a:noAutofit/>
              </a:bodyPr>
              <a:lstStyle/>
              <a:p>
                <a:pPr marL="0" marR="0" indent="0" algn="ctr" defTabSz="5842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0" b="0" i="0" u="none" strike="noStrike" cap="none" spc="0" normalizeH="0" baseline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FillTx/>
                    <a:latin typeface="Gill Sans"/>
                    <a:ea typeface="Gill Sans"/>
                    <a:cs typeface="Gill Sans"/>
                    <a:sym typeface="Gill Sans"/>
                  </a:rPr>
                  <a:t>*</a:t>
                </a:r>
              </a:p>
            </p:txBody>
          </p: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FACA7ED2-5B6F-87DC-9F65-420729AEE0E0}"/>
                  </a:ext>
                </a:extLst>
              </p:cNvPr>
              <p:cNvCxnSpPr>
                <a:cxnSpLocks/>
                <a:endCxn id="67" idx="1"/>
              </p:cNvCxnSpPr>
              <p:nvPr/>
            </p:nvCxnSpPr>
            <p:spPr>
              <a:xfrm>
                <a:off x="7117714" y="1721736"/>
                <a:ext cx="86443" cy="368748"/>
              </a:xfrm>
              <a:prstGeom prst="straightConnector1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12B95157-8203-352C-0275-48CBE6B92824}"/>
                  </a:ext>
                </a:extLst>
              </p:cNvPr>
              <p:cNvCxnSpPr>
                <a:cxnSpLocks/>
                <a:endCxn id="67" idx="7"/>
              </p:cNvCxnSpPr>
              <p:nvPr/>
            </p:nvCxnSpPr>
            <p:spPr>
              <a:xfrm flipH="1">
                <a:off x="7621540" y="1744083"/>
                <a:ext cx="86443" cy="346401"/>
              </a:xfrm>
              <a:prstGeom prst="straightConnector1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F61B6A2-E7C6-5217-8968-E9F469938906}"/>
                  </a:ext>
                </a:extLst>
              </p:cNvPr>
              <p:cNvSpPr txBox="1"/>
              <p:nvPr/>
            </p:nvSpPr>
            <p:spPr>
              <a:xfrm>
                <a:off x="6825568" y="1424484"/>
                <a:ext cx="58429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i="1" dirty="0"/>
                  <a:t>x</a:t>
                </a:r>
                <a:r>
                  <a:rPr lang="en-US" sz="1600" i="1" baseline="-25000" dirty="0"/>
                  <a:t>3</a:t>
                </a:r>
                <a:endParaRPr lang="en-US" sz="1200" i="1" baseline="-25000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E8A2BA2-4F5A-BA08-EE40-FD6E83A7AB21}"/>
                  </a:ext>
                </a:extLst>
              </p:cNvPr>
              <p:cNvSpPr txBox="1"/>
              <p:nvPr/>
            </p:nvSpPr>
            <p:spPr>
              <a:xfrm>
                <a:off x="7411670" y="1424484"/>
                <a:ext cx="58429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i="1" dirty="0"/>
                  <a:t>w</a:t>
                </a:r>
                <a:r>
                  <a:rPr lang="en-US" sz="1600" i="1" baseline="-25000" dirty="0"/>
                  <a:t>3</a:t>
                </a:r>
                <a:endParaRPr lang="en-US" sz="1200" i="1" baseline="-25000" dirty="0"/>
              </a:p>
            </p:txBody>
          </p:sp>
        </p:grp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3ADEE505-39B0-F30F-DA26-77A1528CA518}"/>
                </a:ext>
              </a:extLst>
            </p:cNvPr>
            <p:cNvCxnSpPr>
              <a:cxnSpLocks/>
              <a:stCxn id="34" idx="4"/>
              <a:endCxn id="38" idx="1"/>
            </p:cNvCxnSpPr>
            <p:nvPr/>
          </p:nvCxnSpPr>
          <p:spPr>
            <a:xfrm>
              <a:off x="7854737" y="2119155"/>
              <a:ext cx="286181" cy="323419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9394C20-C8FA-76E2-DED9-BB91AC3C5141}"/>
                </a:ext>
              </a:extLst>
            </p:cNvPr>
            <p:cNvCxnSpPr>
              <a:cxnSpLocks/>
              <a:stCxn id="55" idx="4"/>
              <a:endCxn id="38" idx="7"/>
            </p:cNvCxnSpPr>
            <p:nvPr/>
          </p:nvCxnSpPr>
          <p:spPr>
            <a:xfrm flipH="1">
              <a:off x="8558301" y="2119155"/>
              <a:ext cx="229687" cy="323419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95D208F8-C147-2BDE-4950-2F473B808659}"/>
                </a:ext>
              </a:extLst>
            </p:cNvPr>
            <p:cNvCxnSpPr>
              <a:cxnSpLocks/>
              <a:stCxn id="61" idx="4"/>
              <a:endCxn id="40" idx="1"/>
            </p:cNvCxnSpPr>
            <p:nvPr/>
          </p:nvCxnSpPr>
          <p:spPr>
            <a:xfrm>
              <a:off x="9721239" y="2119155"/>
              <a:ext cx="220732" cy="323419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FF76C4E5-224B-6BF2-9038-DFA6C1E2EB01}"/>
                </a:ext>
              </a:extLst>
            </p:cNvPr>
            <p:cNvCxnSpPr>
              <a:cxnSpLocks/>
              <a:stCxn id="67" idx="4"/>
              <a:endCxn id="40" idx="7"/>
            </p:cNvCxnSpPr>
            <p:nvPr/>
          </p:nvCxnSpPr>
          <p:spPr>
            <a:xfrm flipH="1">
              <a:off x="10359354" y="2119155"/>
              <a:ext cx="295135" cy="323419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73B314BF-83C3-0B3C-0996-40F1595B7222}"/>
                </a:ext>
              </a:extLst>
            </p:cNvPr>
            <p:cNvCxnSpPr>
              <a:cxnSpLocks/>
              <a:stCxn id="38" idx="4"/>
              <a:endCxn id="41" idx="1"/>
            </p:cNvCxnSpPr>
            <p:nvPr/>
          </p:nvCxnSpPr>
          <p:spPr>
            <a:xfrm>
              <a:off x="8349610" y="2892345"/>
              <a:ext cx="707331" cy="281222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D8DB470C-B75E-7A23-8D85-0E1CD42C6AE2}"/>
                </a:ext>
              </a:extLst>
            </p:cNvPr>
            <p:cNvCxnSpPr>
              <a:cxnSpLocks/>
              <a:stCxn id="40" idx="4"/>
              <a:endCxn id="41" idx="7"/>
            </p:cNvCxnSpPr>
            <p:nvPr/>
          </p:nvCxnSpPr>
          <p:spPr>
            <a:xfrm flipH="1">
              <a:off x="9474324" y="2892345"/>
              <a:ext cx="676339" cy="281222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D5BA18BA-892F-A55B-5331-8FEC13D2983F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9861491" y="4299129"/>
              <a:ext cx="1194" cy="289809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5F760728-41A8-5B6B-3FDD-5D412C51CE78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 flipH="1">
              <a:off x="9861490" y="5043507"/>
              <a:ext cx="1195" cy="285011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3E782DB-855F-378A-4F1D-D410992A2686}"/>
                </a:ext>
              </a:extLst>
            </p:cNvPr>
            <p:cNvSpPr txBox="1"/>
            <p:nvPr/>
          </p:nvSpPr>
          <p:spPr>
            <a:xfrm>
              <a:off x="9738028" y="5079164"/>
              <a:ext cx="58429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i="1" dirty="0"/>
                <a:t>y</a:t>
              </a:r>
              <a:endParaRPr lang="en-US" sz="1200" i="1" baseline="-25000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E584E21F-7C41-B360-3B1C-B3E2FEC056D5}"/>
                </a:ext>
              </a:extLst>
            </p:cNvPr>
            <p:cNvSpPr/>
            <p:nvPr/>
          </p:nvSpPr>
          <p:spPr>
            <a:xfrm>
              <a:off x="9574570" y="3784890"/>
              <a:ext cx="590269" cy="526939"/>
            </a:xfrm>
            <a:prstGeom prst="ellipse">
              <a:avLst/>
            </a:prstGeom>
            <a:solidFill>
              <a:schemeClr val="bg2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0" rIns="50800" bIns="0" numCol="1" spcCol="38100" rtlCol="0" anchor="ctr" anchorCtr="1">
              <a:noAutofit/>
            </a:bodyPr>
            <a:lstStyle/>
            <a:p>
              <a:pPr algn="ctr" defTabSz="584200" rtl="0" latinLnBrk="1" hangingPunct="0"/>
              <a:r>
                <a:rPr lang="en-US" sz="3200" dirty="0"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sym typeface="Gill Sans"/>
                </a:rPr>
                <a:t>+</a:t>
              </a: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23DD370F-FA19-5C57-0FD7-1591F61FEA5F}"/>
                </a:ext>
              </a:extLst>
            </p:cNvPr>
            <p:cNvCxnSpPr>
              <a:cxnSpLocks/>
              <a:stCxn id="41" idx="4"/>
              <a:endCxn id="100" idx="1"/>
            </p:cNvCxnSpPr>
            <p:nvPr/>
          </p:nvCxnSpPr>
          <p:spPr>
            <a:xfrm>
              <a:off x="9265633" y="3623338"/>
              <a:ext cx="395380" cy="238720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06FD9011-0D6A-E565-D506-027989C0ADB4}"/>
                </a:ext>
              </a:extLst>
            </p:cNvPr>
            <p:cNvCxnSpPr>
              <a:cxnSpLocks/>
              <a:endCxn id="100" idx="7"/>
            </p:cNvCxnSpPr>
            <p:nvPr/>
          </p:nvCxnSpPr>
          <p:spPr>
            <a:xfrm flipH="1">
              <a:off x="10078396" y="1370177"/>
              <a:ext cx="1406142" cy="2491881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20A25DB-B6E9-DEA5-71F3-B0153A1541C4}"/>
                </a:ext>
              </a:extLst>
            </p:cNvPr>
            <p:cNvSpPr txBox="1"/>
            <p:nvPr/>
          </p:nvSpPr>
          <p:spPr>
            <a:xfrm>
              <a:off x="11192392" y="1031344"/>
              <a:ext cx="58429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i="1" dirty="0"/>
                <a:t>b</a:t>
              </a:r>
              <a:endParaRPr lang="en-US" sz="1200" i="1" baseline="-25000" dirty="0"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B0BE74B9-80B7-2FAB-72A6-7045387B1528}"/>
              </a:ext>
            </a:extLst>
          </p:cNvPr>
          <p:cNvSpPr txBox="1"/>
          <p:nvPr/>
        </p:nvSpPr>
        <p:spPr>
          <a:xfrm>
            <a:off x="2475027" y="4342717"/>
            <a:ext cx="5842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y</a:t>
            </a:r>
            <a:endParaRPr lang="en-US" sz="1200" i="1" baseline="-25000" dirty="0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F22A57F-C417-BE61-79F6-B2A4C0156BD0}"/>
              </a:ext>
            </a:extLst>
          </p:cNvPr>
          <p:cNvCxnSpPr>
            <a:cxnSpLocks/>
            <a:endCxn id="4" idx="6"/>
          </p:cNvCxnSpPr>
          <p:nvPr/>
        </p:nvCxnSpPr>
        <p:spPr>
          <a:xfrm flipH="1">
            <a:off x="3129699" y="3591612"/>
            <a:ext cx="359607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0142D535-E931-4B3D-A5A6-14C9D0075A13}"/>
              </a:ext>
            </a:extLst>
          </p:cNvPr>
          <p:cNvSpPr txBox="1"/>
          <p:nvPr/>
        </p:nvSpPr>
        <p:spPr>
          <a:xfrm>
            <a:off x="3140586" y="3338692"/>
            <a:ext cx="503412" cy="2121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b</a:t>
            </a:r>
            <a:endParaRPr lang="en-US" sz="1200" i="1" baseline="-25000" dirty="0"/>
          </a:p>
        </p:txBody>
      </p:sp>
    </p:spTree>
    <p:extLst>
      <p:ext uri="{BB962C8B-B14F-4D97-AF65-F5344CB8AC3E}">
        <p14:creationId xmlns:p14="http://schemas.microsoft.com/office/powerpoint/2010/main" val="156481339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FC1AD-59D0-7475-4A59-4A5E115D9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9850FB-BDF9-7C1C-CA9D-CE857C4006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116013"/>
            <a:ext cx="11657824" cy="5078791"/>
          </a:xfrm>
        </p:spPr>
        <p:txBody>
          <a:bodyPr/>
          <a:lstStyle/>
          <a:p>
            <a:r>
              <a:rPr lang="en-US" dirty="0"/>
              <a:t>MLP “topology” defined by number of inputs, number of layers, and number of neurons in each layer</a:t>
            </a:r>
          </a:p>
          <a:p>
            <a:pPr lvl="1"/>
            <a:r>
              <a:rPr lang="en-US" dirty="0"/>
              <a:t>Sometimes input layer isn’t shown or included in number of layers</a:t>
            </a:r>
          </a:p>
          <a:p>
            <a:pPr lvl="1"/>
            <a:r>
              <a:rPr lang="en-US" dirty="0"/>
              <a:t>We will use the following notation: 2 </a:t>
            </a:r>
            <a:r>
              <a:rPr lang="en-US" baseline="20000" dirty="0"/>
              <a:t>→</a:t>
            </a:r>
            <a:r>
              <a:rPr lang="en-US" dirty="0"/>
              <a:t> 4 </a:t>
            </a:r>
            <a:r>
              <a:rPr lang="en-US" baseline="20000" dirty="0"/>
              <a:t>→</a:t>
            </a:r>
            <a:r>
              <a:rPr lang="en-US" dirty="0"/>
              <a:t> 2</a:t>
            </a:r>
            <a:endParaRPr lang="en-US" baseline="30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24CAF9-88E3-F7C5-96AD-EB962925D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MLP Topology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4E6FFE-4CD9-7C4E-884E-82CFDF0169CC}"/>
              </a:ext>
            </a:extLst>
          </p:cNvPr>
          <p:cNvSpPr/>
          <p:nvPr/>
        </p:nvSpPr>
        <p:spPr>
          <a:xfrm>
            <a:off x="3420883" y="4171950"/>
            <a:ext cx="554217" cy="554217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AEACCE8-303C-0F8D-600C-348C83CD0935}"/>
              </a:ext>
            </a:extLst>
          </p:cNvPr>
          <p:cNvSpPr/>
          <p:nvPr/>
        </p:nvSpPr>
        <p:spPr>
          <a:xfrm>
            <a:off x="4346455" y="4171950"/>
            <a:ext cx="554217" cy="554217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C5EFC16-6133-34C0-79D6-355576F8EDF9}"/>
              </a:ext>
            </a:extLst>
          </p:cNvPr>
          <p:cNvSpPr/>
          <p:nvPr/>
        </p:nvSpPr>
        <p:spPr>
          <a:xfrm>
            <a:off x="5272027" y="4171950"/>
            <a:ext cx="554217" cy="554217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1416C8-BFC4-6917-E6E3-FCBAA89FE83E}"/>
              </a:ext>
            </a:extLst>
          </p:cNvPr>
          <p:cNvSpPr/>
          <p:nvPr/>
        </p:nvSpPr>
        <p:spPr>
          <a:xfrm>
            <a:off x="6197600" y="4171950"/>
            <a:ext cx="554217" cy="554217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470CF3-2504-FB9B-D540-F5EF3632FB99}"/>
              </a:ext>
            </a:extLst>
          </p:cNvPr>
          <p:cNvSpPr/>
          <p:nvPr/>
        </p:nvSpPr>
        <p:spPr>
          <a:xfrm>
            <a:off x="4338577" y="3215708"/>
            <a:ext cx="554217" cy="554217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5F8F0B-7934-7BD8-BD20-448ACFA88131}"/>
              </a:ext>
            </a:extLst>
          </p:cNvPr>
          <p:cNvSpPr/>
          <p:nvPr/>
        </p:nvSpPr>
        <p:spPr>
          <a:xfrm>
            <a:off x="5264149" y="3215708"/>
            <a:ext cx="554217" cy="554217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6C3572-EF80-AE34-4559-50B56FBD02DC}"/>
              </a:ext>
            </a:extLst>
          </p:cNvPr>
          <p:cNvSpPr/>
          <p:nvPr/>
        </p:nvSpPr>
        <p:spPr>
          <a:xfrm>
            <a:off x="4359155" y="5071042"/>
            <a:ext cx="554217" cy="554217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BE73D12-94A5-99E4-DBCE-36A7DA3A59A4}"/>
              </a:ext>
            </a:extLst>
          </p:cNvPr>
          <p:cNvSpPr/>
          <p:nvPr/>
        </p:nvSpPr>
        <p:spPr>
          <a:xfrm>
            <a:off x="5284728" y="5071042"/>
            <a:ext cx="554217" cy="554217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7BD15B-E9D4-B6B2-8869-8F988DACED98}"/>
              </a:ext>
            </a:extLst>
          </p:cNvPr>
          <p:cNvCxnSpPr>
            <a:cxnSpLocks/>
            <a:stCxn id="8" idx="4"/>
            <a:endCxn id="4" idx="0"/>
          </p:cNvCxnSpPr>
          <p:nvPr/>
        </p:nvCxnSpPr>
        <p:spPr>
          <a:xfrm flipH="1">
            <a:off x="3697992" y="3769925"/>
            <a:ext cx="917694" cy="402025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C35C59-D84A-CFB2-30FD-044348CAD5FF}"/>
              </a:ext>
            </a:extLst>
          </p:cNvPr>
          <p:cNvCxnSpPr>
            <a:cxnSpLocks/>
            <a:stCxn id="8" idx="4"/>
            <a:endCxn id="5" idx="0"/>
          </p:cNvCxnSpPr>
          <p:nvPr/>
        </p:nvCxnSpPr>
        <p:spPr>
          <a:xfrm>
            <a:off x="4615686" y="3769925"/>
            <a:ext cx="7878" cy="402025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5C7CC0F-D375-DBB9-AB96-139F52C5EFB7}"/>
              </a:ext>
            </a:extLst>
          </p:cNvPr>
          <p:cNvCxnSpPr>
            <a:cxnSpLocks/>
            <a:stCxn id="8" idx="4"/>
            <a:endCxn id="6" idx="1"/>
          </p:cNvCxnSpPr>
          <p:nvPr/>
        </p:nvCxnSpPr>
        <p:spPr>
          <a:xfrm>
            <a:off x="4615686" y="3769925"/>
            <a:ext cx="737504" cy="483188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3AB5042-E76F-651F-8EDC-62A14306BFAC}"/>
              </a:ext>
            </a:extLst>
          </p:cNvPr>
          <p:cNvCxnSpPr>
            <a:cxnSpLocks/>
            <a:stCxn id="8" idx="4"/>
            <a:endCxn id="7" idx="1"/>
          </p:cNvCxnSpPr>
          <p:nvPr/>
        </p:nvCxnSpPr>
        <p:spPr>
          <a:xfrm>
            <a:off x="4615686" y="3769925"/>
            <a:ext cx="1663077" cy="483188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295A547-956B-6A0A-BA91-E97592ADAE0D}"/>
              </a:ext>
            </a:extLst>
          </p:cNvPr>
          <p:cNvCxnSpPr>
            <a:cxnSpLocks/>
            <a:stCxn id="9" idx="4"/>
            <a:endCxn id="4" idx="7"/>
          </p:cNvCxnSpPr>
          <p:nvPr/>
        </p:nvCxnSpPr>
        <p:spPr>
          <a:xfrm flipH="1">
            <a:off x="3893937" y="3769925"/>
            <a:ext cx="1647321" cy="483188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51CDA9E-0CBD-901B-B1B3-4F324D34F434}"/>
              </a:ext>
            </a:extLst>
          </p:cNvPr>
          <p:cNvCxnSpPr>
            <a:cxnSpLocks/>
            <a:stCxn id="9" idx="4"/>
            <a:endCxn id="5" idx="7"/>
          </p:cNvCxnSpPr>
          <p:nvPr/>
        </p:nvCxnSpPr>
        <p:spPr>
          <a:xfrm flipH="1">
            <a:off x="4819509" y="3769925"/>
            <a:ext cx="721749" cy="483188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F82D3FC-A6BC-17D3-160A-39A448B99097}"/>
              </a:ext>
            </a:extLst>
          </p:cNvPr>
          <p:cNvCxnSpPr>
            <a:cxnSpLocks/>
            <a:stCxn id="9" idx="4"/>
            <a:endCxn id="6" idx="0"/>
          </p:cNvCxnSpPr>
          <p:nvPr/>
        </p:nvCxnSpPr>
        <p:spPr>
          <a:xfrm>
            <a:off x="5541258" y="3769925"/>
            <a:ext cx="7878" cy="402025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18D76AE-20E1-DC17-D3FC-775D25FBB6F8}"/>
              </a:ext>
            </a:extLst>
          </p:cNvPr>
          <p:cNvCxnSpPr>
            <a:cxnSpLocks/>
            <a:stCxn id="9" idx="4"/>
            <a:endCxn id="7" idx="1"/>
          </p:cNvCxnSpPr>
          <p:nvPr/>
        </p:nvCxnSpPr>
        <p:spPr>
          <a:xfrm>
            <a:off x="5541258" y="3769925"/>
            <a:ext cx="737505" cy="483188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1DF1B19-BCFD-55DF-2990-73FFBC18492F}"/>
              </a:ext>
            </a:extLst>
          </p:cNvPr>
          <p:cNvCxnSpPr>
            <a:cxnSpLocks/>
            <a:stCxn id="4" idx="4"/>
            <a:endCxn id="10" idx="1"/>
          </p:cNvCxnSpPr>
          <p:nvPr/>
        </p:nvCxnSpPr>
        <p:spPr>
          <a:xfrm>
            <a:off x="3697992" y="4726167"/>
            <a:ext cx="742326" cy="426038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AFCCE59-0347-A473-C59F-F4607C31041D}"/>
              </a:ext>
            </a:extLst>
          </p:cNvPr>
          <p:cNvCxnSpPr>
            <a:cxnSpLocks/>
            <a:stCxn id="4" idx="4"/>
            <a:endCxn id="11" idx="1"/>
          </p:cNvCxnSpPr>
          <p:nvPr/>
        </p:nvCxnSpPr>
        <p:spPr>
          <a:xfrm>
            <a:off x="3697992" y="4726167"/>
            <a:ext cx="1667899" cy="426038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198540E-A908-3ABF-6308-CA6CAE1A6ED7}"/>
              </a:ext>
            </a:extLst>
          </p:cNvPr>
          <p:cNvCxnSpPr>
            <a:cxnSpLocks/>
            <a:stCxn id="5" idx="4"/>
            <a:endCxn id="10" idx="0"/>
          </p:cNvCxnSpPr>
          <p:nvPr/>
        </p:nvCxnSpPr>
        <p:spPr>
          <a:xfrm>
            <a:off x="4623564" y="4726167"/>
            <a:ext cx="12700" cy="344875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C3306DB-A005-E2AA-93F0-4BBE0CF8A359}"/>
              </a:ext>
            </a:extLst>
          </p:cNvPr>
          <p:cNvCxnSpPr>
            <a:cxnSpLocks/>
            <a:stCxn id="5" idx="4"/>
            <a:endCxn id="11" idx="0"/>
          </p:cNvCxnSpPr>
          <p:nvPr/>
        </p:nvCxnSpPr>
        <p:spPr>
          <a:xfrm>
            <a:off x="4623564" y="4726167"/>
            <a:ext cx="938273" cy="344875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F87A599-B683-359E-ACEB-7E93B6EF11E4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 flipH="1">
            <a:off x="4636264" y="4726167"/>
            <a:ext cx="912872" cy="344875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96A723A-2F19-72CD-711E-53D071AC3C2F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5549136" y="4726167"/>
            <a:ext cx="12701" cy="344875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B9A8018-B1FA-10DF-0EA3-8004ECD1664C}"/>
              </a:ext>
            </a:extLst>
          </p:cNvPr>
          <p:cNvCxnSpPr>
            <a:cxnSpLocks/>
            <a:stCxn id="7" idx="4"/>
            <a:endCxn id="10" idx="7"/>
          </p:cNvCxnSpPr>
          <p:nvPr/>
        </p:nvCxnSpPr>
        <p:spPr>
          <a:xfrm flipH="1">
            <a:off x="4832209" y="4726167"/>
            <a:ext cx="1642500" cy="426038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69DD985-BB02-1E48-C383-3DD69F0CCA9E}"/>
              </a:ext>
            </a:extLst>
          </p:cNvPr>
          <p:cNvCxnSpPr>
            <a:cxnSpLocks/>
            <a:stCxn id="7" idx="4"/>
            <a:endCxn id="11" idx="7"/>
          </p:cNvCxnSpPr>
          <p:nvPr/>
        </p:nvCxnSpPr>
        <p:spPr>
          <a:xfrm flipH="1">
            <a:off x="5757782" y="4726167"/>
            <a:ext cx="716927" cy="426038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A3131EF-C465-226D-6C30-8418D8B897BE}"/>
              </a:ext>
            </a:extLst>
          </p:cNvPr>
          <p:cNvSpPr txBox="1"/>
          <p:nvPr/>
        </p:nvSpPr>
        <p:spPr>
          <a:xfrm>
            <a:off x="2322333" y="4297563"/>
            <a:ext cx="1200150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Hidden Layer: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D1FA1F5-9BA7-4320-3947-5F310DF6B0D8}"/>
              </a:ext>
            </a:extLst>
          </p:cNvPr>
          <p:cNvSpPr txBox="1"/>
          <p:nvPr/>
        </p:nvSpPr>
        <p:spPr>
          <a:xfrm>
            <a:off x="2322333" y="3393637"/>
            <a:ext cx="1200150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Inpu</a:t>
            </a:r>
            <a:r>
              <a:rPr lang="en-US" sz="1200" dirty="0">
                <a:solidFill>
                  <a:srgbClr val="000000"/>
                </a:solidFill>
              </a:rPr>
              <a:t>t </a:t>
            </a: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Layer: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5D12710-55C3-AE81-B683-6990D6F1D946}"/>
              </a:ext>
            </a:extLst>
          </p:cNvPr>
          <p:cNvSpPr txBox="1"/>
          <p:nvPr/>
        </p:nvSpPr>
        <p:spPr>
          <a:xfrm>
            <a:off x="2322333" y="5203321"/>
            <a:ext cx="1200150" cy="28725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rPr>
              <a:t>Output Layer: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B7EFC07-856E-75DC-97DB-3E7F12C1657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615685" y="3011855"/>
            <a:ext cx="1" cy="203853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283461A-F27E-9C1E-C5C5-C56946080A0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541256" y="3011854"/>
            <a:ext cx="2" cy="203854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0246197-37B1-F7FC-80F3-4DF083E42409}"/>
              </a:ext>
            </a:extLst>
          </p:cNvPr>
          <p:cNvCxnSpPr>
            <a:cxnSpLocks/>
          </p:cNvCxnSpPr>
          <p:nvPr/>
        </p:nvCxnSpPr>
        <p:spPr>
          <a:xfrm>
            <a:off x="4636266" y="5629434"/>
            <a:ext cx="1" cy="203853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A0D711F-D1CD-9DB8-D682-1C07DDDDA64D}"/>
              </a:ext>
            </a:extLst>
          </p:cNvPr>
          <p:cNvCxnSpPr>
            <a:cxnSpLocks/>
          </p:cNvCxnSpPr>
          <p:nvPr/>
        </p:nvCxnSpPr>
        <p:spPr>
          <a:xfrm>
            <a:off x="5561837" y="5629433"/>
            <a:ext cx="2" cy="203854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908E2A49-A0D1-E03A-22FD-805BC038B798}"/>
              </a:ext>
            </a:extLst>
          </p:cNvPr>
          <p:cNvSpPr txBox="1"/>
          <p:nvPr/>
        </p:nvSpPr>
        <p:spPr>
          <a:xfrm>
            <a:off x="6991516" y="3369705"/>
            <a:ext cx="148895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No computation</a:t>
            </a:r>
            <a:endParaRPr lang="en-US" sz="1200" i="1" baseline="-25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9771B0A-8E5E-6B56-302B-87905F971C51}"/>
              </a:ext>
            </a:extLst>
          </p:cNvPr>
          <p:cNvSpPr txBox="1"/>
          <p:nvPr/>
        </p:nvSpPr>
        <p:spPr>
          <a:xfrm>
            <a:off x="6991516" y="4171950"/>
            <a:ext cx="435328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Each neuron performs 2 multiplies and 2 adds</a:t>
            </a:r>
            <a:endParaRPr lang="en-US" sz="1200" i="1" baseline="-25000" dirty="0"/>
          </a:p>
          <a:p>
            <a:pPr algn="l"/>
            <a:r>
              <a:rPr lang="en-US" sz="1600" i="1" dirty="0"/>
              <a:t>Layer performs 8 multiplies and 8 adds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8ECA63A-659B-41F8-859E-DC1EE9E77CA3}"/>
              </a:ext>
            </a:extLst>
          </p:cNvPr>
          <p:cNvSpPr txBox="1"/>
          <p:nvPr/>
        </p:nvSpPr>
        <p:spPr>
          <a:xfrm>
            <a:off x="6991516" y="5071042"/>
            <a:ext cx="435328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Each neuron performs 4 multiplies and 4 adds</a:t>
            </a:r>
            <a:endParaRPr lang="en-US" sz="1200" i="1" baseline="-25000" dirty="0"/>
          </a:p>
          <a:p>
            <a:pPr algn="l"/>
            <a:r>
              <a:rPr lang="en-US" sz="1600" i="1" dirty="0"/>
              <a:t>Layer performs 8 multiplies and 8 adds</a:t>
            </a:r>
          </a:p>
        </p:txBody>
      </p:sp>
    </p:spTree>
    <p:extLst>
      <p:ext uri="{BB962C8B-B14F-4D97-AF65-F5344CB8AC3E}">
        <p14:creationId xmlns:p14="http://schemas.microsoft.com/office/powerpoint/2010/main" val="275429858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249C4A-3BC3-D612-158A-750256938E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400" dirty="0"/>
              <a:t>We’ll be using the “SFC” (small, fully connected) topology from the FINN paper:</a:t>
            </a:r>
          </a:p>
          <a:p>
            <a:pPr lvl="1"/>
            <a:r>
              <a:rPr lang="en-US" sz="1800" dirty="0" err="1"/>
              <a:t>Umuroglu</a:t>
            </a:r>
            <a:r>
              <a:rPr lang="en-US" sz="1800" dirty="0"/>
              <a:t>, Y., Fraser, N. J., Gambardella, G., Blott, M., Leong, P., Jahre, M., &amp; Vissers, K. (2017). </a:t>
            </a:r>
            <a:r>
              <a:rPr lang="en-US" sz="1800" b="1" dirty="0"/>
              <a:t>FINN: A Framework for Fast, Scalable Binarized Neural Network Inference.</a:t>
            </a:r>
            <a:r>
              <a:rPr lang="en-US" sz="1800" dirty="0"/>
              <a:t> In </a:t>
            </a:r>
            <a:r>
              <a:rPr lang="en-US" sz="1800" i="1" dirty="0"/>
              <a:t>Proceedings of the 2017 ACM/SIGDA International Symposium on Field-Programmable Gate Arrays</a:t>
            </a:r>
            <a:r>
              <a:rPr lang="en-US" sz="1800" dirty="0"/>
              <a:t> (pp. 65-74). DOI: </a:t>
            </a:r>
            <a:r>
              <a:rPr lang="en-US" sz="1800" dirty="0">
                <a:hlinkClick r:id="rId2"/>
              </a:rPr>
              <a:t>10.1145/3020078.3021744</a:t>
            </a:r>
            <a:endParaRPr lang="en-US" sz="1800" dirty="0"/>
          </a:p>
          <a:p>
            <a:r>
              <a:rPr lang="en-US" sz="2400" dirty="0"/>
              <a:t>Application is 0-9 digit recognition</a:t>
            </a:r>
          </a:p>
          <a:p>
            <a:pPr lvl="1"/>
            <a:r>
              <a:rPr lang="en-US" sz="1800" dirty="0"/>
              <a:t>We’ll train a model for the SFC topology using the MNIST dataset</a:t>
            </a:r>
          </a:p>
          <a:p>
            <a:pPr lvl="1"/>
            <a:r>
              <a:rPr lang="en-US" sz="1800" dirty="0">
                <a:hlinkClick r:id="rId3"/>
              </a:rPr>
              <a:t>https://www.tensorflow.org/datasets/catalog/mnist</a:t>
            </a:r>
            <a:endParaRPr lang="en-US" sz="1800" dirty="0"/>
          </a:p>
          <a:p>
            <a:pPr lvl="1"/>
            <a:r>
              <a:rPr lang="en-US" sz="1800" dirty="0"/>
              <a:t>Classifies images as digits 0-9</a:t>
            </a:r>
          </a:p>
          <a:p>
            <a:r>
              <a:rPr lang="en-US" sz="2400" dirty="0"/>
              <a:t>Topology is 784 </a:t>
            </a:r>
            <a:r>
              <a:rPr lang="en-US" sz="2400" baseline="20000" dirty="0"/>
              <a:t>→</a:t>
            </a:r>
            <a:r>
              <a:rPr lang="en-US" sz="2400" dirty="0"/>
              <a:t> 256 </a:t>
            </a:r>
            <a:r>
              <a:rPr lang="en-US" sz="2400" baseline="20000" dirty="0"/>
              <a:t>→</a:t>
            </a:r>
            <a:r>
              <a:rPr lang="en-US" sz="2400" dirty="0"/>
              <a:t> 256 </a:t>
            </a:r>
            <a:r>
              <a:rPr lang="en-US" sz="2400" baseline="20000" dirty="0"/>
              <a:t>→</a:t>
            </a:r>
            <a:r>
              <a:rPr lang="en-US" sz="2400" dirty="0"/>
              <a:t> 10</a:t>
            </a:r>
          </a:p>
          <a:p>
            <a:pPr lvl="1"/>
            <a:r>
              <a:rPr lang="en-US" sz="1800" dirty="0"/>
              <a:t>Input is 28x28 8-bit pixel image: 784 total inputs</a:t>
            </a:r>
          </a:p>
          <a:p>
            <a:pPr lvl="1"/>
            <a:r>
              <a:rPr lang="en-US" sz="1800" dirty="0"/>
              <a:t>Two hidden layers, each with 256 neurons</a:t>
            </a:r>
          </a:p>
          <a:p>
            <a:pPr lvl="1"/>
            <a:r>
              <a:rPr lang="en-US" sz="1800" dirty="0"/>
              <a:t>Output layer has 10 neurons (one output for each possible digit)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952705-C905-5A55-85F9-D7E16AE2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Topology</a:t>
            </a:r>
          </a:p>
        </p:txBody>
      </p:sp>
    </p:spTree>
    <p:extLst>
      <p:ext uri="{BB962C8B-B14F-4D97-AF65-F5344CB8AC3E}">
        <p14:creationId xmlns:p14="http://schemas.microsoft.com/office/powerpoint/2010/main" val="154647778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EEC1C8-8A06-B256-12B4-18B28B4366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Let’s initially assume this 784 </a:t>
            </a:r>
            <a:r>
              <a:rPr lang="en-US" baseline="20000" dirty="0"/>
              <a:t>→</a:t>
            </a:r>
            <a:r>
              <a:rPr lang="en-US" dirty="0"/>
              <a:t> 256 </a:t>
            </a:r>
            <a:r>
              <a:rPr lang="en-US" baseline="20000" dirty="0"/>
              <a:t>→</a:t>
            </a:r>
            <a:r>
              <a:rPr lang="en-US" dirty="0"/>
              <a:t> 256 </a:t>
            </a:r>
            <a:r>
              <a:rPr lang="en-US" baseline="20000" dirty="0"/>
              <a:t>→</a:t>
            </a:r>
            <a:r>
              <a:rPr lang="en-US" dirty="0"/>
              <a:t> 10 topology uses the neurons shown earlier</a:t>
            </a:r>
          </a:p>
          <a:p>
            <a:pPr lvl="1"/>
            <a:r>
              <a:rPr lang="en-US" dirty="0"/>
              <a:t>Each neuron in the first hidden layer performs 784 multiplications</a:t>
            </a:r>
          </a:p>
          <a:p>
            <a:pPr lvl="1"/>
            <a:r>
              <a:rPr lang="en-US" dirty="0"/>
              <a:t>Each neuron in the second hidden layer and output layer performs 256 multiplications </a:t>
            </a:r>
          </a:p>
          <a:p>
            <a:pPr lvl="1"/>
            <a:r>
              <a:rPr lang="en-US" dirty="0"/>
              <a:t>Total multiplications = 784*256 + 256*256 + 256*10 = 268,800 multiplications</a:t>
            </a:r>
          </a:p>
          <a:p>
            <a:r>
              <a:rPr lang="en-US" dirty="0"/>
              <a:t>MLPs are computationally expensive!</a:t>
            </a:r>
          </a:p>
          <a:p>
            <a:pPr lvl="1"/>
            <a:r>
              <a:rPr lang="en-US" dirty="0"/>
              <a:t>And this is for a small topology</a:t>
            </a:r>
          </a:p>
          <a:p>
            <a:r>
              <a:rPr lang="en-US" dirty="0"/>
              <a:t>Optimization strategy: quantization</a:t>
            </a:r>
          </a:p>
          <a:p>
            <a:pPr lvl="1"/>
            <a:r>
              <a:rPr lang="en-US" dirty="0"/>
              <a:t>Reduce precision of computation (e.g., 32-bit float to 16-bit fixed)</a:t>
            </a:r>
          </a:p>
          <a:p>
            <a:pPr lvl="1"/>
            <a:r>
              <a:rPr lang="en-US" dirty="0"/>
              <a:t>This makes each multiplication cheaper, but still expensive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0B9301-90D2-F9B9-6B38-1928A87DE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BNNs?</a:t>
            </a:r>
          </a:p>
        </p:txBody>
      </p:sp>
    </p:spTree>
    <p:extLst>
      <p:ext uri="{BB962C8B-B14F-4D97-AF65-F5344CB8AC3E}">
        <p14:creationId xmlns:p14="http://schemas.microsoft.com/office/powerpoint/2010/main" val="315781274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5A8CA-E4FA-3185-C6EB-DEC9BF6B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A4BB78-95A6-00B8-F743-F2CBC1A5AF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if we reduce the precision down to one bit?</a:t>
            </a:r>
          </a:p>
          <a:p>
            <a:pPr lvl="1"/>
            <a:r>
              <a:rPr lang="en-US" dirty="0"/>
              <a:t>Every weight and input is a single bit</a:t>
            </a:r>
          </a:p>
          <a:p>
            <a:pPr lvl="1"/>
            <a:r>
              <a:rPr lang="en-US" dirty="0"/>
              <a:t>Aka: a “binary” neural net</a:t>
            </a:r>
          </a:p>
          <a:p>
            <a:r>
              <a:rPr lang="en-US" dirty="0"/>
              <a:t>The entire </a:t>
            </a:r>
            <a:r>
              <a:rPr lang="en-US" dirty="0" err="1"/>
              <a:t>mult</a:t>
            </a:r>
            <a:r>
              <a:rPr lang="en-US" baseline="20000" dirty="0"/>
              <a:t> → </a:t>
            </a:r>
            <a:r>
              <a:rPr lang="en-US" dirty="0"/>
              <a:t>add</a:t>
            </a:r>
            <a:r>
              <a:rPr lang="en-US" baseline="20000" dirty="0"/>
              <a:t> → </a:t>
            </a:r>
            <a:r>
              <a:rPr lang="en-US" dirty="0"/>
              <a:t>activation can be replaced with:</a:t>
            </a:r>
          </a:p>
          <a:p>
            <a:pPr lvl="1"/>
            <a:r>
              <a:rPr lang="en-US" dirty="0" err="1"/>
              <a:t>xnor</a:t>
            </a:r>
            <a:r>
              <a:rPr lang="en-US" dirty="0"/>
              <a:t> </a:t>
            </a:r>
            <a:r>
              <a:rPr lang="en-US" baseline="20000" dirty="0"/>
              <a:t>→</a:t>
            </a:r>
            <a:r>
              <a:rPr lang="en-US" dirty="0"/>
              <a:t> “</a:t>
            </a:r>
            <a:r>
              <a:rPr lang="en-US" dirty="0" err="1"/>
              <a:t>popcount</a:t>
            </a:r>
            <a:r>
              <a:rPr lang="en-US" dirty="0"/>
              <a:t>” </a:t>
            </a:r>
            <a:r>
              <a:rPr lang="en-US" baseline="20000" dirty="0"/>
              <a:t>→</a:t>
            </a:r>
            <a:r>
              <a:rPr lang="en-US" dirty="0"/>
              <a:t> threshold comparison </a:t>
            </a:r>
          </a:p>
          <a:p>
            <a:pPr lvl="1"/>
            <a:r>
              <a:rPr lang="en-US" dirty="0"/>
              <a:t>Multipliers replaced with cheap </a:t>
            </a:r>
            <a:r>
              <a:rPr lang="en-US" dirty="0" err="1"/>
              <a:t>xnor</a:t>
            </a:r>
            <a:endParaRPr lang="en-US" dirty="0"/>
          </a:p>
          <a:p>
            <a:pPr lvl="1"/>
            <a:r>
              <a:rPr lang="en-US" dirty="0"/>
              <a:t>Add tree replaced with population count</a:t>
            </a:r>
          </a:p>
          <a:p>
            <a:pPr lvl="2"/>
            <a:r>
              <a:rPr lang="en-US" dirty="0"/>
              <a:t>Population count just counts asserted bits from </a:t>
            </a:r>
            <a:r>
              <a:rPr lang="en-US" dirty="0" err="1"/>
              <a:t>xnor</a:t>
            </a:r>
            <a:endParaRPr lang="en-US" dirty="0"/>
          </a:p>
          <a:p>
            <a:pPr lvl="2"/>
            <a:r>
              <a:rPr lang="en-US" dirty="0"/>
              <a:t>Often called “count ones” or “Hamming weight”</a:t>
            </a:r>
          </a:p>
          <a:p>
            <a:pPr lvl="1"/>
            <a:r>
              <a:rPr lang="en-US" dirty="0"/>
              <a:t>Activation replaced with: </a:t>
            </a:r>
            <a:r>
              <a:rPr lang="en-US" dirty="0" err="1"/>
              <a:t>popcount</a:t>
            </a:r>
            <a:r>
              <a:rPr lang="en-US" dirty="0"/>
              <a:t> &gt;= threshold</a:t>
            </a:r>
          </a:p>
          <a:p>
            <a:r>
              <a:rPr lang="en-US" dirty="0"/>
              <a:t>Not mathematically equivalent and requires special training, </a:t>
            </a:r>
            <a:r>
              <a:rPr lang="en-US" i="1" dirty="0"/>
              <a:t>but</a:t>
            </a:r>
          </a:p>
          <a:p>
            <a:pPr lvl="1"/>
            <a:r>
              <a:rPr lang="en-US" dirty="0"/>
              <a:t>Can sometimes achieves comparable accuracy at much lower hardware costs</a:t>
            </a:r>
          </a:p>
          <a:p>
            <a:pPr lvl="2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2EBC7C-658E-61A9-B2D8-902360B4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BNNs?</a:t>
            </a:r>
          </a:p>
        </p:txBody>
      </p:sp>
    </p:spTree>
    <p:extLst>
      <p:ext uri="{BB962C8B-B14F-4D97-AF65-F5344CB8AC3E}">
        <p14:creationId xmlns:p14="http://schemas.microsoft.com/office/powerpoint/2010/main" val="412930939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1C0047-4B24-52A5-D1BE-1B9ECE6189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01655" y="4487394"/>
            <a:ext cx="6290789" cy="1692628"/>
          </a:xfrm>
        </p:spPr>
        <p:txBody>
          <a:bodyPr/>
          <a:lstStyle/>
          <a:p>
            <a:r>
              <a:rPr lang="en-US" sz="1600" dirty="0"/>
              <a:t>x</a:t>
            </a:r>
            <a:r>
              <a:rPr lang="en-US" sz="1600" baseline="-25000" dirty="0"/>
              <a:t>i</a:t>
            </a:r>
            <a:r>
              <a:rPr lang="en-US" sz="1600" dirty="0"/>
              <a:t> </a:t>
            </a:r>
            <a:r>
              <a:rPr lang="en-US" sz="1600" dirty="0" err="1"/>
              <a:t>xnor</a:t>
            </a:r>
            <a:r>
              <a:rPr lang="en-US" sz="1600" dirty="0"/>
              <a:t> </a:t>
            </a:r>
            <a:r>
              <a:rPr lang="en-US" sz="1600" dirty="0" err="1"/>
              <a:t>w</a:t>
            </a:r>
            <a:r>
              <a:rPr lang="en-US" sz="1600" baseline="-25000" dirty="0" err="1"/>
              <a:t>i</a:t>
            </a:r>
            <a:r>
              <a:rPr lang="en-US" sz="1600" dirty="0"/>
              <a:t> is same as x</a:t>
            </a:r>
            <a:r>
              <a:rPr lang="en-US" sz="1600" baseline="-25000" dirty="0"/>
              <a:t>i</a:t>
            </a:r>
            <a:r>
              <a:rPr lang="en-US" sz="1600" dirty="0"/>
              <a:t> == </a:t>
            </a:r>
            <a:r>
              <a:rPr lang="en-US" sz="1600" dirty="0" err="1"/>
              <a:t>w</a:t>
            </a:r>
            <a:r>
              <a:rPr lang="en-US" sz="1600" baseline="-25000" dirty="0" err="1"/>
              <a:t>i</a:t>
            </a:r>
            <a:endParaRPr lang="en-US" sz="1600" dirty="0"/>
          </a:p>
          <a:p>
            <a:r>
              <a:rPr lang="en-US" sz="1600" dirty="0" err="1"/>
              <a:t>Popcount</a:t>
            </a:r>
            <a:r>
              <a:rPr lang="en-US" sz="1600" dirty="0"/>
              <a:t> counts # of matches between inputs and weights</a:t>
            </a:r>
            <a:endParaRPr lang="en-US" sz="1600" baseline="-25000" dirty="0"/>
          </a:p>
          <a:p>
            <a:r>
              <a:rPr lang="en-US" sz="1600" dirty="0"/>
              <a:t>Neuron “fires” (outputs 1) if the # of matches reach threshold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2E55AA-8F44-F2A5-420B-26EF59F7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MLP Neuron vs BNN Neuron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078A99C-F7D3-1390-CB56-D204D367FB1B}"/>
              </a:ext>
            </a:extLst>
          </p:cNvPr>
          <p:cNvSpPr/>
          <p:nvPr/>
        </p:nvSpPr>
        <p:spPr>
          <a:xfrm>
            <a:off x="1709833" y="2739269"/>
            <a:ext cx="508562" cy="453998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6E6CA14-A445-044E-F359-E2F99C93FD8B}"/>
              </a:ext>
            </a:extLst>
          </p:cNvPr>
          <p:cNvSpPr/>
          <p:nvPr/>
        </p:nvSpPr>
        <p:spPr>
          <a:xfrm>
            <a:off x="3261578" y="2739269"/>
            <a:ext cx="508562" cy="453998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32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+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1E7E82-24A5-ED2B-2712-EBCC0356E4FB}"/>
              </a:ext>
            </a:extLst>
          </p:cNvPr>
          <p:cNvSpPr/>
          <p:nvPr/>
        </p:nvSpPr>
        <p:spPr>
          <a:xfrm>
            <a:off x="2499057" y="3369075"/>
            <a:ext cx="508562" cy="453998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32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8E4C63-CEFF-FB8F-44C5-A8140495B8E9}"/>
              </a:ext>
            </a:extLst>
          </p:cNvPr>
          <p:cNvSpPr/>
          <p:nvPr/>
        </p:nvSpPr>
        <p:spPr>
          <a:xfrm>
            <a:off x="2578154" y="4655011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Activation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E87BAB-B0EF-4815-0A9B-CE1F86C80D8D}"/>
              </a:ext>
            </a:extLst>
          </p:cNvPr>
          <p:cNvGrpSpPr/>
          <p:nvPr/>
        </p:nvGrpSpPr>
        <p:grpSpPr>
          <a:xfrm>
            <a:off x="1031756" y="1565783"/>
            <a:ext cx="1008384" cy="961322"/>
            <a:chOff x="6825568" y="1424484"/>
            <a:chExt cx="1170394" cy="1115771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751FAAB-FB13-950C-80F7-05F44EBA7130}"/>
                </a:ext>
              </a:extLst>
            </p:cNvPr>
            <p:cNvSpPr/>
            <p:nvPr/>
          </p:nvSpPr>
          <p:spPr>
            <a:xfrm>
              <a:off x="7117714" y="2013316"/>
              <a:ext cx="590269" cy="526939"/>
            </a:xfrm>
            <a:prstGeom prst="ellipse">
              <a:avLst/>
            </a:prstGeom>
            <a:solidFill>
              <a:schemeClr val="bg2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182880" rIns="50800" bIns="0" numCol="1" spcCol="38100" rtlCol="0" anchor="ctr" anchorCtr="1">
              <a:no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rPr>
                <a:t>*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DE7DA0E-45A4-6385-3322-E9A52B61893D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>
              <a:off x="7117714" y="1721736"/>
              <a:ext cx="86443" cy="368748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5856B86-EE20-B87E-FD3B-F99D20C289D7}"/>
                </a:ext>
              </a:extLst>
            </p:cNvPr>
            <p:cNvCxnSpPr>
              <a:cxnSpLocks/>
              <a:endCxn id="41" idx="7"/>
            </p:cNvCxnSpPr>
            <p:nvPr/>
          </p:nvCxnSpPr>
          <p:spPr>
            <a:xfrm flipH="1">
              <a:off x="7621540" y="1744083"/>
              <a:ext cx="86443" cy="346401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DCAECF5-98FE-DD7E-0B99-CD3A4E4051AF}"/>
                </a:ext>
              </a:extLst>
            </p:cNvPr>
            <p:cNvSpPr txBox="1"/>
            <p:nvPr/>
          </p:nvSpPr>
          <p:spPr>
            <a:xfrm>
              <a:off x="6825568" y="1424484"/>
              <a:ext cx="58429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i="1" dirty="0"/>
                <a:t>x</a:t>
              </a:r>
              <a:r>
                <a:rPr lang="en-US" sz="1600" i="1" baseline="-25000" dirty="0"/>
                <a:t>0</a:t>
              </a:r>
              <a:endParaRPr lang="en-US" sz="1200" i="1" baseline="-250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FA6C646-6102-BA40-4B71-199CE8F446E4}"/>
                </a:ext>
              </a:extLst>
            </p:cNvPr>
            <p:cNvSpPr txBox="1"/>
            <p:nvPr/>
          </p:nvSpPr>
          <p:spPr>
            <a:xfrm>
              <a:off x="7411670" y="1424484"/>
              <a:ext cx="58429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i="1" dirty="0"/>
                <a:t>w</a:t>
              </a:r>
              <a:r>
                <a:rPr lang="en-US" sz="1600" i="1" baseline="-25000" dirty="0"/>
                <a:t>0</a:t>
              </a:r>
              <a:endParaRPr lang="en-US" sz="1200" i="1" baseline="-250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C15EE0-9DC5-8B3C-519B-615B048BC2B1}"/>
              </a:ext>
            </a:extLst>
          </p:cNvPr>
          <p:cNvGrpSpPr/>
          <p:nvPr/>
        </p:nvGrpSpPr>
        <p:grpSpPr>
          <a:xfrm>
            <a:off x="1835823" y="1565783"/>
            <a:ext cx="1008384" cy="961322"/>
            <a:chOff x="6825568" y="1424484"/>
            <a:chExt cx="1170394" cy="1115771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F949F9C-5EC7-EED3-C160-354F6E001E71}"/>
                </a:ext>
              </a:extLst>
            </p:cNvPr>
            <p:cNvSpPr/>
            <p:nvPr/>
          </p:nvSpPr>
          <p:spPr>
            <a:xfrm>
              <a:off x="7117714" y="2013316"/>
              <a:ext cx="590269" cy="526939"/>
            </a:xfrm>
            <a:prstGeom prst="ellipse">
              <a:avLst/>
            </a:prstGeom>
            <a:solidFill>
              <a:schemeClr val="bg2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182880" rIns="50800" bIns="0" numCol="1" spcCol="38100" rtlCol="0" anchor="ctr" anchorCtr="1">
              <a:no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rPr>
                <a:t>*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FAB36D8-731C-2CC3-0F84-C7EA7822304F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>
              <a:off x="7117714" y="1721736"/>
              <a:ext cx="86443" cy="368748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4EC4F84-C8EF-B9E3-EB3B-CC92118F3E06}"/>
                </a:ext>
              </a:extLst>
            </p:cNvPr>
            <p:cNvCxnSpPr>
              <a:cxnSpLocks/>
              <a:endCxn id="36" idx="7"/>
            </p:cNvCxnSpPr>
            <p:nvPr/>
          </p:nvCxnSpPr>
          <p:spPr>
            <a:xfrm flipH="1">
              <a:off x="7621540" y="1744083"/>
              <a:ext cx="86443" cy="346401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E1797CB-9A49-666D-55CF-0A905DB72347}"/>
                </a:ext>
              </a:extLst>
            </p:cNvPr>
            <p:cNvSpPr txBox="1"/>
            <p:nvPr/>
          </p:nvSpPr>
          <p:spPr>
            <a:xfrm>
              <a:off x="6825568" y="1424484"/>
              <a:ext cx="58429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i="1" dirty="0"/>
                <a:t>x</a:t>
              </a:r>
              <a:r>
                <a:rPr lang="en-US" sz="1600" i="1" baseline="-25000" dirty="0"/>
                <a:t>1</a:t>
              </a:r>
              <a:endParaRPr lang="en-US" sz="1200" i="1" baseline="-250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1A535A-4A72-F147-1BF6-5F0929F10655}"/>
                </a:ext>
              </a:extLst>
            </p:cNvPr>
            <p:cNvSpPr txBox="1"/>
            <p:nvPr/>
          </p:nvSpPr>
          <p:spPr>
            <a:xfrm>
              <a:off x="7411670" y="1424484"/>
              <a:ext cx="58429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i="1" dirty="0"/>
                <a:t>w</a:t>
              </a:r>
              <a:r>
                <a:rPr lang="en-US" sz="1600" i="1" baseline="-25000" dirty="0"/>
                <a:t>1</a:t>
              </a:r>
              <a:endParaRPr lang="en-US" sz="1200" i="1" baseline="-250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3014BE-B987-9C7B-3659-AD11BA62955F}"/>
              </a:ext>
            </a:extLst>
          </p:cNvPr>
          <p:cNvGrpSpPr/>
          <p:nvPr/>
        </p:nvGrpSpPr>
        <p:grpSpPr>
          <a:xfrm>
            <a:off x="2639890" y="1565783"/>
            <a:ext cx="1008384" cy="961322"/>
            <a:chOff x="6825568" y="1424484"/>
            <a:chExt cx="1170394" cy="111577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D3D65FA-D6A9-1C18-8F5C-9525CCBC00D8}"/>
                </a:ext>
              </a:extLst>
            </p:cNvPr>
            <p:cNvSpPr/>
            <p:nvPr/>
          </p:nvSpPr>
          <p:spPr>
            <a:xfrm>
              <a:off x="7117714" y="2013316"/>
              <a:ext cx="590269" cy="526939"/>
            </a:xfrm>
            <a:prstGeom prst="ellipse">
              <a:avLst/>
            </a:prstGeom>
            <a:solidFill>
              <a:schemeClr val="bg2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182880" rIns="50800" bIns="0" numCol="1" spcCol="38100" rtlCol="0" anchor="ctr" anchorCtr="1">
              <a:no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rPr>
                <a:t>*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918AF5F-1692-A99F-235A-E6DF078AD85D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>
              <a:off x="7117714" y="1721736"/>
              <a:ext cx="86443" cy="368748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4695FE3-4BFE-5F16-75CB-95291B705037}"/>
                </a:ext>
              </a:extLst>
            </p:cNvPr>
            <p:cNvCxnSpPr>
              <a:cxnSpLocks/>
              <a:endCxn id="31" idx="7"/>
            </p:cNvCxnSpPr>
            <p:nvPr/>
          </p:nvCxnSpPr>
          <p:spPr>
            <a:xfrm flipH="1">
              <a:off x="7621540" y="1744083"/>
              <a:ext cx="86443" cy="346401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03445E8-F962-D6B7-1507-6E3F2FF7B3B7}"/>
                </a:ext>
              </a:extLst>
            </p:cNvPr>
            <p:cNvSpPr txBox="1"/>
            <p:nvPr/>
          </p:nvSpPr>
          <p:spPr>
            <a:xfrm>
              <a:off x="6825568" y="1424484"/>
              <a:ext cx="58429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i="1" dirty="0"/>
                <a:t>x</a:t>
              </a:r>
              <a:r>
                <a:rPr lang="en-US" sz="1600" i="1" baseline="-25000" dirty="0"/>
                <a:t>2</a:t>
              </a:r>
              <a:endParaRPr lang="en-US" sz="1200" i="1" baseline="-250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C1C0918-36FB-E8A0-F45E-C463ADCABCD8}"/>
                </a:ext>
              </a:extLst>
            </p:cNvPr>
            <p:cNvSpPr txBox="1"/>
            <p:nvPr/>
          </p:nvSpPr>
          <p:spPr>
            <a:xfrm>
              <a:off x="7411670" y="1424484"/>
              <a:ext cx="58429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i="1" dirty="0"/>
                <a:t>w</a:t>
              </a:r>
              <a:r>
                <a:rPr lang="en-US" sz="1600" i="1" baseline="-25000" dirty="0"/>
                <a:t>2</a:t>
              </a:r>
              <a:endParaRPr lang="en-US" sz="1200" i="1" baseline="-250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17AC9C0-958F-1412-1205-93FF2F420477}"/>
              </a:ext>
            </a:extLst>
          </p:cNvPr>
          <p:cNvGrpSpPr/>
          <p:nvPr/>
        </p:nvGrpSpPr>
        <p:grpSpPr>
          <a:xfrm>
            <a:off x="3443956" y="1565783"/>
            <a:ext cx="1008384" cy="961322"/>
            <a:chOff x="6825568" y="1424484"/>
            <a:chExt cx="1170394" cy="1115771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E9A6707-B2A2-CA65-C9BD-83B5319AFB1E}"/>
                </a:ext>
              </a:extLst>
            </p:cNvPr>
            <p:cNvSpPr/>
            <p:nvPr/>
          </p:nvSpPr>
          <p:spPr>
            <a:xfrm>
              <a:off x="7117714" y="2013316"/>
              <a:ext cx="590269" cy="526939"/>
            </a:xfrm>
            <a:prstGeom prst="ellipse">
              <a:avLst/>
            </a:prstGeom>
            <a:solidFill>
              <a:schemeClr val="bg2"/>
            </a:solidFill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182880" rIns="50800" bIns="0" numCol="1" spcCol="38100" rtlCol="0" anchor="ctr" anchorCtr="1">
              <a:no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Gill Sans"/>
                  <a:ea typeface="Gill Sans"/>
                  <a:cs typeface="Gill Sans"/>
                  <a:sym typeface="Gill Sans"/>
                </a:rPr>
                <a:t>*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6F2138E-A7E3-7AA9-8DA2-9A3DFF180510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7117714" y="1721736"/>
              <a:ext cx="86443" cy="368748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CDF0E41-A1E9-150A-E431-171EBE14970C}"/>
                </a:ext>
              </a:extLst>
            </p:cNvPr>
            <p:cNvCxnSpPr>
              <a:cxnSpLocks/>
              <a:endCxn id="26" idx="7"/>
            </p:cNvCxnSpPr>
            <p:nvPr/>
          </p:nvCxnSpPr>
          <p:spPr>
            <a:xfrm flipH="1">
              <a:off x="7621540" y="1744083"/>
              <a:ext cx="86443" cy="346401"/>
            </a:xfrm>
            <a:prstGeom prst="straightConnector1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C89E519-9536-386D-B95C-373915D8076B}"/>
                </a:ext>
              </a:extLst>
            </p:cNvPr>
            <p:cNvSpPr txBox="1"/>
            <p:nvPr/>
          </p:nvSpPr>
          <p:spPr>
            <a:xfrm>
              <a:off x="6825568" y="1424484"/>
              <a:ext cx="58429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i="1" dirty="0"/>
                <a:t>x</a:t>
              </a:r>
              <a:r>
                <a:rPr lang="en-US" sz="1600" i="1" baseline="-25000" dirty="0"/>
                <a:t>3</a:t>
              </a:r>
              <a:endParaRPr lang="en-US" sz="1200" i="1" baseline="-250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8E0BE6D-A756-EE3A-F73A-9BEEF3C0A921}"/>
                </a:ext>
              </a:extLst>
            </p:cNvPr>
            <p:cNvSpPr txBox="1"/>
            <p:nvPr/>
          </p:nvSpPr>
          <p:spPr>
            <a:xfrm>
              <a:off x="7411670" y="1424484"/>
              <a:ext cx="58429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600" i="1" dirty="0"/>
                <a:t>w</a:t>
              </a:r>
              <a:r>
                <a:rPr lang="en-US" sz="1600" i="1" baseline="-25000" dirty="0"/>
                <a:t>3</a:t>
              </a:r>
              <a:endParaRPr lang="en-US" sz="1200" i="1" baseline="-25000" dirty="0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8353D4-71FA-6B6C-2973-362372971C28}"/>
              </a:ext>
            </a:extLst>
          </p:cNvPr>
          <p:cNvCxnSpPr>
            <a:cxnSpLocks/>
            <a:stCxn id="41" idx="4"/>
            <a:endCxn id="5" idx="1"/>
          </p:cNvCxnSpPr>
          <p:nvPr/>
        </p:nvCxnSpPr>
        <p:spPr>
          <a:xfrm>
            <a:off x="1537743" y="2527105"/>
            <a:ext cx="246567" cy="27865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4D807E-346E-7D17-6C27-FEC29E923436}"/>
              </a:ext>
            </a:extLst>
          </p:cNvPr>
          <p:cNvCxnSpPr>
            <a:cxnSpLocks/>
            <a:stCxn id="36" idx="4"/>
            <a:endCxn id="5" idx="7"/>
          </p:cNvCxnSpPr>
          <p:nvPr/>
        </p:nvCxnSpPr>
        <p:spPr>
          <a:xfrm flipH="1">
            <a:off x="2143917" y="2527105"/>
            <a:ext cx="197893" cy="27865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7C6762-BCF2-ABB9-69EE-B2CAF231F9DE}"/>
              </a:ext>
            </a:extLst>
          </p:cNvPr>
          <p:cNvCxnSpPr>
            <a:cxnSpLocks/>
            <a:stCxn id="31" idx="4"/>
            <a:endCxn id="6" idx="1"/>
          </p:cNvCxnSpPr>
          <p:nvPr/>
        </p:nvCxnSpPr>
        <p:spPr>
          <a:xfrm>
            <a:off x="3145877" y="2527105"/>
            <a:ext cx="190177" cy="27865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9013B8-CE2A-361A-E9A8-CC4F74CFE274}"/>
              </a:ext>
            </a:extLst>
          </p:cNvPr>
          <p:cNvCxnSpPr>
            <a:cxnSpLocks/>
            <a:stCxn id="26" idx="4"/>
            <a:endCxn id="6" idx="7"/>
          </p:cNvCxnSpPr>
          <p:nvPr/>
        </p:nvCxnSpPr>
        <p:spPr>
          <a:xfrm flipH="1">
            <a:off x="3695662" y="2527105"/>
            <a:ext cx="254281" cy="27865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6953B6-4379-7308-AAF1-9256E796ED2D}"/>
              </a:ext>
            </a:extLst>
          </p:cNvPr>
          <p:cNvCxnSpPr>
            <a:cxnSpLocks/>
            <a:stCxn id="5" idx="4"/>
            <a:endCxn id="7" idx="1"/>
          </p:cNvCxnSpPr>
          <p:nvPr/>
        </p:nvCxnSpPr>
        <p:spPr>
          <a:xfrm>
            <a:off x="1964114" y="3193267"/>
            <a:ext cx="609420" cy="24229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4B2BBD-0611-3DE8-09D5-AEFD5550E677}"/>
              </a:ext>
            </a:extLst>
          </p:cNvPr>
          <p:cNvCxnSpPr>
            <a:cxnSpLocks/>
            <a:stCxn id="6" idx="4"/>
            <a:endCxn id="7" idx="7"/>
          </p:cNvCxnSpPr>
          <p:nvPr/>
        </p:nvCxnSpPr>
        <p:spPr>
          <a:xfrm flipH="1">
            <a:off x="2933141" y="3193267"/>
            <a:ext cx="582718" cy="24229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510BAC-11A2-5FD1-FFD8-1C4D64D39D59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266715" y="4405319"/>
            <a:ext cx="1029" cy="249693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33FE5AA-EB64-6D2F-7895-30B0A0F1861B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266714" y="5046657"/>
            <a:ext cx="1030" cy="245559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84B229B-BAC5-EC63-CB6F-B79FD4EDA398}"/>
              </a:ext>
            </a:extLst>
          </p:cNvPr>
          <p:cNvSpPr txBox="1"/>
          <p:nvPr/>
        </p:nvSpPr>
        <p:spPr>
          <a:xfrm>
            <a:off x="3160342" y="5077379"/>
            <a:ext cx="503412" cy="2121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y</a:t>
            </a:r>
            <a:endParaRPr lang="en-US" sz="1200" i="1" baseline="-25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F8C7B4-0E40-F35B-2B7B-BC4480A56999}"/>
              </a:ext>
            </a:extLst>
          </p:cNvPr>
          <p:cNvSpPr/>
          <p:nvPr/>
        </p:nvSpPr>
        <p:spPr>
          <a:xfrm>
            <a:off x="3019511" y="3962263"/>
            <a:ext cx="508562" cy="453998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32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+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5C38EF-4B0E-C4AF-1CF5-70C046A4B19E}"/>
              </a:ext>
            </a:extLst>
          </p:cNvPr>
          <p:cNvCxnSpPr>
            <a:cxnSpLocks/>
            <a:stCxn id="7" idx="4"/>
            <a:endCxn id="22" idx="1"/>
          </p:cNvCxnSpPr>
          <p:nvPr/>
        </p:nvCxnSpPr>
        <p:spPr>
          <a:xfrm>
            <a:off x="2753338" y="3823073"/>
            <a:ext cx="340650" cy="205675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9BF23F-09BA-5BC0-EC8E-1D60CA3BDE24}"/>
              </a:ext>
            </a:extLst>
          </p:cNvPr>
          <p:cNvCxnSpPr>
            <a:cxnSpLocks/>
            <a:endCxn id="22" idx="7"/>
          </p:cNvCxnSpPr>
          <p:nvPr/>
        </p:nvCxnSpPr>
        <p:spPr>
          <a:xfrm flipH="1">
            <a:off x="3453595" y="1881803"/>
            <a:ext cx="1211499" cy="214694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598EB09-7624-A89F-0DDA-E8FE92200E99}"/>
              </a:ext>
            </a:extLst>
          </p:cNvPr>
          <p:cNvSpPr txBox="1"/>
          <p:nvPr/>
        </p:nvSpPr>
        <p:spPr>
          <a:xfrm>
            <a:off x="4413388" y="1589873"/>
            <a:ext cx="503412" cy="2121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b</a:t>
            </a:r>
            <a:endParaRPr lang="en-US" sz="1200" i="1" baseline="-250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E1D9292-5B03-2561-F449-43ABBDB5FD6C}"/>
              </a:ext>
            </a:extLst>
          </p:cNvPr>
          <p:cNvSpPr/>
          <p:nvPr/>
        </p:nvSpPr>
        <p:spPr>
          <a:xfrm>
            <a:off x="7708954" y="2073107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xnor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090D73A-2E62-B542-65A8-EABABEAE059B}"/>
              </a:ext>
            </a:extLst>
          </p:cNvPr>
          <p:cNvSpPr/>
          <p:nvPr/>
        </p:nvSpPr>
        <p:spPr>
          <a:xfrm>
            <a:off x="7708954" y="2738386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popcount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28CEBB-9918-8EFA-6EA4-F977E6613DCF}"/>
              </a:ext>
            </a:extLst>
          </p:cNvPr>
          <p:cNvSpPr/>
          <p:nvPr/>
        </p:nvSpPr>
        <p:spPr>
          <a:xfrm>
            <a:off x="7708954" y="3408643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&gt;=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0A340EF-3E1C-BB63-3CBB-AF54F76F8652}"/>
              </a:ext>
            </a:extLst>
          </p:cNvPr>
          <p:cNvCxnSpPr/>
          <p:nvPr/>
        </p:nvCxnSpPr>
        <p:spPr>
          <a:xfrm>
            <a:off x="8096250" y="1802011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C10024D-65F0-4E15-47E5-58582D880EDC}"/>
              </a:ext>
            </a:extLst>
          </p:cNvPr>
          <p:cNvCxnSpPr/>
          <p:nvPr/>
        </p:nvCxnSpPr>
        <p:spPr>
          <a:xfrm>
            <a:off x="8712200" y="1802011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581FA82-4A48-1B04-FC75-D1900EFD9850}"/>
              </a:ext>
            </a:extLst>
          </p:cNvPr>
          <p:cNvSpPr txBox="1"/>
          <p:nvPr/>
        </p:nvSpPr>
        <p:spPr>
          <a:xfrm>
            <a:off x="7768088" y="1517669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x</a:t>
            </a:r>
            <a:r>
              <a:rPr lang="en-US" sz="1600" i="1" baseline="-25000" dirty="0"/>
              <a:t>0..3</a:t>
            </a:r>
            <a:endParaRPr lang="en-US" sz="1200" i="1" baseline="-25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3A28D87-8A3F-1F97-C6A3-9078D2C3ED77}"/>
              </a:ext>
            </a:extLst>
          </p:cNvPr>
          <p:cNvSpPr txBox="1"/>
          <p:nvPr/>
        </p:nvSpPr>
        <p:spPr>
          <a:xfrm>
            <a:off x="8460494" y="1524292"/>
            <a:ext cx="5034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w</a:t>
            </a:r>
            <a:r>
              <a:rPr lang="en-US" sz="1600" i="1" baseline="-25000" dirty="0"/>
              <a:t>0..3</a:t>
            </a:r>
            <a:endParaRPr lang="en-US" sz="1200" i="1" baseline="-250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B5ACE8D-2B8E-7762-0E19-7908AD03D4A7}"/>
              </a:ext>
            </a:extLst>
          </p:cNvPr>
          <p:cNvCxnSpPr/>
          <p:nvPr/>
        </p:nvCxnSpPr>
        <p:spPr>
          <a:xfrm>
            <a:off x="8404893" y="2468173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6395269-1412-BE25-86AA-1503300B77B6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>
            <a:off x="8398544" y="3130032"/>
            <a:ext cx="0" cy="27861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9FD7C6B-B1C7-6771-67D2-2844859B694A}"/>
              </a:ext>
            </a:extLst>
          </p:cNvPr>
          <p:cNvSpPr txBox="1"/>
          <p:nvPr/>
        </p:nvSpPr>
        <p:spPr>
          <a:xfrm>
            <a:off x="9230366" y="3472963"/>
            <a:ext cx="13312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threshold</a:t>
            </a:r>
            <a:endParaRPr lang="en-US" sz="1200" i="1" baseline="-250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D014946-583F-AB8E-F943-E568EB59F947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9088133" y="3604466"/>
            <a:ext cx="284467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805D3EA-D532-95BC-AADF-01CD7F95D3E6}"/>
              </a:ext>
            </a:extLst>
          </p:cNvPr>
          <p:cNvCxnSpPr>
            <a:cxnSpLocks/>
          </p:cNvCxnSpPr>
          <p:nvPr/>
        </p:nvCxnSpPr>
        <p:spPr>
          <a:xfrm>
            <a:off x="8404893" y="3809345"/>
            <a:ext cx="0" cy="27861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3C95A32-DE2F-EB18-80EF-07557E85F6F9}"/>
              </a:ext>
            </a:extLst>
          </p:cNvPr>
          <p:cNvSpPr txBox="1"/>
          <p:nvPr/>
        </p:nvSpPr>
        <p:spPr>
          <a:xfrm>
            <a:off x="8329242" y="3837473"/>
            <a:ext cx="503412" cy="2121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y</a:t>
            </a:r>
            <a:endParaRPr lang="en-US" sz="1200" i="1" baseline="-25000" dirty="0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42395021-E421-5252-D766-CA297E10723A}"/>
              </a:ext>
            </a:extLst>
          </p:cNvPr>
          <p:cNvSpPr/>
          <p:nvPr/>
        </p:nvSpPr>
        <p:spPr>
          <a:xfrm>
            <a:off x="5437241" y="2640589"/>
            <a:ext cx="1128828" cy="873199"/>
          </a:xfrm>
          <a:prstGeom prst="rightArrow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584200" rtl="0" latinLnBrk="1" hangingPunct="0"/>
            <a:endParaRPr lang="en-US"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85424383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9FF3-4780-6575-B8EC-A8CAC6E5B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E22BC0-4855-F78D-6041-CA2DA0D34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Neuron Processor (NP) Architecture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CE897ED-14D0-BC10-FC78-5D8E6A24D7B7}"/>
              </a:ext>
            </a:extLst>
          </p:cNvPr>
          <p:cNvSpPr/>
          <p:nvPr/>
        </p:nvSpPr>
        <p:spPr>
          <a:xfrm>
            <a:off x="8307143" y="2077472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xnor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992D1A-40D7-6625-D7E0-93E038793378}"/>
              </a:ext>
            </a:extLst>
          </p:cNvPr>
          <p:cNvSpPr/>
          <p:nvPr/>
        </p:nvSpPr>
        <p:spPr>
          <a:xfrm>
            <a:off x="8307143" y="2742751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popcount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2455B02-711D-7A41-915C-64686DA5BE9C}"/>
              </a:ext>
            </a:extLst>
          </p:cNvPr>
          <p:cNvCxnSpPr/>
          <p:nvPr/>
        </p:nvCxnSpPr>
        <p:spPr>
          <a:xfrm>
            <a:off x="8503939" y="1806376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8CE7CC4-D58A-6BF9-4CDF-D73A7DA70A60}"/>
              </a:ext>
            </a:extLst>
          </p:cNvPr>
          <p:cNvCxnSpPr/>
          <p:nvPr/>
        </p:nvCxnSpPr>
        <p:spPr>
          <a:xfrm>
            <a:off x="9519939" y="1806376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3EB0E78-A99D-3D99-BC04-545D5842867D}"/>
              </a:ext>
            </a:extLst>
          </p:cNvPr>
          <p:cNvSpPr txBox="1"/>
          <p:nvPr/>
        </p:nvSpPr>
        <p:spPr>
          <a:xfrm>
            <a:off x="8056236" y="1469939"/>
            <a:ext cx="9054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x[0..P</a:t>
            </a:r>
            <a:r>
              <a:rPr lang="en-US" sz="1600" baseline="-25000" dirty="0"/>
              <a:t>w</a:t>
            </a:r>
            <a:r>
              <a:rPr lang="en-US" sz="1600" i="1" dirty="0"/>
              <a:t>-1]</a:t>
            </a:r>
            <a:endParaRPr lang="en-US" sz="1200" i="1" baseline="-250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9D758EF-5CF6-4661-38BA-FAF98CDDB3FB}"/>
              </a:ext>
            </a:extLst>
          </p:cNvPr>
          <p:cNvCxnSpPr/>
          <p:nvPr/>
        </p:nvCxnSpPr>
        <p:spPr>
          <a:xfrm>
            <a:off x="9003082" y="2472538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51E1F81-DF88-B37E-D09A-D7A8718E92A7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8996732" y="3134397"/>
            <a:ext cx="1" cy="25997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E81E608-40D2-C7A3-4EC4-B17E9F67F59B}"/>
              </a:ext>
            </a:extLst>
          </p:cNvPr>
          <p:cNvSpPr txBox="1"/>
          <p:nvPr/>
        </p:nvSpPr>
        <p:spPr>
          <a:xfrm>
            <a:off x="10276244" y="1480017"/>
            <a:ext cx="13312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threshold</a:t>
            </a:r>
            <a:endParaRPr lang="en-US" sz="1200" i="1" baseline="-250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CD03B4D-D499-FAF0-89F4-E914D2A7478C}"/>
              </a:ext>
            </a:extLst>
          </p:cNvPr>
          <p:cNvCxnSpPr>
            <a:cxnSpLocks/>
            <a:stCxn id="61" idx="2"/>
            <a:endCxn id="70" idx="0"/>
          </p:cNvCxnSpPr>
          <p:nvPr/>
        </p:nvCxnSpPr>
        <p:spPr>
          <a:xfrm flipH="1">
            <a:off x="8983834" y="3796256"/>
            <a:ext cx="1" cy="402738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2B25AA7-8994-206C-D3DC-05136FB0664F}"/>
              </a:ext>
            </a:extLst>
          </p:cNvPr>
          <p:cNvCxnSpPr>
            <a:cxnSpLocks/>
          </p:cNvCxnSpPr>
          <p:nvPr/>
        </p:nvCxnSpPr>
        <p:spPr>
          <a:xfrm>
            <a:off x="8990185" y="4597447"/>
            <a:ext cx="0" cy="27861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003FBB3-D7F0-E24C-4C4D-8D3E7A636F54}"/>
              </a:ext>
            </a:extLst>
          </p:cNvPr>
          <p:cNvSpPr txBox="1"/>
          <p:nvPr/>
        </p:nvSpPr>
        <p:spPr>
          <a:xfrm>
            <a:off x="8914534" y="4625575"/>
            <a:ext cx="503412" cy="2121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y</a:t>
            </a:r>
            <a:endParaRPr lang="en-US" sz="1200" i="1" baseline="-25000" dirty="0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C6406937-CF3F-497C-7C25-79C41B502F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231901"/>
            <a:ext cx="7119169" cy="4962904"/>
          </a:xfrm>
        </p:spPr>
        <p:txBody>
          <a:bodyPr/>
          <a:lstStyle/>
          <a:p>
            <a:r>
              <a:rPr lang="en-US" sz="2000" dirty="0"/>
              <a:t>NP accepts P</a:t>
            </a:r>
            <a:r>
              <a:rPr lang="en-US" sz="2000" baseline="-25000" dirty="0"/>
              <a:t>w</a:t>
            </a:r>
            <a:r>
              <a:rPr lang="en-US" sz="2000" dirty="0"/>
              <a:t> weights/inputs per cycle</a:t>
            </a:r>
            <a:endParaRPr lang="en-US" sz="2000" baseline="-25000" dirty="0"/>
          </a:p>
          <a:p>
            <a:pPr lvl="1"/>
            <a:r>
              <a:rPr lang="en-US" sz="1800" dirty="0"/>
              <a:t>P</a:t>
            </a:r>
            <a:r>
              <a:rPr lang="en-US" sz="1800" baseline="-25000" dirty="0"/>
              <a:t>w</a:t>
            </a:r>
            <a:r>
              <a:rPr lang="en-US" sz="1800" dirty="0"/>
              <a:t>: parallel weights/inputs</a:t>
            </a:r>
          </a:p>
          <a:p>
            <a:pPr lvl="1"/>
            <a:r>
              <a:rPr lang="en-US" sz="1800" dirty="0"/>
              <a:t>If neuron’s inputs/weights N &lt;= P</a:t>
            </a:r>
            <a:r>
              <a:rPr lang="en-US" sz="1800" baseline="-25000" dirty="0"/>
              <a:t>w</a:t>
            </a:r>
            <a:r>
              <a:rPr lang="en-US" sz="1800" dirty="0"/>
              <a:t>, NP requires only one pass</a:t>
            </a:r>
          </a:p>
          <a:p>
            <a:pPr lvl="1"/>
            <a:r>
              <a:rPr lang="en-US" sz="1800" dirty="0"/>
              <a:t>For N &gt; P</a:t>
            </a:r>
            <a:r>
              <a:rPr lang="en-US" sz="1800" baseline="-25000" dirty="0"/>
              <a:t>w</a:t>
            </a:r>
            <a:r>
              <a:rPr lang="en-US" sz="1800" dirty="0"/>
              <a:t>, accumulate the </a:t>
            </a:r>
            <a:r>
              <a:rPr lang="en-US" sz="1800" dirty="0" err="1"/>
              <a:t>popcounts</a:t>
            </a:r>
            <a:r>
              <a:rPr lang="en-US" sz="1800" dirty="0"/>
              <a:t> of each iteration</a:t>
            </a:r>
          </a:p>
          <a:p>
            <a:pPr lvl="1"/>
            <a:r>
              <a:rPr lang="en-US" sz="1800" dirty="0"/>
              <a:t>Total number of iterations = ceil(N / P</a:t>
            </a:r>
            <a:r>
              <a:rPr lang="en-US" sz="1800" baseline="-25000" dirty="0"/>
              <a:t>w</a:t>
            </a:r>
            <a:r>
              <a:rPr lang="en-US" sz="1800" dirty="0"/>
              <a:t>)</a:t>
            </a:r>
          </a:p>
          <a:p>
            <a:pPr lvl="2"/>
            <a:r>
              <a:rPr lang="en-US" sz="1400" dirty="0"/>
              <a:t>N = 128, P</a:t>
            </a:r>
            <a:r>
              <a:rPr lang="en-US" sz="1400" baseline="-25000" dirty="0"/>
              <a:t>W</a:t>
            </a:r>
            <a:r>
              <a:rPr lang="en-US" sz="1400" dirty="0"/>
              <a:t> = 16, each NP requires 8 iterations to complete a neuron</a:t>
            </a:r>
          </a:p>
          <a:p>
            <a:r>
              <a:rPr lang="en-US" sz="2000" dirty="0"/>
              <a:t>Important: pipelining options and valid logic not shown</a:t>
            </a:r>
          </a:p>
          <a:p>
            <a:r>
              <a:rPr lang="en-US" sz="2000" dirty="0"/>
              <a:t>Basic building block of entire BNN</a:t>
            </a:r>
          </a:p>
          <a:p>
            <a:pPr lvl="1"/>
            <a:r>
              <a:rPr lang="en-US" sz="1800" dirty="0"/>
              <a:t>BNN simply replicates NP and steers data to each instance</a:t>
            </a:r>
          </a:p>
          <a:p>
            <a:pPr lvl="1"/>
            <a:r>
              <a:rPr lang="en-US" sz="1800" dirty="0"/>
              <a:t>Data movement is significant challenge</a:t>
            </a:r>
          </a:p>
          <a:p>
            <a:r>
              <a:rPr lang="en-US" sz="2000" dirty="0"/>
              <a:t>Significant optimization potential for different use cases</a:t>
            </a:r>
          </a:p>
          <a:p>
            <a:pPr lvl="1"/>
            <a:r>
              <a:rPr lang="en-US" sz="1800" dirty="0"/>
              <a:t>Can be easily pipelined</a:t>
            </a:r>
          </a:p>
          <a:p>
            <a:pPr lvl="1"/>
            <a:r>
              <a:rPr lang="en-US" sz="1800" dirty="0"/>
              <a:t>Can specialize </a:t>
            </a:r>
            <a:r>
              <a:rPr lang="en-US" sz="1800" dirty="0" err="1"/>
              <a:t>popcount</a:t>
            </a:r>
            <a:r>
              <a:rPr lang="en-US" sz="1800" dirty="0"/>
              <a:t> and </a:t>
            </a:r>
            <a:r>
              <a:rPr lang="en-US" sz="1800" dirty="0" err="1"/>
              <a:t>xnor</a:t>
            </a:r>
            <a:r>
              <a:rPr lang="en-US" sz="1800" dirty="0"/>
              <a:t> for different P</a:t>
            </a:r>
            <a:r>
              <a:rPr lang="en-US" sz="1800" baseline="-25000" dirty="0"/>
              <a:t>w</a:t>
            </a:r>
          </a:p>
          <a:p>
            <a:pPr marL="461962" lvl="1" indent="0">
              <a:buNone/>
            </a:pPr>
            <a:endParaRPr lang="en-US" sz="1800" dirty="0"/>
          </a:p>
          <a:p>
            <a:endParaRPr lang="en-US" sz="2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E5E892-2963-227B-212B-417D9165E5DC}"/>
              </a:ext>
            </a:extLst>
          </p:cNvPr>
          <p:cNvSpPr txBox="1"/>
          <p:nvPr/>
        </p:nvSpPr>
        <p:spPr>
          <a:xfrm>
            <a:off x="9166240" y="1462243"/>
            <a:ext cx="9054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w[0..P</a:t>
            </a:r>
            <a:r>
              <a:rPr lang="en-US" sz="1600" baseline="-25000" dirty="0"/>
              <a:t>w</a:t>
            </a:r>
            <a:r>
              <a:rPr lang="en-US" sz="1600" i="1" dirty="0"/>
              <a:t>-1]</a:t>
            </a:r>
            <a:endParaRPr lang="en-US" sz="1200" i="1" baseline="-25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075174-5303-CEEE-CCE7-B914034AF096}"/>
              </a:ext>
            </a:extLst>
          </p:cNvPr>
          <p:cNvSpPr/>
          <p:nvPr/>
        </p:nvSpPr>
        <p:spPr>
          <a:xfrm>
            <a:off x="8684842" y="3404610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+</a:t>
            </a: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4581196B-806D-194E-8A56-0AAD52581294}"/>
              </a:ext>
            </a:extLst>
          </p:cNvPr>
          <p:cNvCxnSpPr>
            <a:stCxn id="61" idx="2"/>
            <a:endCxn id="61" idx="3"/>
          </p:cNvCxnSpPr>
          <p:nvPr/>
        </p:nvCxnSpPr>
        <p:spPr>
          <a:xfrm rot="5400000" flipH="1" flipV="1">
            <a:off x="9035419" y="3548848"/>
            <a:ext cx="195823" cy="298993"/>
          </a:xfrm>
          <a:prstGeom prst="bentConnector4">
            <a:avLst>
              <a:gd name="adj1" fmla="val -87554"/>
              <a:gd name="adj2" fmla="val 176457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C76D2C19-4E94-A6A0-B99D-A6F8C526925E}"/>
              </a:ext>
            </a:extLst>
          </p:cNvPr>
          <p:cNvSpPr/>
          <p:nvPr/>
        </p:nvSpPr>
        <p:spPr>
          <a:xfrm>
            <a:off x="8684841" y="4198994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&gt;=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1C98544F-9A43-A43E-5D28-9FBB47F6795A}"/>
              </a:ext>
            </a:extLst>
          </p:cNvPr>
          <p:cNvCxnSpPr>
            <a:cxnSpLocks/>
            <a:stCxn id="57" idx="2"/>
            <a:endCxn id="70" idx="3"/>
          </p:cNvCxnSpPr>
          <p:nvPr/>
        </p:nvCxnSpPr>
        <p:spPr>
          <a:xfrm rot="5400000">
            <a:off x="8778048" y="2231017"/>
            <a:ext cx="2668579" cy="1659020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31421867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80131-3022-6007-A3C3-BB7B0B3B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2FCAAF-AB5B-4D37-F955-ACCDBCD1F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Neuron Processor (NP) Architecture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A22F622-4522-5775-0FC1-AE87F2EE922C}"/>
              </a:ext>
            </a:extLst>
          </p:cNvPr>
          <p:cNvSpPr/>
          <p:nvPr/>
        </p:nvSpPr>
        <p:spPr>
          <a:xfrm>
            <a:off x="8307143" y="2077472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xnor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66B12D-18B3-8B3A-594A-C2440F285964}"/>
              </a:ext>
            </a:extLst>
          </p:cNvPr>
          <p:cNvSpPr/>
          <p:nvPr/>
        </p:nvSpPr>
        <p:spPr>
          <a:xfrm>
            <a:off x="8307143" y="2742751"/>
            <a:ext cx="1379179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popcount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DD93CD1-5C4A-495F-6FA3-02483CF560AE}"/>
              </a:ext>
            </a:extLst>
          </p:cNvPr>
          <p:cNvCxnSpPr/>
          <p:nvPr/>
        </p:nvCxnSpPr>
        <p:spPr>
          <a:xfrm>
            <a:off x="8503939" y="1806376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A8A5D7C-4E49-E8EA-6E03-E7990AF5C3B9}"/>
              </a:ext>
            </a:extLst>
          </p:cNvPr>
          <p:cNvCxnSpPr/>
          <p:nvPr/>
        </p:nvCxnSpPr>
        <p:spPr>
          <a:xfrm>
            <a:off x="9519939" y="1806376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EB16CAE-B7B0-FA86-2924-7A812D05BF93}"/>
              </a:ext>
            </a:extLst>
          </p:cNvPr>
          <p:cNvSpPr txBox="1"/>
          <p:nvPr/>
        </p:nvSpPr>
        <p:spPr>
          <a:xfrm>
            <a:off x="8056236" y="1469939"/>
            <a:ext cx="9054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x[0..P</a:t>
            </a:r>
            <a:r>
              <a:rPr lang="en-US" sz="1600" baseline="-25000" dirty="0"/>
              <a:t>w</a:t>
            </a:r>
            <a:r>
              <a:rPr lang="en-US" sz="1600" i="1" dirty="0"/>
              <a:t>-1]</a:t>
            </a:r>
            <a:endParaRPr lang="en-US" sz="1200" i="1" baseline="-250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3A0EE44-B8E7-AD15-96BD-B9A89BBD7D53}"/>
              </a:ext>
            </a:extLst>
          </p:cNvPr>
          <p:cNvCxnSpPr/>
          <p:nvPr/>
        </p:nvCxnSpPr>
        <p:spPr>
          <a:xfrm>
            <a:off x="9003082" y="2472538"/>
            <a:ext cx="0" cy="27109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3DE3B18-828E-9C9A-F0DC-78620B58BD59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8996732" y="3134397"/>
            <a:ext cx="1" cy="25997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3093CAC-EA81-25C3-411F-5C66208826A6}"/>
              </a:ext>
            </a:extLst>
          </p:cNvPr>
          <p:cNvSpPr txBox="1"/>
          <p:nvPr/>
        </p:nvSpPr>
        <p:spPr>
          <a:xfrm>
            <a:off x="10276244" y="1480017"/>
            <a:ext cx="133120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threshold</a:t>
            </a:r>
            <a:endParaRPr lang="en-US" sz="1200" i="1" baseline="-250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B53D9AE-7874-3A73-9D54-EF2E09FB55D8}"/>
              </a:ext>
            </a:extLst>
          </p:cNvPr>
          <p:cNvCxnSpPr>
            <a:cxnSpLocks/>
            <a:stCxn id="61" idx="2"/>
            <a:endCxn id="70" idx="0"/>
          </p:cNvCxnSpPr>
          <p:nvPr/>
        </p:nvCxnSpPr>
        <p:spPr>
          <a:xfrm flipH="1">
            <a:off x="8983834" y="3796256"/>
            <a:ext cx="1" cy="402738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D2DFC848-20D1-B253-429D-91B3B64238B6}"/>
              </a:ext>
            </a:extLst>
          </p:cNvPr>
          <p:cNvCxnSpPr>
            <a:cxnSpLocks/>
          </p:cNvCxnSpPr>
          <p:nvPr/>
        </p:nvCxnSpPr>
        <p:spPr>
          <a:xfrm>
            <a:off x="8990185" y="4597447"/>
            <a:ext cx="0" cy="27861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68C4EE6-FA7C-F62A-F461-477BB0BECA69}"/>
              </a:ext>
            </a:extLst>
          </p:cNvPr>
          <p:cNvSpPr txBox="1"/>
          <p:nvPr/>
        </p:nvSpPr>
        <p:spPr>
          <a:xfrm>
            <a:off x="8914534" y="4625575"/>
            <a:ext cx="503412" cy="2121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y</a:t>
            </a:r>
            <a:endParaRPr lang="en-US" sz="1200" i="1" baseline="-25000" dirty="0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49F18B5D-5A80-203F-AC5C-59402A590D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231901"/>
            <a:ext cx="7453589" cy="4962904"/>
          </a:xfrm>
        </p:spPr>
        <p:txBody>
          <a:bodyPr/>
          <a:lstStyle/>
          <a:p>
            <a:r>
              <a:rPr lang="en-US" sz="2000" dirty="0"/>
              <a:t>What happens if N is not a multiple of P</a:t>
            </a:r>
            <a:r>
              <a:rPr lang="en-US" sz="2000" baseline="-25000" dirty="0"/>
              <a:t>w</a:t>
            </a:r>
            <a:r>
              <a:rPr lang="en-US" sz="2000" dirty="0"/>
              <a:t>?</a:t>
            </a:r>
          </a:p>
          <a:p>
            <a:pPr lvl="1"/>
            <a:r>
              <a:rPr lang="en-US" sz="1800" dirty="0"/>
              <a:t>NP has to receive multiples of P</a:t>
            </a:r>
            <a:r>
              <a:rPr lang="en-US" sz="1800" baseline="-25000" dirty="0"/>
              <a:t>w</a:t>
            </a:r>
          </a:p>
          <a:p>
            <a:r>
              <a:rPr lang="en-US" sz="2000" dirty="0"/>
              <a:t>Cheapest option: round up and pad</a:t>
            </a:r>
          </a:p>
          <a:p>
            <a:pPr lvl="1"/>
            <a:r>
              <a:rPr lang="en-US" sz="1800" dirty="0"/>
              <a:t>e.g., N = 12, P</a:t>
            </a:r>
            <a:r>
              <a:rPr lang="en-US" sz="1800" baseline="-25000" dirty="0"/>
              <a:t>w</a:t>
            </a:r>
            <a:r>
              <a:rPr lang="en-US" sz="1800" dirty="0"/>
              <a:t> = 8, round N up to 16 with 4 padded weights</a:t>
            </a:r>
          </a:p>
          <a:p>
            <a:pPr lvl="1"/>
            <a:r>
              <a:rPr lang="en-US" sz="1800" dirty="0"/>
              <a:t>Pad extra weights and inputs in a way that doesn’t affect output</a:t>
            </a:r>
          </a:p>
          <a:p>
            <a:pPr lvl="1"/>
            <a:r>
              <a:rPr lang="en-US" sz="1800" dirty="0"/>
              <a:t>For non-binary neural nets, padding weights with 0 would work because of multiplication by 0</a:t>
            </a:r>
          </a:p>
          <a:p>
            <a:pPr lvl="2"/>
            <a:r>
              <a:rPr lang="en-US" sz="1400" dirty="0"/>
              <a:t>But, BNN doesn’t perform multiplication</a:t>
            </a:r>
          </a:p>
          <a:p>
            <a:pPr lvl="1"/>
            <a:r>
              <a:rPr lang="en-US" sz="1800" dirty="0"/>
              <a:t>Remember what the binary neuron is doing:</a:t>
            </a:r>
          </a:p>
          <a:p>
            <a:pPr lvl="2"/>
            <a:r>
              <a:rPr lang="en-US" sz="1400" dirty="0"/>
              <a:t>Counting matches between weights and inputs</a:t>
            </a:r>
          </a:p>
          <a:p>
            <a:pPr lvl="1"/>
            <a:r>
              <a:rPr lang="en-US" sz="1800" b="1" dirty="0"/>
              <a:t>If we pad the weights to ensure differences with the input, it will not affect the </a:t>
            </a:r>
            <a:r>
              <a:rPr lang="en-US" sz="1800" b="1" dirty="0" err="1"/>
              <a:t>popcount</a:t>
            </a:r>
            <a:endParaRPr lang="en-US" sz="1800" b="1" dirty="0"/>
          </a:p>
          <a:p>
            <a:pPr lvl="2"/>
            <a:r>
              <a:rPr lang="en-US" sz="1400" dirty="0"/>
              <a:t>E.g. use 1s to pad weights, use 0s to pad inputs</a:t>
            </a:r>
          </a:p>
          <a:p>
            <a:r>
              <a:rPr lang="en-US" sz="2000" dirty="0"/>
              <a:t>Other options: masking</a:t>
            </a:r>
          </a:p>
          <a:p>
            <a:pPr lvl="1"/>
            <a:r>
              <a:rPr lang="en-US" sz="1800" dirty="0"/>
              <a:t>Add masks that causes </a:t>
            </a:r>
            <a:r>
              <a:rPr lang="en-US" sz="1800" dirty="0" err="1"/>
              <a:t>popcount</a:t>
            </a:r>
            <a:r>
              <a:rPr lang="en-US" sz="1800" dirty="0"/>
              <a:t> to ignore padded bits</a:t>
            </a:r>
          </a:p>
          <a:p>
            <a:pPr lvl="2"/>
            <a:r>
              <a:rPr lang="en-US" sz="1400" dirty="0"/>
              <a:t>Much more expensive</a:t>
            </a:r>
          </a:p>
          <a:p>
            <a:endParaRPr lang="en-US" sz="2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ACC7BD0-7872-681A-3DED-5E28F5C0782D}"/>
              </a:ext>
            </a:extLst>
          </p:cNvPr>
          <p:cNvSpPr txBox="1"/>
          <p:nvPr/>
        </p:nvSpPr>
        <p:spPr>
          <a:xfrm>
            <a:off x="9166240" y="1462243"/>
            <a:ext cx="9054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w[0..P</a:t>
            </a:r>
            <a:r>
              <a:rPr lang="en-US" sz="1600" baseline="-25000" dirty="0"/>
              <a:t>w</a:t>
            </a:r>
            <a:r>
              <a:rPr lang="en-US" sz="1600" i="1" dirty="0"/>
              <a:t>-1]</a:t>
            </a:r>
            <a:endParaRPr lang="en-US" sz="1200" i="1" baseline="-25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986A33A-28C8-6BB6-77BF-A07C60CFFDA6}"/>
              </a:ext>
            </a:extLst>
          </p:cNvPr>
          <p:cNvSpPr/>
          <p:nvPr/>
        </p:nvSpPr>
        <p:spPr>
          <a:xfrm>
            <a:off x="8684842" y="3404610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+</a:t>
            </a: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22E6E1CE-E1B1-6A03-4CE5-CAC1C56D4345}"/>
              </a:ext>
            </a:extLst>
          </p:cNvPr>
          <p:cNvCxnSpPr>
            <a:stCxn id="61" idx="2"/>
            <a:endCxn id="61" idx="3"/>
          </p:cNvCxnSpPr>
          <p:nvPr/>
        </p:nvCxnSpPr>
        <p:spPr>
          <a:xfrm rot="5400000" flipH="1" flipV="1">
            <a:off x="9035419" y="3548848"/>
            <a:ext cx="195823" cy="298993"/>
          </a:xfrm>
          <a:prstGeom prst="bentConnector4">
            <a:avLst>
              <a:gd name="adj1" fmla="val -87554"/>
              <a:gd name="adj2" fmla="val 176457"/>
            </a:avLst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B2800A9F-40CD-A40B-DDC6-08F1D6E2EAAE}"/>
              </a:ext>
            </a:extLst>
          </p:cNvPr>
          <p:cNvSpPr/>
          <p:nvPr/>
        </p:nvSpPr>
        <p:spPr>
          <a:xfrm>
            <a:off x="8684841" y="4198994"/>
            <a:ext cx="59798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&gt;=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F2D295C2-9E1B-7DA5-7EB3-340CAAE11F38}"/>
              </a:ext>
            </a:extLst>
          </p:cNvPr>
          <p:cNvCxnSpPr>
            <a:cxnSpLocks/>
            <a:stCxn id="57" idx="2"/>
            <a:endCxn id="70" idx="3"/>
          </p:cNvCxnSpPr>
          <p:nvPr/>
        </p:nvCxnSpPr>
        <p:spPr>
          <a:xfrm rot="5400000">
            <a:off x="8778048" y="2231017"/>
            <a:ext cx="2668579" cy="1659020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98268304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7C8B3D-2E82-F093-356C-6E4CB1C4B0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Input is 8-bit pixels, must be “binarized” for BNN</a:t>
            </a:r>
          </a:p>
          <a:p>
            <a:pPr lvl="1"/>
            <a:r>
              <a:rPr lang="en-US" dirty="0"/>
              <a:t>We’ll use a simple threshold:</a:t>
            </a:r>
          </a:p>
          <a:p>
            <a:pPr lvl="2"/>
            <a:r>
              <a:rPr lang="en-US" dirty="0"/>
              <a:t>If pixel &gt;= 128 then input is 1 else 0</a:t>
            </a:r>
          </a:p>
          <a:p>
            <a:r>
              <a:rPr lang="en-US" dirty="0"/>
              <a:t>Output layer needs special treatment</a:t>
            </a:r>
          </a:p>
          <a:p>
            <a:pPr lvl="1"/>
            <a:r>
              <a:rPr lang="en-US" dirty="0"/>
              <a:t>If binarized, the BNN would simply output 10 bits (one for each digit)</a:t>
            </a:r>
          </a:p>
          <a:p>
            <a:pPr lvl="1"/>
            <a:r>
              <a:rPr lang="en-US" dirty="0"/>
              <a:t>Problem: unless only one output is asserted (unlikely), no way to identify most probable digit</a:t>
            </a:r>
          </a:p>
          <a:p>
            <a:pPr lvl="1"/>
            <a:r>
              <a:rPr lang="en-US" dirty="0"/>
              <a:t>Solution: Output layer skips the thresholding comparison, outputs </a:t>
            </a:r>
            <a:r>
              <a:rPr lang="en-US" dirty="0" err="1"/>
              <a:t>popcount</a:t>
            </a:r>
            <a:r>
              <a:rPr lang="en-US" dirty="0"/>
              <a:t> value</a:t>
            </a:r>
          </a:p>
          <a:p>
            <a:pPr lvl="2"/>
            <a:r>
              <a:rPr lang="en-US" dirty="0"/>
              <a:t>Additional logic (argmax) chooses output based on neuron with maximum </a:t>
            </a:r>
            <a:r>
              <a:rPr lang="en-US" dirty="0" err="1"/>
              <a:t>popcount</a:t>
            </a:r>
            <a:endParaRPr lang="en-US" dirty="0"/>
          </a:p>
          <a:p>
            <a:pPr lvl="2"/>
            <a:r>
              <a:rPr lang="en-US" dirty="0"/>
              <a:t>i.e. output layer outputs counts, argmax returns the output with the largest count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438C83-6FF7-7B7E-D328-08C1D8008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Problem to BNN</a:t>
            </a:r>
          </a:p>
        </p:txBody>
      </p:sp>
    </p:spTree>
    <p:extLst>
      <p:ext uri="{BB962C8B-B14F-4D97-AF65-F5344CB8AC3E}">
        <p14:creationId xmlns:p14="http://schemas.microsoft.com/office/powerpoint/2010/main" val="1866746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71FB8-C661-D63F-D745-08878CEC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134484-646A-9479-9CC9-7EA6ACF597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5022850"/>
            <a:ext cx="11657824" cy="11719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9508FC-9138-D8CE-9F17-49FEABE8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Problem to BNN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6F9C4E-0EEF-094B-4258-0FC2A3038C9D}"/>
              </a:ext>
            </a:extLst>
          </p:cNvPr>
          <p:cNvCxnSpPr>
            <a:cxnSpLocks/>
          </p:cNvCxnSpPr>
          <p:nvPr/>
        </p:nvCxnSpPr>
        <p:spPr>
          <a:xfrm flipH="1">
            <a:off x="3397101" y="2337961"/>
            <a:ext cx="321651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C57494-C7BD-8055-793F-2A02FACA20DC}"/>
              </a:ext>
            </a:extLst>
          </p:cNvPr>
          <p:cNvCxnSpPr>
            <a:cxnSpLocks/>
          </p:cNvCxnSpPr>
          <p:nvPr/>
        </p:nvCxnSpPr>
        <p:spPr>
          <a:xfrm>
            <a:off x="3718752" y="2337961"/>
            <a:ext cx="0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C1A1C2-58D4-5310-515F-E7D40547F75B}"/>
              </a:ext>
            </a:extLst>
          </p:cNvPr>
          <p:cNvCxnSpPr>
            <a:cxnSpLocks/>
          </p:cNvCxnSpPr>
          <p:nvPr/>
        </p:nvCxnSpPr>
        <p:spPr>
          <a:xfrm>
            <a:off x="3718752" y="2337961"/>
            <a:ext cx="261378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432148-28A4-08FC-09C8-55CB330AC4F3}"/>
              </a:ext>
            </a:extLst>
          </p:cNvPr>
          <p:cNvCxnSpPr>
            <a:cxnSpLocks/>
          </p:cNvCxnSpPr>
          <p:nvPr/>
        </p:nvCxnSpPr>
        <p:spPr>
          <a:xfrm>
            <a:off x="3718752" y="2337961"/>
            <a:ext cx="520625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E861F95-938A-C4D5-0C4E-CF2C3FB60E31}"/>
              </a:ext>
            </a:extLst>
          </p:cNvPr>
          <p:cNvSpPr/>
          <p:nvPr/>
        </p:nvSpPr>
        <p:spPr>
          <a:xfrm>
            <a:off x="2698804" y="1938069"/>
            <a:ext cx="223114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Binarize Inputs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B27EF33-E3B0-77FA-0D7E-BA86B58D9A81}"/>
              </a:ext>
            </a:extLst>
          </p:cNvPr>
          <p:cNvSpPr/>
          <p:nvPr/>
        </p:nvSpPr>
        <p:spPr>
          <a:xfrm>
            <a:off x="1685831" y="2703702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B84D78A-9AA8-107F-BF61-B79419FBCFF6}"/>
              </a:ext>
            </a:extLst>
          </p:cNvPr>
          <p:cNvCxnSpPr>
            <a:cxnSpLocks/>
            <a:stCxn id="66" idx="4"/>
          </p:cNvCxnSpPr>
          <p:nvPr/>
        </p:nvCxnSpPr>
        <p:spPr>
          <a:xfrm flipH="1">
            <a:off x="1563155" y="3101651"/>
            <a:ext cx="321651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35B79B8-3833-3F72-F342-6A5632C1FBEE}"/>
              </a:ext>
            </a:extLst>
          </p:cNvPr>
          <p:cNvCxnSpPr>
            <a:cxnSpLocks/>
            <a:stCxn id="66" idx="4"/>
          </p:cNvCxnSpPr>
          <p:nvPr/>
        </p:nvCxnSpPr>
        <p:spPr>
          <a:xfrm>
            <a:off x="1884806" y="3101651"/>
            <a:ext cx="0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48F32B2-50E0-41C6-9806-F7033E0661F7}"/>
              </a:ext>
            </a:extLst>
          </p:cNvPr>
          <p:cNvCxnSpPr>
            <a:cxnSpLocks/>
            <a:stCxn id="66" idx="4"/>
          </p:cNvCxnSpPr>
          <p:nvPr/>
        </p:nvCxnSpPr>
        <p:spPr>
          <a:xfrm>
            <a:off x="1884806" y="3101651"/>
            <a:ext cx="261378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730721B-7D85-2989-A495-708D9ECC0AE9}"/>
              </a:ext>
            </a:extLst>
          </p:cNvPr>
          <p:cNvCxnSpPr>
            <a:cxnSpLocks/>
            <a:stCxn id="66" idx="4"/>
          </p:cNvCxnSpPr>
          <p:nvPr/>
        </p:nvCxnSpPr>
        <p:spPr>
          <a:xfrm>
            <a:off x="1884806" y="3101651"/>
            <a:ext cx="520625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487A9179-C422-D287-B92E-F02DD2BC0C4E}"/>
              </a:ext>
            </a:extLst>
          </p:cNvPr>
          <p:cNvSpPr/>
          <p:nvPr/>
        </p:nvSpPr>
        <p:spPr>
          <a:xfrm>
            <a:off x="2621971" y="2714512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972AA6B-5C96-AFE3-98F0-C5F35BC9FD22}"/>
              </a:ext>
            </a:extLst>
          </p:cNvPr>
          <p:cNvCxnSpPr>
            <a:cxnSpLocks/>
            <a:stCxn id="76" idx="4"/>
          </p:cNvCxnSpPr>
          <p:nvPr/>
        </p:nvCxnSpPr>
        <p:spPr>
          <a:xfrm flipH="1">
            <a:off x="2499295" y="3112461"/>
            <a:ext cx="321651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7D95405-BB64-BB66-A369-A8D3564BC323}"/>
              </a:ext>
            </a:extLst>
          </p:cNvPr>
          <p:cNvCxnSpPr>
            <a:cxnSpLocks/>
            <a:stCxn id="76" idx="4"/>
          </p:cNvCxnSpPr>
          <p:nvPr/>
        </p:nvCxnSpPr>
        <p:spPr>
          <a:xfrm>
            <a:off x="2820946" y="3112461"/>
            <a:ext cx="0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44BCC48-686D-0FB5-9BC8-1AA43502D75B}"/>
              </a:ext>
            </a:extLst>
          </p:cNvPr>
          <p:cNvCxnSpPr>
            <a:cxnSpLocks/>
            <a:stCxn id="76" idx="4"/>
          </p:cNvCxnSpPr>
          <p:nvPr/>
        </p:nvCxnSpPr>
        <p:spPr>
          <a:xfrm>
            <a:off x="2820946" y="3112461"/>
            <a:ext cx="261378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CBA51A7-BD45-4674-1852-DF785AAD133C}"/>
              </a:ext>
            </a:extLst>
          </p:cNvPr>
          <p:cNvCxnSpPr>
            <a:cxnSpLocks/>
            <a:stCxn id="76" idx="4"/>
          </p:cNvCxnSpPr>
          <p:nvPr/>
        </p:nvCxnSpPr>
        <p:spPr>
          <a:xfrm>
            <a:off x="2820946" y="3112461"/>
            <a:ext cx="520625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6629A27C-C859-8E61-E476-66C33BCDF48A}"/>
              </a:ext>
            </a:extLst>
          </p:cNvPr>
          <p:cNvSpPr/>
          <p:nvPr/>
        </p:nvSpPr>
        <p:spPr>
          <a:xfrm>
            <a:off x="1678876" y="437031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1B311B8-3EED-18F0-B99E-7FB6A5A126B4}"/>
              </a:ext>
            </a:extLst>
          </p:cNvPr>
          <p:cNvSpPr/>
          <p:nvPr/>
        </p:nvSpPr>
        <p:spPr>
          <a:xfrm>
            <a:off x="5867162" y="437031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A522F01-31E2-03C9-63BB-D1627020CC04}"/>
              </a:ext>
            </a:extLst>
          </p:cNvPr>
          <p:cNvSpPr/>
          <p:nvPr/>
        </p:nvSpPr>
        <p:spPr>
          <a:xfrm>
            <a:off x="2144241" y="437031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B74A465B-316E-2F77-8E4E-C8391AE78166}"/>
              </a:ext>
            </a:extLst>
          </p:cNvPr>
          <p:cNvSpPr/>
          <p:nvPr/>
        </p:nvSpPr>
        <p:spPr>
          <a:xfrm>
            <a:off x="2609606" y="437031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12763F40-EC04-E441-56E5-D29EBF7A26C4}"/>
              </a:ext>
            </a:extLst>
          </p:cNvPr>
          <p:cNvSpPr/>
          <p:nvPr/>
        </p:nvSpPr>
        <p:spPr>
          <a:xfrm>
            <a:off x="3074971" y="437031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7DCACB27-0987-22CE-7126-AA47BA585CA4}"/>
              </a:ext>
            </a:extLst>
          </p:cNvPr>
          <p:cNvSpPr/>
          <p:nvPr/>
        </p:nvSpPr>
        <p:spPr>
          <a:xfrm>
            <a:off x="3540336" y="437031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C9CA78C6-E6FE-7CE6-79E7-F2D4DF03C4EF}"/>
              </a:ext>
            </a:extLst>
          </p:cNvPr>
          <p:cNvSpPr/>
          <p:nvPr/>
        </p:nvSpPr>
        <p:spPr>
          <a:xfrm>
            <a:off x="4005701" y="437031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F2F0EE2-2F0A-0E8F-FD44-A407A5329FC3}"/>
              </a:ext>
            </a:extLst>
          </p:cNvPr>
          <p:cNvSpPr/>
          <p:nvPr/>
        </p:nvSpPr>
        <p:spPr>
          <a:xfrm>
            <a:off x="4471066" y="437031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BDDFD5FE-F66F-F629-F43E-5D90FA52CC47}"/>
              </a:ext>
            </a:extLst>
          </p:cNvPr>
          <p:cNvSpPr/>
          <p:nvPr/>
        </p:nvSpPr>
        <p:spPr>
          <a:xfrm>
            <a:off x="4936431" y="437031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3CC80C4C-5A92-A8B9-8CD5-BF4BFE44E9C8}"/>
              </a:ext>
            </a:extLst>
          </p:cNvPr>
          <p:cNvSpPr/>
          <p:nvPr/>
        </p:nvSpPr>
        <p:spPr>
          <a:xfrm>
            <a:off x="5401796" y="437031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FD674DB-039C-7672-2D89-2E75FCC0E938}"/>
              </a:ext>
            </a:extLst>
          </p:cNvPr>
          <p:cNvSpPr/>
          <p:nvPr/>
        </p:nvSpPr>
        <p:spPr>
          <a:xfrm>
            <a:off x="1671484" y="4959449"/>
            <a:ext cx="4528396" cy="391646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argmax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026808F7-C3D4-9F09-E291-94B904BF8D5F}"/>
              </a:ext>
            </a:extLst>
          </p:cNvPr>
          <p:cNvSpPr/>
          <p:nvPr/>
        </p:nvSpPr>
        <p:spPr>
          <a:xfrm>
            <a:off x="732493" y="2725322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0928545-C07D-B29E-B88E-D4CA58CCDB30}"/>
              </a:ext>
            </a:extLst>
          </p:cNvPr>
          <p:cNvCxnSpPr>
            <a:cxnSpLocks/>
            <a:stCxn id="124" idx="4"/>
          </p:cNvCxnSpPr>
          <p:nvPr/>
        </p:nvCxnSpPr>
        <p:spPr>
          <a:xfrm flipH="1">
            <a:off x="609817" y="3123271"/>
            <a:ext cx="321651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A0B5967E-17C1-C777-4EB6-59EFA5523255}"/>
              </a:ext>
            </a:extLst>
          </p:cNvPr>
          <p:cNvCxnSpPr>
            <a:cxnSpLocks/>
            <a:stCxn id="124" idx="4"/>
          </p:cNvCxnSpPr>
          <p:nvPr/>
        </p:nvCxnSpPr>
        <p:spPr>
          <a:xfrm>
            <a:off x="931468" y="3123271"/>
            <a:ext cx="0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7ED4D708-BE99-B065-11EB-C5C87EEEE2D2}"/>
              </a:ext>
            </a:extLst>
          </p:cNvPr>
          <p:cNvCxnSpPr>
            <a:cxnSpLocks/>
            <a:stCxn id="124" idx="4"/>
          </p:cNvCxnSpPr>
          <p:nvPr/>
        </p:nvCxnSpPr>
        <p:spPr>
          <a:xfrm>
            <a:off x="931468" y="3123271"/>
            <a:ext cx="261378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E1BABC6B-74FE-C97A-3E21-1A96CADEAC26}"/>
              </a:ext>
            </a:extLst>
          </p:cNvPr>
          <p:cNvCxnSpPr>
            <a:cxnSpLocks/>
            <a:stCxn id="124" idx="4"/>
          </p:cNvCxnSpPr>
          <p:nvPr/>
        </p:nvCxnSpPr>
        <p:spPr>
          <a:xfrm>
            <a:off x="931468" y="3123271"/>
            <a:ext cx="520625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A407E04C-F6E5-863D-ABA4-FE690095F112}"/>
              </a:ext>
            </a:extLst>
          </p:cNvPr>
          <p:cNvSpPr/>
          <p:nvPr/>
        </p:nvSpPr>
        <p:spPr>
          <a:xfrm>
            <a:off x="6434263" y="2703702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6B15790-C3FE-14DE-1BF9-EEDEE7960D65}"/>
              </a:ext>
            </a:extLst>
          </p:cNvPr>
          <p:cNvCxnSpPr>
            <a:cxnSpLocks/>
            <a:stCxn id="129" idx="4"/>
          </p:cNvCxnSpPr>
          <p:nvPr/>
        </p:nvCxnSpPr>
        <p:spPr>
          <a:xfrm flipH="1">
            <a:off x="6311587" y="3101651"/>
            <a:ext cx="321651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4B7BD0B-E241-D290-BFC0-5B800D0A3111}"/>
              </a:ext>
            </a:extLst>
          </p:cNvPr>
          <p:cNvCxnSpPr>
            <a:cxnSpLocks/>
            <a:stCxn id="129" idx="4"/>
          </p:cNvCxnSpPr>
          <p:nvPr/>
        </p:nvCxnSpPr>
        <p:spPr>
          <a:xfrm>
            <a:off x="6633238" y="3101651"/>
            <a:ext cx="0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9CFF1781-97F4-31AB-6000-16CBA6548C60}"/>
              </a:ext>
            </a:extLst>
          </p:cNvPr>
          <p:cNvCxnSpPr>
            <a:cxnSpLocks/>
            <a:stCxn id="129" idx="4"/>
          </p:cNvCxnSpPr>
          <p:nvPr/>
        </p:nvCxnSpPr>
        <p:spPr>
          <a:xfrm>
            <a:off x="6633238" y="3101651"/>
            <a:ext cx="261378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AA64B269-2760-97B7-1EBD-24F28EE301B0}"/>
              </a:ext>
            </a:extLst>
          </p:cNvPr>
          <p:cNvCxnSpPr>
            <a:cxnSpLocks/>
            <a:stCxn id="129" idx="4"/>
          </p:cNvCxnSpPr>
          <p:nvPr/>
        </p:nvCxnSpPr>
        <p:spPr>
          <a:xfrm>
            <a:off x="6633238" y="3101651"/>
            <a:ext cx="520625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ACDF8070-73B3-FF7F-24F1-B6B6DFF49965}"/>
              </a:ext>
            </a:extLst>
          </p:cNvPr>
          <p:cNvSpPr/>
          <p:nvPr/>
        </p:nvSpPr>
        <p:spPr>
          <a:xfrm>
            <a:off x="4544785" y="2714512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5BEDAB59-5147-8DDA-F1FB-1019D3E94533}"/>
              </a:ext>
            </a:extLst>
          </p:cNvPr>
          <p:cNvCxnSpPr>
            <a:cxnSpLocks/>
            <a:stCxn id="139" idx="4"/>
          </p:cNvCxnSpPr>
          <p:nvPr/>
        </p:nvCxnSpPr>
        <p:spPr>
          <a:xfrm flipH="1">
            <a:off x="4422109" y="3112461"/>
            <a:ext cx="321651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84F38B3-0357-7DDF-1A8A-E4E83A965A67}"/>
              </a:ext>
            </a:extLst>
          </p:cNvPr>
          <p:cNvCxnSpPr>
            <a:cxnSpLocks/>
            <a:stCxn id="139" idx="4"/>
          </p:cNvCxnSpPr>
          <p:nvPr/>
        </p:nvCxnSpPr>
        <p:spPr>
          <a:xfrm>
            <a:off x="4743760" y="3112461"/>
            <a:ext cx="0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B56BAA7E-0FD7-A720-38BC-E9611610A93A}"/>
              </a:ext>
            </a:extLst>
          </p:cNvPr>
          <p:cNvCxnSpPr>
            <a:cxnSpLocks/>
            <a:stCxn id="139" idx="4"/>
          </p:cNvCxnSpPr>
          <p:nvPr/>
        </p:nvCxnSpPr>
        <p:spPr>
          <a:xfrm>
            <a:off x="4743760" y="3112461"/>
            <a:ext cx="261378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ADFCF9B6-3F1D-25D7-82FF-5C4AFC034D8F}"/>
              </a:ext>
            </a:extLst>
          </p:cNvPr>
          <p:cNvCxnSpPr>
            <a:cxnSpLocks/>
            <a:stCxn id="139" idx="4"/>
          </p:cNvCxnSpPr>
          <p:nvPr/>
        </p:nvCxnSpPr>
        <p:spPr>
          <a:xfrm>
            <a:off x="4743760" y="3112461"/>
            <a:ext cx="520625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F5E53855-E439-3755-F409-93F8CFE22022}"/>
              </a:ext>
            </a:extLst>
          </p:cNvPr>
          <p:cNvSpPr/>
          <p:nvPr/>
        </p:nvSpPr>
        <p:spPr>
          <a:xfrm>
            <a:off x="5480925" y="2725322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3C11BD6E-3B78-C574-7FA7-8796E11C740E}"/>
              </a:ext>
            </a:extLst>
          </p:cNvPr>
          <p:cNvCxnSpPr>
            <a:cxnSpLocks/>
            <a:stCxn id="144" idx="4"/>
          </p:cNvCxnSpPr>
          <p:nvPr/>
        </p:nvCxnSpPr>
        <p:spPr>
          <a:xfrm flipH="1">
            <a:off x="5358249" y="3123271"/>
            <a:ext cx="321651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F9904B37-4825-0BF6-AA77-41CC43F4B4B7}"/>
              </a:ext>
            </a:extLst>
          </p:cNvPr>
          <p:cNvCxnSpPr>
            <a:cxnSpLocks/>
            <a:stCxn id="144" idx="4"/>
          </p:cNvCxnSpPr>
          <p:nvPr/>
        </p:nvCxnSpPr>
        <p:spPr>
          <a:xfrm>
            <a:off x="5679900" y="3123271"/>
            <a:ext cx="0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86B1895C-F90F-D8DC-D096-A4DFFCF7221E}"/>
              </a:ext>
            </a:extLst>
          </p:cNvPr>
          <p:cNvCxnSpPr>
            <a:cxnSpLocks/>
            <a:stCxn id="144" idx="4"/>
          </p:cNvCxnSpPr>
          <p:nvPr/>
        </p:nvCxnSpPr>
        <p:spPr>
          <a:xfrm>
            <a:off x="5679900" y="3123271"/>
            <a:ext cx="261378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B52A6BF0-3422-F351-252E-7F49302A6551}"/>
              </a:ext>
            </a:extLst>
          </p:cNvPr>
          <p:cNvCxnSpPr>
            <a:cxnSpLocks/>
            <a:stCxn id="144" idx="4"/>
          </p:cNvCxnSpPr>
          <p:nvPr/>
        </p:nvCxnSpPr>
        <p:spPr>
          <a:xfrm>
            <a:off x="5679900" y="3123271"/>
            <a:ext cx="520625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9" name="Oval 148">
            <a:extLst>
              <a:ext uri="{FF2B5EF4-FFF2-40B4-BE49-F238E27FC236}">
                <a16:creationId xmlns:a16="http://schemas.microsoft.com/office/drawing/2014/main" id="{1137CA80-C125-58B4-F5BC-29F7D0530CCC}"/>
              </a:ext>
            </a:extLst>
          </p:cNvPr>
          <p:cNvSpPr/>
          <p:nvPr/>
        </p:nvSpPr>
        <p:spPr>
          <a:xfrm>
            <a:off x="1685831" y="352122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070DE3C-92E6-DE10-88FC-6ED9C9C7774A}"/>
              </a:ext>
            </a:extLst>
          </p:cNvPr>
          <p:cNvCxnSpPr>
            <a:cxnSpLocks/>
            <a:stCxn id="149" idx="4"/>
          </p:cNvCxnSpPr>
          <p:nvPr/>
        </p:nvCxnSpPr>
        <p:spPr>
          <a:xfrm flipH="1">
            <a:off x="1563155" y="3919169"/>
            <a:ext cx="321651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1DAE0F46-FF9E-9672-E33D-E30B63296E43}"/>
              </a:ext>
            </a:extLst>
          </p:cNvPr>
          <p:cNvCxnSpPr>
            <a:cxnSpLocks/>
            <a:stCxn id="149" idx="4"/>
          </p:cNvCxnSpPr>
          <p:nvPr/>
        </p:nvCxnSpPr>
        <p:spPr>
          <a:xfrm>
            <a:off x="1884806" y="3919169"/>
            <a:ext cx="0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7648C828-D637-A666-93BB-F3754DC9C802}"/>
              </a:ext>
            </a:extLst>
          </p:cNvPr>
          <p:cNvCxnSpPr>
            <a:cxnSpLocks/>
            <a:stCxn id="149" idx="4"/>
          </p:cNvCxnSpPr>
          <p:nvPr/>
        </p:nvCxnSpPr>
        <p:spPr>
          <a:xfrm>
            <a:off x="1884806" y="3919169"/>
            <a:ext cx="261378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BD40C9A1-14B1-9710-689E-6019E96F1F79}"/>
              </a:ext>
            </a:extLst>
          </p:cNvPr>
          <p:cNvCxnSpPr>
            <a:cxnSpLocks/>
            <a:stCxn id="149" idx="4"/>
          </p:cNvCxnSpPr>
          <p:nvPr/>
        </p:nvCxnSpPr>
        <p:spPr>
          <a:xfrm>
            <a:off x="1884806" y="3919169"/>
            <a:ext cx="520625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4" name="Oval 153">
            <a:extLst>
              <a:ext uri="{FF2B5EF4-FFF2-40B4-BE49-F238E27FC236}">
                <a16:creationId xmlns:a16="http://schemas.microsoft.com/office/drawing/2014/main" id="{0E901856-69B4-0566-99DD-A421D16B6CA0}"/>
              </a:ext>
            </a:extLst>
          </p:cNvPr>
          <p:cNvSpPr/>
          <p:nvPr/>
        </p:nvSpPr>
        <p:spPr>
          <a:xfrm>
            <a:off x="2621971" y="353203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AE6D432F-B5D3-D66C-E001-0D072869DAE7}"/>
              </a:ext>
            </a:extLst>
          </p:cNvPr>
          <p:cNvCxnSpPr>
            <a:cxnSpLocks/>
            <a:stCxn id="154" idx="4"/>
          </p:cNvCxnSpPr>
          <p:nvPr/>
        </p:nvCxnSpPr>
        <p:spPr>
          <a:xfrm flipH="1">
            <a:off x="2499295" y="3929979"/>
            <a:ext cx="321651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5DB9A47B-6039-C9C0-1C71-1AE27C9A3C09}"/>
              </a:ext>
            </a:extLst>
          </p:cNvPr>
          <p:cNvCxnSpPr>
            <a:cxnSpLocks/>
            <a:stCxn id="154" idx="4"/>
          </p:cNvCxnSpPr>
          <p:nvPr/>
        </p:nvCxnSpPr>
        <p:spPr>
          <a:xfrm>
            <a:off x="2820946" y="3929979"/>
            <a:ext cx="0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30EE11BC-3F0D-5B19-FFEA-D7570EA572C7}"/>
              </a:ext>
            </a:extLst>
          </p:cNvPr>
          <p:cNvCxnSpPr>
            <a:cxnSpLocks/>
            <a:stCxn id="154" idx="4"/>
          </p:cNvCxnSpPr>
          <p:nvPr/>
        </p:nvCxnSpPr>
        <p:spPr>
          <a:xfrm>
            <a:off x="2820946" y="3929979"/>
            <a:ext cx="261378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3989D883-B894-18A6-76EF-D1A8D84C7E91}"/>
              </a:ext>
            </a:extLst>
          </p:cNvPr>
          <p:cNvCxnSpPr>
            <a:cxnSpLocks/>
            <a:stCxn id="154" idx="4"/>
          </p:cNvCxnSpPr>
          <p:nvPr/>
        </p:nvCxnSpPr>
        <p:spPr>
          <a:xfrm>
            <a:off x="2820946" y="3929979"/>
            <a:ext cx="520625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4" name="Oval 163">
            <a:extLst>
              <a:ext uri="{FF2B5EF4-FFF2-40B4-BE49-F238E27FC236}">
                <a16:creationId xmlns:a16="http://schemas.microsoft.com/office/drawing/2014/main" id="{4967140B-3F29-9AF0-42E1-3FACAD29D0FA}"/>
              </a:ext>
            </a:extLst>
          </p:cNvPr>
          <p:cNvSpPr/>
          <p:nvPr/>
        </p:nvSpPr>
        <p:spPr>
          <a:xfrm>
            <a:off x="732493" y="354284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8B3A69EB-E0EF-DD4A-2894-081EB12F6A0B}"/>
              </a:ext>
            </a:extLst>
          </p:cNvPr>
          <p:cNvCxnSpPr>
            <a:cxnSpLocks/>
            <a:stCxn id="164" idx="4"/>
          </p:cNvCxnSpPr>
          <p:nvPr/>
        </p:nvCxnSpPr>
        <p:spPr>
          <a:xfrm flipH="1">
            <a:off x="609817" y="3940789"/>
            <a:ext cx="321651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7F581EB1-884D-AE93-ECA0-0C3C91F7BE17}"/>
              </a:ext>
            </a:extLst>
          </p:cNvPr>
          <p:cNvCxnSpPr>
            <a:cxnSpLocks/>
            <a:stCxn id="164" idx="4"/>
          </p:cNvCxnSpPr>
          <p:nvPr/>
        </p:nvCxnSpPr>
        <p:spPr>
          <a:xfrm>
            <a:off x="931468" y="3940789"/>
            <a:ext cx="0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8DF6F33D-CC9C-3D0B-017E-31CFA80E6145}"/>
              </a:ext>
            </a:extLst>
          </p:cNvPr>
          <p:cNvCxnSpPr>
            <a:cxnSpLocks/>
            <a:stCxn id="164" idx="4"/>
          </p:cNvCxnSpPr>
          <p:nvPr/>
        </p:nvCxnSpPr>
        <p:spPr>
          <a:xfrm>
            <a:off x="931468" y="3940789"/>
            <a:ext cx="261378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0A1B6877-6BB4-7CC3-D642-1C3C2EDB27D5}"/>
              </a:ext>
            </a:extLst>
          </p:cNvPr>
          <p:cNvCxnSpPr>
            <a:cxnSpLocks/>
            <a:stCxn id="164" idx="4"/>
          </p:cNvCxnSpPr>
          <p:nvPr/>
        </p:nvCxnSpPr>
        <p:spPr>
          <a:xfrm>
            <a:off x="931468" y="3940789"/>
            <a:ext cx="520625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9" name="Oval 168">
            <a:extLst>
              <a:ext uri="{FF2B5EF4-FFF2-40B4-BE49-F238E27FC236}">
                <a16:creationId xmlns:a16="http://schemas.microsoft.com/office/drawing/2014/main" id="{96829AC6-CA24-EC8E-FE4D-EA8E22D88AAC}"/>
              </a:ext>
            </a:extLst>
          </p:cNvPr>
          <p:cNvSpPr/>
          <p:nvPr/>
        </p:nvSpPr>
        <p:spPr>
          <a:xfrm>
            <a:off x="6434263" y="352122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72086C0D-F98E-F5D1-5FE0-84EA44D3C151}"/>
              </a:ext>
            </a:extLst>
          </p:cNvPr>
          <p:cNvCxnSpPr>
            <a:cxnSpLocks/>
            <a:stCxn id="169" idx="4"/>
          </p:cNvCxnSpPr>
          <p:nvPr/>
        </p:nvCxnSpPr>
        <p:spPr>
          <a:xfrm flipH="1">
            <a:off x="6311587" y="3919169"/>
            <a:ext cx="321651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5D5AA1BB-9DFE-07A7-EBC9-8C7CD5E46E97}"/>
              </a:ext>
            </a:extLst>
          </p:cNvPr>
          <p:cNvCxnSpPr>
            <a:cxnSpLocks/>
            <a:stCxn id="169" idx="4"/>
          </p:cNvCxnSpPr>
          <p:nvPr/>
        </p:nvCxnSpPr>
        <p:spPr>
          <a:xfrm>
            <a:off x="6633238" y="3919169"/>
            <a:ext cx="0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0934C16B-D747-BCCE-DD8A-3EA983094013}"/>
              </a:ext>
            </a:extLst>
          </p:cNvPr>
          <p:cNvCxnSpPr>
            <a:cxnSpLocks/>
            <a:stCxn id="169" idx="4"/>
          </p:cNvCxnSpPr>
          <p:nvPr/>
        </p:nvCxnSpPr>
        <p:spPr>
          <a:xfrm>
            <a:off x="6633238" y="3919169"/>
            <a:ext cx="261378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24F3307F-1284-C68B-1287-92228EB595A2}"/>
              </a:ext>
            </a:extLst>
          </p:cNvPr>
          <p:cNvCxnSpPr>
            <a:cxnSpLocks/>
            <a:stCxn id="169" idx="4"/>
          </p:cNvCxnSpPr>
          <p:nvPr/>
        </p:nvCxnSpPr>
        <p:spPr>
          <a:xfrm>
            <a:off x="6633238" y="3919169"/>
            <a:ext cx="520625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9" name="Oval 178">
            <a:extLst>
              <a:ext uri="{FF2B5EF4-FFF2-40B4-BE49-F238E27FC236}">
                <a16:creationId xmlns:a16="http://schemas.microsoft.com/office/drawing/2014/main" id="{BF03DF74-8E76-A527-BF88-B761B5812A1A}"/>
              </a:ext>
            </a:extLst>
          </p:cNvPr>
          <p:cNvSpPr/>
          <p:nvPr/>
        </p:nvSpPr>
        <p:spPr>
          <a:xfrm>
            <a:off x="4544785" y="353203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16C35B97-682A-3966-F7DE-367EF3F35282}"/>
              </a:ext>
            </a:extLst>
          </p:cNvPr>
          <p:cNvCxnSpPr>
            <a:cxnSpLocks/>
            <a:stCxn id="179" idx="4"/>
          </p:cNvCxnSpPr>
          <p:nvPr/>
        </p:nvCxnSpPr>
        <p:spPr>
          <a:xfrm flipH="1">
            <a:off x="4422109" y="3929979"/>
            <a:ext cx="321651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6DAD8A7D-2118-DA99-6957-DA3CE9C2B847}"/>
              </a:ext>
            </a:extLst>
          </p:cNvPr>
          <p:cNvCxnSpPr>
            <a:cxnSpLocks/>
            <a:stCxn id="179" idx="4"/>
          </p:cNvCxnSpPr>
          <p:nvPr/>
        </p:nvCxnSpPr>
        <p:spPr>
          <a:xfrm>
            <a:off x="4743760" y="3929979"/>
            <a:ext cx="0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8825210C-8E33-75FA-A600-5416089ED72F}"/>
              </a:ext>
            </a:extLst>
          </p:cNvPr>
          <p:cNvCxnSpPr>
            <a:cxnSpLocks/>
            <a:stCxn id="179" idx="4"/>
          </p:cNvCxnSpPr>
          <p:nvPr/>
        </p:nvCxnSpPr>
        <p:spPr>
          <a:xfrm>
            <a:off x="4743760" y="3929979"/>
            <a:ext cx="261378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E4437CD-F637-3E95-1F34-77C100E89FB8}"/>
              </a:ext>
            </a:extLst>
          </p:cNvPr>
          <p:cNvCxnSpPr>
            <a:cxnSpLocks/>
            <a:stCxn id="179" idx="4"/>
          </p:cNvCxnSpPr>
          <p:nvPr/>
        </p:nvCxnSpPr>
        <p:spPr>
          <a:xfrm>
            <a:off x="4743760" y="3929979"/>
            <a:ext cx="520625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4" name="Oval 183">
            <a:extLst>
              <a:ext uri="{FF2B5EF4-FFF2-40B4-BE49-F238E27FC236}">
                <a16:creationId xmlns:a16="http://schemas.microsoft.com/office/drawing/2014/main" id="{0D65445A-0C25-DB5C-85E9-0E511BF1BA24}"/>
              </a:ext>
            </a:extLst>
          </p:cNvPr>
          <p:cNvSpPr/>
          <p:nvPr/>
        </p:nvSpPr>
        <p:spPr>
          <a:xfrm>
            <a:off x="5480925" y="3542840"/>
            <a:ext cx="397949" cy="397949"/>
          </a:xfrm>
          <a:prstGeom prst="ellipse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A5BA9CD8-51C8-F652-6D78-D894DBF54D79}"/>
              </a:ext>
            </a:extLst>
          </p:cNvPr>
          <p:cNvCxnSpPr>
            <a:cxnSpLocks/>
            <a:stCxn id="184" idx="4"/>
          </p:cNvCxnSpPr>
          <p:nvPr/>
        </p:nvCxnSpPr>
        <p:spPr>
          <a:xfrm flipH="1">
            <a:off x="5358249" y="3940789"/>
            <a:ext cx="321651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C991CABF-3B7A-090D-B545-E5110E8D8911}"/>
              </a:ext>
            </a:extLst>
          </p:cNvPr>
          <p:cNvCxnSpPr>
            <a:cxnSpLocks/>
            <a:stCxn id="184" idx="4"/>
          </p:cNvCxnSpPr>
          <p:nvPr/>
        </p:nvCxnSpPr>
        <p:spPr>
          <a:xfrm>
            <a:off x="5679900" y="3940789"/>
            <a:ext cx="0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3C7875BB-5FCB-4BA0-6DB6-51702FFA936C}"/>
              </a:ext>
            </a:extLst>
          </p:cNvPr>
          <p:cNvCxnSpPr>
            <a:cxnSpLocks/>
            <a:stCxn id="184" idx="4"/>
          </p:cNvCxnSpPr>
          <p:nvPr/>
        </p:nvCxnSpPr>
        <p:spPr>
          <a:xfrm>
            <a:off x="5679900" y="3940789"/>
            <a:ext cx="261378" cy="280206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87F2C331-34DA-B7D7-65F0-815B429B83BF}"/>
              </a:ext>
            </a:extLst>
          </p:cNvPr>
          <p:cNvCxnSpPr>
            <a:cxnSpLocks/>
            <a:stCxn id="184" idx="4"/>
          </p:cNvCxnSpPr>
          <p:nvPr/>
        </p:nvCxnSpPr>
        <p:spPr>
          <a:xfrm>
            <a:off x="5679900" y="3940789"/>
            <a:ext cx="520625" cy="260409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3DEE1A6E-9C0B-A9AF-0C78-1B51F3FEFE07}"/>
              </a:ext>
            </a:extLst>
          </p:cNvPr>
          <p:cNvGrpSpPr/>
          <p:nvPr/>
        </p:nvGrpSpPr>
        <p:grpSpPr>
          <a:xfrm>
            <a:off x="1884806" y="4768259"/>
            <a:ext cx="4190647" cy="176589"/>
            <a:chOff x="2956336" y="4813749"/>
            <a:chExt cx="4190647" cy="280206"/>
          </a:xfrm>
        </p:grpSpPr>
        <p:cxnSp>
          <p:nvCxnSpPr>
            <p:cNvPr id="229" name="Straight Arrow Connector 228">
              <a:extLst>
                <a:ext uri="{FF2B5EF4-FFF2-40B4-BE49-F238E27FC236}">
                  <a16:creationId xmlns:a16="http://schemas.microsoft.com/office/drawing/2014/main" id="{E27BF217-0944-73CB-CF41-75D1694DCA51}"/>
                </a:ext>
              </a:extLst>
            </p:cNvPr>
            <p:cNvCxnSpPr>
              <a:cxnSpLocks/>
            </p:cNvCxnSpPr>
            <p:nvPr/>
          </p:nvCxnSpPr>
          <p:spPr>
            <a:xfrm>
              <a:off x="2956336" y="4813749"/>
              <a:ext cx="0" cy="280206"/>
            </a:xfrm>
            <a:prstGeom prst="straightConnector1">
              <a:avLst/>
            </a:prstGeom>
            <a:noFill/>
            <a:ln w="317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E49417E6-6F24-8250-30F3-CC7F0540F4DF}"/>
                </a:ext>
              </a:extLst>
            </p:cNvPr>
            <p:cNvCxnSpPr>
              <a:cxnSpLocks/>
            </p:cNvCxnSpPr>
            <p:nvPr/>
          </p:nvCxnSpPr>
          <p:spPr>
            <a:xfrm>
              <a:off x="3421963" y="4813749"/>
              <a:ext cx="0" cy="280206"/>
            </a:xfrm>
            <a:prstGeom prst="straightConnector1">
              <a:avLst/>
            </a:prstGeom>
            <a:noFill/>
            <a:ln w="317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FF11EB9C-1FBB-A27E-5A3D-499D1063F073}"/>
                </a:ext>
              </a:extLst>
            </p:cNvPr>
            <p:cNvCxnSpPr>
              <a:cxnSpLocks/>
            </p:cNvCxnSpPr>
            <p:nvPr/>
          </p:nvCxnSpPr>
          <p:spPr>
            <a:xfrm>
              <a:off x="3887590" y="4813749"/>
              <a:ext cx="0" cy="280206"/>
            </a:xfrm>
            <a:prstGeom prst="straightConnector1">
              <a:avLst/>
            </a:prstGeom>
            <a:noFill/>
            <a:ln w="317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2" name="Straight Arrow Connector 231">
              <a:extLst>
                <a:ext uri="{FF2B5EF4-FFF2-40B4-BE49-F238E27FC236}">
                  <a16:creationId xmlns:a16="http://schemas.microsoft.com/office/drawing/2014/main" id="{CAD9688A-1624-8C25-AAC0-D0CB23E733D7}"/>
                </a:ext>
              </a:extLst>
            </p:cNvPr>
            <p:cNvCxnSpPr>
              <a:cxnSpLocks/>
            </p:cNvCxnSpPr>
            <p:nvPr/>
          </p:nvCxnSpPr>
          <p:spPr>
            <a:xfrm>
              <a:off x="4353217" y="4813749"/>
              <a:ext cx="0" cy="280206"/>
            </a:xfrm>
            <a:prstGeom prst="straightConnector1">
              <a:avLst/>
            </a:prstGeom>
            <a:noFill/>
            <a:ln w="317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F1D86606-AC93-6FCA-3D54-14341FEB08A6}"/>
                </a:ext>
              </a:extLst>
            </p:cNvPr>
            <p:cNvCxnSpPr>
              <a:cxnSpLocks/>
            </p:cNvCxnSpPr>
            <p:nvPr/>
          </p:nvCxnSpPr>
          <p:spPr>
            <a:xfrm>
              <a:off x="4818844" y="4813749"/>
              <a:ext cx="0" cy="280206"/>
            </a:xfrm>
            <a:prstGeom prst="straightConnector1">
              <a:avLst/>
            </a:prstGeom>
            <a:noFill/>
            <a:ln w="317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46670088-61B7-FB18-BB3C-88361D7B954B}"/>
                </a:ext>
              </a:extLst>
            </p:cNvPr>
            <p:cNvCxnSpPr>
              <a:cxnSpLocks/>
            </p:cNvCxnSpPr>
            <p:nvPr/>
          </p:nvCxnSpPr>
          <p:spPr>
            <a:xfrm>
              <a:off x="5284471" y="4813749"/>
              <a:ext cx="0" cy="280206"/>
            </a:xfrm>
            <a:prstGeom prst="straightConnector1">
              <a:avLst/>
            </a:prstGeom>
            <a:noFill/>
            <a:ln w="317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74C4FBEA-D42F-AD89-419F-AE882DCA30B6}"/>
                </a:ext>
              </a:extLst>
            </p:cNvPr>
            <p:cNvCxnSpPr>
              <a:cxnSpLocks/>
            </p:cNvCxnSpPr>
            <p:nvPr/>
          </p:nvCxnSpPr>
          <p:spPr>
            <a:xfrm>
              <a:off x="5750098" y="4813749"/>
              <a:ext cx="0" cy="280206"/>
            </a:xfrm>
            <a:prstGeom prst="straightConnector1">
              <a:avLst/>
            </a:prstGeom>
            <a:noFill/>
            <a:ln w="317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6" name="Straight Arrow Connector 235">
              <a:extLst>
                <a:ext uri="{FF2B5EF4-FFF2-40B4-BE49-F238E27FC236}">
                  <a16:creationId xmlns:a16="http://schemas.microsoft.com/office/drawing/2014/main" id="{E1A5AD2E-C697-07BD-041E-ACF1161A3C38}"/>
                </a:ext>
              </a:extLst>
            </p:cNvPr>
            <p:cNvCxnSpPr>
              <a:cxnSpLocks/>
            </p:cNvCxnSpPr>
            <p:nvPr/>
          </p:nvCxnSpPr>
          <p:spPr>
            <a:xfrm>
              <a:off x="6215725" y="4813749"/>
              <a:ext cx="0" cy="280206"/>
            </a:xfrm>
            <a:prstGeom prst="straightConnector1">
              <a:avLst/>
            </a:prstGeom>
            <a:noFill/>
            <a:ln w="317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7" name="Straight Arrow Connector 236">
              <a:extLst>
                <a:ext uri="{FF2B5EF4-FFF2-40B4-BE49-F238E27FC236}">
                  <a16:creationId xmlns:a16="http://schemas.microsoft.com/office/drawing/2014/main" id="{4CDF4CC9-83BD-27A9-BD3D-ACBDFD6C2860}"/>
                </a:ext>
              </a:extLst>
            </p:cNvPr>
            <p:cNvCxnSpPr>
              <a:cxnSpLocks/>
            </p:cNvCxnSpPr>
            <p:nvPr/>
          </p:nvCxnSpPr>
          <p:spPr>
            <a:xfrm>
              <a:off x="6681352" y="4813749"/>
              <a:ext cx="0" cy="280206"/>
            </a:xfrm>
            <a:prstGeom prst="straightConnector1">
              <a:avLst/>
            </a:prstGeom>
            <a:noFill/>
            <a:ln w="317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2D956C3F-5E8B-58E9-5651-DCE7F8B833E4}"/>
                </a:ext>
              </a:extLst>
            </p:cNvPr>
            <p:cNvCxnSpPr>
              <a:cxnSpLocks/>
            </p:cNvCxnSpPr>
            <p:nvPr/>
          </p:nvCxnSpPr>
          <p:spPr>
            <a:xfrm>
              <a:off x="7146983" y="4813749"/>
              <a:ext cx="0" cy="280206"/>
            </a:xfrm>
            <a:prstGeom prst="straightConnector1">
              <a:avLst/>
            </a:prstGeom>
            <a:noFill/>
            <a:ln w="317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38007A98-EE88-F175-46C8-13AFCE156DBC}"/>
              </a:ext>
            </a:extLst>
          </p:cNvPr>
          <p:cNvCxnSpPr>
            <a:cxnSpLocks/>
          </p:cNvCxnSpPr>
          <p:nvPr/>
        </p:nvCxnSpPr>
        <p:spPr>
          <a:xfrm>
            <a:off x="2930612" y="1625600"/>
            <a:ext cx="0" cy="312469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9A130E7A-0492-E3EB-A82E-7E34DEEDBC7A}"/>
              </a:ext>
            </a:extLst>
          </p:cNvPr>
          <p:cNvCxnSpPr>
            <a:cxnSpLocks/>
          </p:cNvCxnSpPr>
          <p:nvPr/>
        </p:nvCxnSpPr>
        <p:spPr>
          <a:xfrm>
            <a:off x="3083012" y="1625600"/>
            <a:ext cx="0" cy="312469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D0A9A73B-8696-A542-425B-780404D91359}"/>
              </a:ext>
            </a:extLst>
          </p:cNvPr>
          <p:cNvCxnSpPr>
            <a:cxnSpLocks/>
          </p:cNvCxnSpPr>
          <p:nvPr/>
        </p:nvCxnSpPr>
        <p:spPr>
          <a:xfrm>
            <a:off x="3235412" y="1625600"/>
            <a:ext cx="0" cy="312469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6" name="Straight Arrow Connector 265">
            <a:extLst>
              <a:ext uri="{FF2B5EF4-FFF2-40B4-BE49-F238E27FC236}">
                <a16:creationId xmlns:a16="http://schemas.microsoft.com/office/drawing/2014/main" id="{AA02E723-5FBA-5431-5F4E-A7E490FCBA98}"/>
              </a:ext>
            </a:extLst>
          </p:cNvPr>
          <p:cNvCxnSpPr>
            <a:cxnSpLocks/>
          </p:cNvCxnSpPr>
          <p:nvPr/>
        </p:nvCxnSpPr>
        <p:spPr>
          <a:xfrm>
            <a:off x="3387812" y="1625600"/>
            <a:ext cx="0" cy="312469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EF792A13-4DA3-4F7E-5A73-EFB0C05DE1F7}"/>
              </a:ext>
            </a:extLst>
          </p:cNvPr>
          <p:cNvCxnSpPr>
            <a:cxnSpLocks/>
          </p:cNvCxnSpPr>
          <p:nvPr/>
        </p:nvCxnSpPr>
        <p:spPr>
          <a:xfrm>
            <a:off x="4715271" y="1625600"/>
            <a:ext cx="0" cy="312469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CC30DA14-2D91-3C4C-3590-75D319924B25}"/>
              </a:ext>
            </a:extLst>
          </p:cNvPr>
          <p:cNvSpPr txBox="1"/>
          <p:nvPr/>
        </p:nvSpPr>
        <p:spPr>
          <a:xfrm>
            <a:off x="7501608" y="2745098"/>
            <a:ext cx="395789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Layer 1 (hidden): 256 784-input neurons</a:t>
            </a:r>
            <a:endParaRPr lang="en-US" sz="1200" i="1" baseline="-25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006CAF21-6289-A86F-81BD-AF552A6E1CD7}"/>
              </a:ext>
            </a:extLst>
          </p:cNvPr>
          <p:cNvSpPr txBox="1"/>
          <p:nvPr/>
        </p:nvSpPr>
        <p:spPr>
          <a:xfrm>
            <a:off x="7501608" y="3542840"/>
            <a:ext cx="39029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Layer 2 (hidden): 256 256-input neurons</a:t>
            </a:r>
            <a:endParaRPr lang="en-US" sz="1200" i="1" baseline="-25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B173CA5E-985C-BE9F-0E2E-00C9D517C1E4}"/>
              </a:ext>
            </a:extLst>
          </p:cNvPr>
          <p:cNvSpPr txBox="1"/>
          <p:nvPr/>
        </p:nvSpPr>
        <p:spPr>
          <a:xfrm>
            <a:off x="7501608" y="4364891"/>
            <a:ext cx="358321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Layer 3 (output): 10 256-input neurons </a:t>
            </a:r>
            <a:br>
              <a:rPr lang="en-US" sz="1600" i="1" dirty="0"/>
            </a:br>
            <a:r>
              <a:rPr lang="en-US" sz="1600" i="1" dirty="0"/>
              <a:t>(outputs </a:t>
            </a:r>
            <a:r>
              <a:rPr lang="en-US" sz="1600" i="1" dirty="0" err="1"/>
              <a:t>popcount</a:t>
            </a:r>
            <a:r>
              <a:rPr lang="en-US" sz="1600" i="1" dirty="0"/>
              <a:t>)</a:t>
            </a:r>
            <a:endParaRPr lang="en-US" sz="1200" i="1" baseline="-250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9609699D-4946-6C1D-2D35-9B67F941076C}"/>
              </a:ext>
            </a:extLst>
          </p:cNvPr>
          <p:cNvSpPr txBox="1"/>
          <p:nvPr/>
        </p:nvSpPr>
        <p:spPr>
          <a:xfrm>
            <a:off x="7501608" y="2354953"/>
            <a:ext cx="416969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Layer 0 (input): 784 1-bit inputs (no neurons)</a:t>
            </a:r>
            <a:endParaRPr lang="en-US" sz="1200" i="1" baseline="-25000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A668EF04-C370-EABE-4E1D-180DCD264C17}"/>
              </a:ext>
            </a:extLst>
          </p:cNvPr>
          <p:cNvSpPr txBox="1"/>
          <p:nvPr/>
        </p:nvSpPr>
        <p:spPr>
          <a:xfrm>
            <a:off x="2791326" y="1296980"/>
            <a:ext cx="358321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Input: 28x28 8-bit pixels</a:t>
            </a:r>
            <a:endParaRPr lang="en-US" sz="1200" i="1" baseline="-25000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AB6AE3BA-B5A2-AE49-C7DD-E155D0190FA6}"/>
              </a:ext>
            </a:extLst>
          </p:cNvPr>
          <p:cNvSpPr txBox="1"/>
          <p:nvPr/>
        </p:nvSpPr>
        <p:spPr>
          <a:xfrm>
            <a:off x="3636702" y="1543201"/>
            <a:ext cx="9080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…………</a:t>
            </a:r>
            <a:endParaRPr lang="en-US" sz="1200" i="1" baseline="-25000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3A25F9FE-BAD8-5AFC-F23E-8CF780F1CAEF}"/>
              </a:ext>
            </a:extLst>
          </p:cNvPr>
          <p:cNvSpPr txBox="1"/>
          <p:nvPr/>
        </p:nvSpPr>
        <p:spPr>
          <a:xfrm>
            <a:off x="4239377" y="2290435"/>
            <a:ext cx="9080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…………</a:t>
            </a:r>
            <a:endParaRPr lang="en-US" sz="1200" i="1" baseline="-25000" dirty="0"/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1C4A84CA-8F63-65CB-4237-71794ACF6312}"/>
              </a:ext>
            </a:extLst>
          </p:cNvPr>
          <p:cNvSpPr txBox="1"/>
          <p:nvPr/>
        </p:nvSpPr>
        <p:spPr>
          <a:xfrm>
            <a:off x="3397101" y="2778292"/>
            <a:ext cx="9080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…………</a:t>
            </a:r>
            <a:endParaRPr lang="en-US" sz="1200" i="1" baseline="-25000" dirty="0"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735E91A7-4DCB-16F3-6818-C8CC3694A4D9}"/>
              </a:ext>
            </a:extLst>
          </p:cNvPr>
          <p:cNvSpPr txBox="1"/>
          <p:nvPr/>
        </p:nvSpPr>
        <p:spPr>
          <a:xfrm>
            <a:off x="3397101" y="3597083"/>
            <a:ext cx="9080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…………</a:t>
            </a:r>
            <a:endParaRPr lang="en-US" sz="1200" i="1" baseline="-25000" dirty="0"/>
          </a:p>
        </p:txBody>
      </p: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35928606-D0FB-53F2-A1D5-4E3F953D2A97}"/>
              </a:ext>
            </a:extLst>
          </p:cNvPr>
          <p:cNvCxnSpPr>
            <a:cxnSpLocks/>
            <a:stCxn id="118" idx="2"/>
          </p:cNvCxnSpPr>
          <p:nvPr/>
        </p:nvCxnSpPr>
        <p:spPr>
          <a:xfrm>
            <a:off x="3935682" y="5351095"/>
            <a:ext cx="0" cy="292988"/>
          </a:xfrm>
          <a:prstGeom prst="straightConnector1">
            <a:avLst/>
          </a:prstGeom>
          <a:noFill/>
          <a:ln w="317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83FBE5E1-2362-55ED-DD96-2C24703795F3}"/>
              </a:ext>
            </a:extLst>
          </p:cNvPr>
          <p:cNvSpPr txBox="1"/>
          <p:nvPr/>
        </p:nvSpPr>
        <p:spPr>
          <a:xfrm>
            <a:off x="2722769" y="5696310"/>
            <a:ext cx="358321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Output: 4-bit classification (0-9)</a:t>
            </a:r>
            <a:endParaRPr lang="en-US" sz="1200" i="1" baseline="-25000" dirty="0"/>
          </a:p>
        </p:txBody>
      </p:sp>
    </p:spTree>
    <p:extLst>
      <p:ext uri="{BB962C8B-B14F-4D97-AF65-F5344CB8AC3E}">
        <p14:creationId xmlns:p14="http://schemas.microsoft.com/office/powerpoint/2010/main" val="393996814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73CE4-3A7A-B8A4-8058-4B351CAA8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FAEAC6-728D-B6D4-49A3-8A3B5DC06D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3" y="1116013"/>
            <a:ext cx="7094537" cy="5078791"/>
          </a:xfrm>
        </p:spPr>
        <p:txBody>
          <a:bodyPr/>
          <a:lstStyle/>
          <a:p>
            <a:r>
              <a:rPr lang="en-US" sz="2000" dirty="0"/>
              <a:t>DUT: </a:t>
            </a:r>
            <a:r>
              <a:rPr lang="en-US" sz="2000" dirty="0" err="1"/>
              <a:t>bnn_fcc</a:t>
            </a:r>
            <a:r>
              <a:rPr lang="en-US" sz="2000" dirty="0"/>
              <a:t> (binary neural net, fully connected classifier)</a:t>
            </a:r>
          </a:p>
          <a:p>
            <a:r>
              <a:rPr lang="en-US" sz="2000" dirty="0"/>
              <a:t>Three main ports, all AXI4 streaming interfaces</a:t>
            </a:r>
          </a:p>
          <a:p>
            <a:r>
              <a:rPr lang="en-US" sz="2000" dirty="0"/>
              <a:t>Configuration port:</a:t>
            </a:r>
          </a:p>
          <a:p>
            <a:pPr lvl="1"/>
            <a:r>
              <a:rPr lang="en-US" sz="1800" dirty="0"/>
              <a:t>Streams weights &amp; thresholds for every neuron in every layer</a:t>
            </a:r>
          </a:p>
          <a:p>
            <a:pPr lvl="1"/>
            <a:r>
              <a:rPr lang="en-US" sz="1800" dirty="0"/>
              <a:t>Bus width is configurable, but set to 64 in the testbench</a:t>
            </a:r>
          </a:p>
          <a:p>
            <a:pPr lvl="1"/>
            <a:r>
              <a:rPr lang="en-US" sz="1800" dirty="0"/>
              <a:t>Config stream provided before any image inputs</a:t>
            </a:r>
          </a:p>
          <a:p>
            <a:pPr lvl="1"/>
            <a:r>
              <a:rPr lang="en-US" sz="1800" dirty="0"/>
              <a:t>Later slide shows stream’s data format</a:t>
            </a:r>
          </a:p>
          <a:p>
            <a:r>
              <a:rPr lang="en-US" sz="2000" dirty="0"/>
              <a:t>Input port:</a:t>
            </a:r>
          </a:p>
          <a:p>
            <a:pPr lvl="1"/>
            <a:r>
              <a:rPr lang="en-US" sz="1800" dirty="0"/>
              <a:t>Streams 8-bit pixels over configurable-width bus (defaults to 64 bits)</a:t>
            </a:r>
          </a:p>
          <a:p>
            <a:pPr lvl="1"/>
            <a:r>
              <a:rPr lang="en-US" sz="1800" dirty="0"/>
              <a:t>Stream starts after configuration complete</a:t>
            </a:r>
          </a:p>
          <a:p>
            <a:r>
              <a:rPr lang="en-US" sz="2000" dirty="0"/>
              <a:t>Output port:</a:t>
            </a:r>
          </a:p>
          <a:p>
            <a:pPr lvl="1"/>
            <a:r>
              <a:rPr lang="en-US" sz="1800" dirty="0"/>
              <a:t>DUT provides stream of 8-bit classification outputs</a:t>
            </a:r>
          </a:p>
          <a:p>
            <a:pPr lvl="1"/>
            <a:r>
              <a:rPr lang="en-US" sz="1800" dirty="0"/>
              <a:t>Actual 4-bit outputs must be expanded to 8 bits due to AXI byte requirement</a:t>
            </a:r>
          </a:p>
          <a:p>
            <a:pPr lvl="1"/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E0C0FC-C3A7-1744-2DE1-F8E8C31A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DUT (</a:t>
            </a:r>
            <a:r>
              <a:rPr lang="en-US" dirty="0" err="1"/>
              <a:t>bnn_fcc</a:t>
            </a:r>
            <a:r>
              <a:rPr lang="en-US" dirty="0"/>
              <a:t>) Interface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34C67B-5E8B-3E02-1D88-65C1A668D511}"/>
              </a:ext>
            </a:extLst>
          </p:cNvPr>
          <p:cNvSpPr/>
          <p:nvPr/>
        </p:nvSpPr>
        <p:spPr>
          <a:xfrm>
            <a:off x="8394700" y="2937789"/>
            <a:ext cx="2895600" cy="1435238"/>
          </a:xfrm>
          <a:prstGeom prst="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ctr" anchorCtr="1">
            <a:noAutofit/>
          </a:bodyPr>
          <a:lstStyle/>
          <a:p>
            <a:pPr algn="ctr" defTabSz="584200" rtl="0" latinLnBrk="1" hangingPunct="0"/>
            <a:r>
              <a:rPr lang="en-US" sz="2000" dirty="0" err="1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sym typeface="Gill Sans"/>
              </a:rPr>
              <a:t>bnn_fcc</a:t>
            </a:r>
            <a:endParaRPr lang="en-US" sz="2000" dirty="0"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sym typeface="Gill San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3DB9D9F-AFCD-F437-5252-FEAFDFF025F2}"/>
              </a:ext>
            </a:extLst>
          </p:cNvPr>
          <p:cNvCxnSpPr>
            <a:cxnSpLocks/>
          </p:cNvCxnSpPr>
          <p:nvPr/>
        </p:nvCxnSpPr>
        <p:spPr>
          <a:xfrm>
            <a:off x="9121862" y="2419350"/>
            <a:ext cx="0" cy="518439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headEnd type="none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23AC4B-7EC4-DEC2-FA90-62891202223C}"/>
              </a:ext>
            </a:extLst>
          </p:cNvPr>
          <p:cNvCxnSpPr>
            <a:cxnSpLocks/>
          </p:cNvCxnSpPr>
          <p:nvPr/>
        </p:nvCxnSpPr>
        <p:spPr>
          <a:xfrm>
            <a:off x="10480762" y="2419350"/>
            <a:ext cx="0" cy="518439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headEnd type="none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D3CDA4-8DDF-DEB0-8E31-4040BFB5782A}"/>
              </a:ext>
            </a:extLst>
          </p:cNvPr>
          <p:cNvCxnSpPr>
            <a:cxnSpLocks/>
          </p:cNvCxnSpPr>
          <p:nvPr/>
        </p:nvCxnSpPr>
        <p:spPr>
          <a:xfrm>
            <a:off x="9845762" y="4373027"/>
            <a:ext cx="0" cy="518439"/>
          </a:xfrm>
          <a:prstGeom prst="straightConnector1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headEnd type="none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0513D7-CFD3-2152-7EE6-DD974292CC49}"/>
              </a:ext>
            </a:extLst>
          </p:cNvPr>
          <p:cNvSpPr txBox="1"/>
          <p:nvPr/>
        </p:nvSpPr>
        <p:spPr>
          <a:xfrm>
            <a:off x="8794383" y="2106870"/>
            <a:ext cx="65495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config</a:t>
            </a:r>
            <a:endParaRPr lang="en-US" sz="1200" i="1" baseline="-25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C0AE60-2943-B60D-4D0D-762421E3BCA5}"/>
              </a:ext>
            </a:extLst>
          </p:cNvPr>
          <p:cNvSpPr txBox="1"/>
          <p:nvPr/>
        </p:nvSpPr>
        <p:spPr>
          <a:xfrm>
            <a:off x="10191556" y="2106869"/>
            <a:ext cx="87014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 err="1"/>
              <a:t>data_in</a:t>
            </a:r>
            <a:endParaRPr lang="en-US" sz="1200" i="1" baseline="-25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9BBDE1-2846-CDD8-90C8-9BF1B4FB0602}"/>
              </a:ext>
            </a:extLst>
          </p:cNvPr>
          <p:cNvSpPr txBox="1"/>
          <p:nvPr/>
        </p:nvSpPr>
        <p:spPr>
          <a:xfrm>
            <a:off x="9449341" y="4891466"/>
            <a:ext cx="87014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 err="1"/>
              <a:t>data_out</a:t>
            </a:r>
            <a:endParaRPr lang="en-US" sz="1200" i="1" baseline="-250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032500-6BFB-969B-8C85-0DBCD15F0155}"/>
              </a:ext>
            </a:extLst>
          </p:cNvPr>
          <p:cNvCxnSpPr/>
          <p:nvPr/>
        </p:nvCxnSpPr>
        <p:spPr>
          <a:xfrm>
            <a:off x="7981950" y="3257550"/>
            <a:ext cx="412750" cy="0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A94447-C1AD-B29C-85DF-EF13EA58742D}"/>
              </a:ext>
            </a:extLst>
          </p:cNvPr>
          <p:cNvCxnSpPr/>
          <p:nvPr/>
        </p:nvCxnSpPr>
        <p:spPr>
          <a:xfrm>
            <a:off x="7981950" y="3949700"/>
            <a:ext cx="412750" cy="0"/>
          </a:xfrm>
          <a:prstGeom prst="straightConnector1">
            <a:avLst/>
          </a:prstGeom>
          <a:noFill/>
          <a:ln w="1905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7A1196E-6E28-9629-FC18-796E5D60F9AF}"/>
              </a:ext>
            </a:extLst>
          </p:cNvPr>
          <p:cNvSpPr txBox="1"/>
          <p:nvPr/>
        </p:nvSpPr>
        <p:spPr>
          <a:xfrm>
            <a:off x="7659729" y="3109039"/>
            <a:ext cx="2803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 err="1"/>
              <a:t>clk</a:t>
            </a:r>
            <a:endParaRPr lang="en-US" sz="1200" i="1" baseline="-25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723F0F-BE8B-96B2-669C-F18FEE29401E}"/>
              </a:ext>
            </a:extLst>
          </p:cNvPr>
          <p:cNvSpPr txBox="1"/>
          <p:nvPr/>
        </p:nvSpPr>
        <p:spPr>
          <a:xfrm>
            <a:off x="7640679" y="3807539"/>
            <a:ext cx="2803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 err="1"/>
              <a:t>rst</a:t>
            </a:r>
            <a:endParaRPr lang="en-US" sz="1200" i="1" baseline="-250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FF3FC2A-87F9-51B4-4B34-F6860AB4E844}"/>
              </a:ext>
            </a:extLst>
          </p:cNvPr>
          <p:cNvCxnSpPr>
            <a:cxnSpLocks/>
          </p:cNvCxnSpPr>
          <p:nvPr/>
        </p:nvCxnSpPr>
        <p:spPr>
          <a:xfrm>
            <a:off x="10414000" y="2582430"/>
            <a:ext cx="136612" cy="96139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C82D0E-2FB0-9FFD-0269-E0CA6E548233}"/>
              </a:ext>
            </a:extLst>
          </p:cNvPr>
          <p:cNvCxnSpPr>
            <a:cxnSpLocks/>
          </p:cNvCxnSpPr>
          <p:nvPr/>
        </p:nvCxnSpPr>
        <p:spPr>
          <a:xfrm>
            <a:off x="9053556" y="2599611"/>
            <a:ext cx="136612" cy="96139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1972BA-C0BE-67B6-9CA8-630BBE5FDA16}"/>
              </a:ext>
            </a:extLst>
          </p:cNvPr>
          <p:cNvCxnSpPr>
            <a:cxnSpLocks/>
          </p:cNvCxnSpPr>
          <p:nvPr/>
        </p:nvCxnSpPr>
        <p:spPr>
          <a:xfrm>
            <a:off x="9780544" y="4536107"/>
            <a:ext cx="136612" cy="96139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60B468D-4F8F-C754-0FBE-0988232CE313}"/>
              </a:ext>
            </a:extLst>
          </p:cNvPr>
          <p:cNvSpPr txBox="1"/>
          <p:nvPr/>
        </p:nvSpPr>
        <p:spPr>
          <a:xfrm>
            <a:off x="9246323" y="2507388"/>
            <a:ext cx="2803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64</a:t>
            </a:r>
            <a:endParaRPr lang="en-US" sz="1200" i="1" baseline="-25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76002-3323-A23E-44C6-B5171EE76740}"/>
              </a:ext>
            </a:extLst>
          </p:cNvPr>
          <p:cNvSpPr txBox="1"/>
          <p:nvPr/>
        </p:nvSpPr>
        <p:spPr>
          <a:xfrm>
            <a:off x="10597416" y="2524569"/>
            <a:ext cx="2803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64</a:t>
            </a:r>
            <a:endParaRPr lang="en-US" sz="1200" i="1" baseline="-25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ACA7DB-FC73-8060-08B8-39C2DB748717}"/>
              </a:ext>
            </a:extLst>
          </p:cNvPr>
          <p:cNvSpPr txBox="1"/>
          <p:nvPr/>
        </p:nvSpPr>
        <p:spPr>
          <a:xfrm>
            <a:off x="10001959" y="4461065"/>
            <a:ext cx="2803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8</a:t>
            </a:r>
            <a:endParaRPr lang="en-US" sz="1200" i="1" baseline="-25000" dirty="0"/>
          </a:p>
        </p:txBody>
      </p:sp>
    </p:spTree>
    <p:extLst>
      <p:ext uri="{BB962C8B-B14F-4D97-AF65-F5344CB8AC3E}">
        <p14:creationId xmlns:p14="http://schemas.microsoft.com/office/powerpoint/2010/main" val="206268253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462B9C-4672-AFF9-FE64-E2E1DD01E5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400" dirty="0"/>
              <a:t>The config port streams in all weights and thresholds</a:t>
            </a:r>
          </a:p>
          <a:p>
            <a:pPr lvl="1"/>
            <a:r>
              <a:rPr lang="en-US" sz="2000" dirty="0"/>
              <a:t>Messages are specific to a layer</a:t>
            </a:r>
          </a:p>
          <a:p>
            <a:pPr lvl="2"/>
            <a:r>
              <a:rPr lang="en-US" sz="1600" dirty="0"/>
              <a:t>Config stream provides two messages per layer (one for weights, one for thresholds)</a:t>
            </a:r>
          </a:p>
          <a:p>
            <a:pPr lvl="1"/>
            <a:r>
              <a:rPr lang="en-US" sz="2000" dirty="0"/>
              <a:t>Provided in format that imitates network communication</a:t>
            </a:r>
          </a:p>
          <a:p>
            <a:r>
              <a:rPr lang="en-US" sz="2400" dirty="0"/>
              <a:t>Configuration header (1</a:t>
            </a:r>
            <a:r>
              <a:rPr lang="en-US" sz="2400" baseline="30000" dirty="0"/>
              <a:t>st</a:t>
            </a:r>
            <a:r>
              <a:rPr lang="en-US" sz="2400" dirty="0"/>
              <a:t> 128-bits of message stream)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20115C-C8F2-0CA7-DF73-E020B8111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Format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F8F2C9-5C10-E401-9ABB-73223D4EA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584083"/>
              </p:ext>
            </p:extLst>
          </p:nvPr>
        </p:nvGraphicFramePr>
        <p:xfrm>
          <a:off x="1774824" y="3061175"/>
          <a:ext cx="8642351" cy="2944554"/>
        </p:xfrm>
        <a:graphic>
          <a:graphicData uri="http://schemas.openxmlformats.org/drawingml/2006/table">
            <a:tbl>
              <a:tblPr/>
              <a:tblGrid>
                <a:gridCol w="1168400">
                  <a:extLst>
                    <a:ext uri="{9D8B030D-6E8A-4147-A177-3AD203B41FA5}">
                      <a16:colId xmlns:a16="http://schemas.microsoft.com/office/drawing/2014/main" val="787999159"/>
                    </a:ext>
                  </a:extLst>
                </a:gridCol>
                <a:gridCol w="1920876">
                  <a:extLst>
                    <a:ext uri="{9D8B030D-6E8A-4147-A177-3AD203B41FA5}">
                      <a16:colId xmlns:a16="http://schemas.microsoft.com/office/drawing/2014/main" val="4042987567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92826399"/>
                    </a:ext>
                  </a:extLst>
                </a:gridCol>
                <a:gridCol w="4156075">
                  <a:extLst>
                    <a:ext uri="{9D8B030D-6E8A-4147-A177-3AD203B41FA5}">
                      <a16:colId xmlns:a16="http://schemas.microsoft.com/office/drawing/2014/main" val="1604853108"/>
                    </a:ext>
                  </a:extLst>
                </a:gridCol>
              </a:tblGrid>
              <a:tr h="2541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Bit Field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Name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Width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Description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593128"/>
                  </a:ext>
                </a:extLst>
              </a:tr>
              <a:tr h="2541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[7:0]</a:t>
                      </a:r>
                      <a:endParaRPr lang="en-US" sz="1200">
                        <a:effectLst/>
                      </a:endParaRP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Monaspace Neon"/>
                        </a:rPr>
                        <a:t>msg_type</a:t>
                      </a:r>
                      <a:endParaRPr lang="en-US" sz="1200">
                        <a:effectLst/>
                      </a:endParaRP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Monaspace Neon"/>
                        </a:rPr>
                        <a:t>0</a:t>
                      </a:r>
                      <a:r>
                        <a:rPr lang="en-US" sz="1200">
                          <a:effectLst/>
                        </a:rPr>
                        <a:t> = Weights, </a:t>
                      </a:r>
                      <a:r>
                        <a:rPr lang="en-US" sz="1200">
                          <a:effectLst/>
                          <a:latin typeface="Monaspace Neon"/>
                        </a:rPr>
                        <a:t>1</a:t>
                      </a:r>
                      <a:r>
                        <a:rPr lang="en-US" sz="1200">
                          <a:effectLst/>
                        </a:rPr>
                        <a:t> = Thresholds.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817282"/>
                  </a:ext>
                </a:extLst>
              </a:tr>
              <a:tr h="2541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[15:8]</a:t>
                      </a:r>
                      <a:endParaRPr lang="en-US" sz="1200">
                        <a:effectLst/>
                      </a:endParaRP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Monaspace Neon"/>
                        </a:rPr>
                        <a:t>layer_id</a:t>
                      </a:r>
                      <a:endParaRPr lang="en-US" sz="1200">
                        <a:effectLst/>
                      </a:endParaRP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Index of the current layer.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916874"/>
                  </a:ext>
                </a:extLst>
              </a:tr>
              <a:tr h="6141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[31:16]</a:t>
                      </a:r>
                      <a:endParaRPr lang="en-US" sz="1200">
                        <a:effectLst/>
                      </a:endParaRP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Monaspace Neon"/>
                        </a:rPr>
                        <a:t>layer_inputs</a:t>
                      </a:r>
                      <a:endParaRPr lang="en-US" sz="1200">
                        <a:effectLst/>
                      </a:endParaRP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Exact fan-in (e.g., 784) of </a:t>
                      </a:r>
                      <a:r>
                        <a:rPr lang="en-US" sz="1200" dirty="0" err="1">
                          <a:effectLst/>
                          <a:latin typeface="Monaspace Neon"/>
                        </a:rPr>
                        <a:t>layer_id</a:t>
                      </a:r>
                      <a:r>
                        <a:rPr lang="en-US" sz="1200" dirty="0">
                          <a:effectLst/>
                        </a:rPr>
                        <a:t> (ignore when </a:t>
                      </a:r>
                      <a:r>
                        <a:rPr lang="en-US" sz="1200" dirty="0" err="1">
                          <a:effectLst/>
                        </a:rPr>
                        <a:t>msg_type</a:t>
                      </a:r>
                      <a:r>
                        <a:rPr lang="en-US" sz="1200" dirty="0">
                          <a:effectLst/>
                        </a:rPr>
                        <a:t>=1)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134448"/>
                  </a:ext>
                </a:extLst>
              </a:tr>
              <a:tr h="4341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[47:32]</a:t>
                      </a:r>
                      <a:endParaRPr lang="en-US" sz="1200">
                        <a:effectLst/>
                      </a:endParaRP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Monaspace Neon"/>
                        </a:rPr>
                        <a:t>num_neurons</a:t>
                      </a:r>
                      <a:endParaRPr lang="en-US" sz="1200">
                        <a:effectLst/>
                      </a:endParaRP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Total number of neurons in </a:t>
                      </a:r>
                      <a:r>
                        <a:rPr lang="en-US" sz="1200">
                          <a:effectLst/>
                          <a:latin typeface="Monaspace Neon"/>
                        </a:rPr>
                        <a:t>layer_id</a:t>
                      </a:r>
                      <a:r>
                        <a:rPr lang="en-US" sz="1200">
                          <a:effectLst/>
                        </a:rPr>
                        <a:t>.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147879"/>
                  </a:ext>
                </a:extLst>
              </a:tr>
              <a:tr h="4341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[63:48]</a:t>
                      </a:r>
                      <a:endParaRPr lang="en-US" sz="1200">
                        <a:effectLst/>
                      </a:endParaRP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Monaspace Neon"/>
                        </a:rPr>
                        <a:t>bytes_per_neuron</a:t>
                      </a:r>
                      <a:endParaRPr lang="en-US" sz="1200">
                        <a:effectLst/>
                      </a:endParaRP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16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Number of bytes in the payload per neuron.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668853"/>
                  </a:ext>
                </a:extLst>
              </a:tr>
              <a:tr h="4341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[95:64]</a:t>
                      </a:r>
                      <a:endParaRPr lang="en-US" sz="1200">
                        <a:effectLst/>
                      </a:endParaRP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Monaspace Neon"/>
                        </a:rPr>
                        <a:t>total_bytes</a:t>
                      </a:r>
                      <a:endParaRPr lang="en-US" sz="1200" dirty="0">
                        <a:effectLst/>
                      </a:endParaRP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32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Total payload bytes for the message.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821567"/>
                  </a:ext>
                </a:extLst>
              </a:tr>
              <a:tr h="2541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[127:96]</a:t>
                      </a:r>
                      <a:endParaRPr lang="en-US" sz="1200">
                        <a:effectLst/>
                      </a:endParaRP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Monaspace Neon"/>
                        </a:rPr>
                        <a:t>reserved</a:t>
                      </a:r>
                      <a:endParaRPr lang="en-US" sz="1200" dirty="0">
                        <a:effectLst/>
                      </a:endParaRP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32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Reserved for future use.</a:t>
                      </a:r>
                    </a:p>
                  </a:txBody>
                  <a:tcPr marL="80325" marR="80325" marT="37073" marB="37073" anchor="ctr">
                    <a:lnL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613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02524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F774B-F170-0AFE-1E0B-95E6CE4C6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3B0B98-6544-A921-67A2-7D54E42767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400" dirty="0"/>
              <a:t>Payload immediately follows configuration header</a:t>
            </a:r>
          </a:p>
          <a:p>
            <a:pPr lvl="1"/>
            <a:r>
              <a:rPr lang="en-US" sz="1800" dirty="0"/>
              <a:t>Length in bytes specified by </a:t>
            </a:r>
            <a:r>
              <a:rPr lang="en-US" sz="1800" dirty="0" err="1"/>
              <a:t>total_bytes</a:t>
            </a:r>
            <a:r>
              <a:rPr lang="en-US" sz="1800" dirty="0"/>
              <a:t> field in header</a:t>
            </a:r>
          </a:p>
          <a:p>
            <a:r>
              <a:rPr lang="en-US" sz="2400" dirty="0"/>
              <a:t>For weights (</a:t>
            </a:r>
            <a:r>
              <a:rPr lang="en-US" sz="2400" dirty="0" err="1"/>
              <a:t>msg_type</a:t>
            </a:r>
            <a:r>
              <a:rPr lang="en-US" sz="2400" dirty="0"/>
              <a:t>=0), payload packs weights for each neuron in the layer in consecutive order</a:t>
            </a:r>
          </a:p>
          <a:p>
            <a:pPr lvl="1"/>
            <a:r>
              <a:rPr lang="en-US" sz="1800" dirty="0"/>
              <a:t>Neuron weights are byte-aligned to simplify parsing</a:t>
            </a:r>
          </a:p>
          <a:p>
            <a:pPr lvl="1"/>
            <a:r>
              <a:rPr lang="en-US" sz="1800" dirty="0"/>
              <a:t>Requires padding if neuron weights aren’t a multiple of 8</a:t>
            </a:r>
          </a:p>
          <a:p>
            <a:pPr lvl="1"/>
            <a:r>
              <a:rPr lang="en-US" sz="1800" dirty="0"/>
              <a:t>Unused bits padded with 1s to avoid affecting </a:t>
            </a:r>
            <a:r>
              <a:rPr lang="en-US" sz="1800" dirty="0" err="1"/>
              <a:t>popcount</a:t>
            </a:r>
            <a:endParaRPr lang="en-US" sz="1800" dirty="0"/>
          </a:p>
          <a:p>
            <a:r>
              <a:rPr lang="en-US" sz="2400" dirty="0"/>
              <a:t>Simple example (10 weights per neuron):</a:t>
            </a:r>
          </a:p>
          <a:p>
            <a:pPr lvl="1"/>
            <a:r>
              <a:rPr lang="en-US" sz="1800" dirty="0"/>
              <a:t>Neuron 0: weights b0101101110</a:t>
            </a:r>
          </a:p>
          <a:p>
            <a:pPr lvl="1"/>
            <a:r>
              <a:rPr lang="en-US" sz="1800" dirty="0"/>
              <a:t>Neuron 1: weights b0010001010</a:t>
            </a:r>
          </a:p>
          <a:p>
            <a:pPr lvl="1"/>
            <a:endParaRPr lang="en-US" sz="1800" dirty="0"/>
          </a:p>
          <a:p>
            <a:endParaRPr lang="en-US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22252C-3ECE-DC11-1397-F7DC153C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Format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61DD5-62D7-5AAA-5561-37C1EEBF109D}"/>
              </a:ext>
            </a:extLst>
          </p:cNvPr>
          <p:cNvSpPr txBox="1"/>
          <p:nvPr/>
        </p:nvSpPr>
        <p:spPr>
          <a:xfrm>
            <a:off x="2666998" y="4760397"/>
            <a:ext cx="7759702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01101110  // Byte 0: Neuron 0, weights 0-7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111111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01  // Byte 1: Neuron 0, 6 padded bits + weights 8-9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10001010  // Byte 2: Neuron 1, Weights 0-7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111111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00  // Byte 3: Neuron 1, 6 padded bits + weights 8-9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19501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6428C-9020-A2B2-9676-15908EF2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6A54B3-608A-7845-9565-68ED629349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400" dirty="0"/>
              <a:t>For thresholds (</a:t>
            </a:r>
            <a:r>
              <a:rPr lang="en-US" sz="2400" dirty="0" err="1"/>
              <a:t>msg_type</a:t>
            </a:r>
            <a:r>
              <a:rPr lang="en-US" sz="2400" dirty="0"/>
              <a:t>=1), payload packs 32-bit thresholds for each neuron in the layer in consecutive order</a:t>
            </a:r>
          </a:p>
          <a:p>
            <a:r>
              <a:rPr lang="en-US" sz="2400"/>
              <a:t>Simple </a:t>
            </a:r>
            <a:r>
              <a:rPr lang="en-US" sz="2400" dirty="0"/>
              <a:t>example:</a:t>
            </a:r>
          </a:p>
          <a:p>
            <a:pPr lvl="1"/>
            <a:r>
              <a:rPr lang="en-US" sz="1800" dirty="0"/>
              <a:t>Neuron 0: threshold = 32</a:t>
            </a:r>
          </a:p>
          <a:p>
            <a:pPr lvl="1"/>
            <a:r>
              <a:rPr lang="en-US" sz="1800" dirty="0"/>
              <a:t>Neuron 1: threshold = 7</a:t>
            </a:r>
          </a:p>
          <a:p>
            <a:pPr lvl="1"/>
            <a:endParaRPr lang="en-US" sz="1800" dirty="0"/>
          </a:p>
          <a:p>
            <a:endParaRPr lang="en-US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DDF326-3400-0040-768F-DF039401A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Format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E25C3D-AE52-5FC0-0A6D-C4DCD83B3D74}"/>
              </a:ext>
            </a:extLst>
          </p:cNvPr>
          <p:cNvSpPr txBox="1"/>
          <p:nvPr/>
        </p:nvSpPr>
        <p:spPr>
          <a:xfrm>
            <a:off x="2724148" y="3537218"/>
            <a:ext cx="7759702" cy="207236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00100000  // Byte 0: Neuron 0 threshold byte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00000000  // Byte 1: Neuron 0 threshold byte 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00000000  // Byte 2: Neuron 0 threshold byte 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00000000  // Byte 3: Neuron 0 threshold byte 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00000111  // Byte 4: Neuron 1 threshold byte 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00000000  // Byte 5: Neuron 1 threshold byte 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00000000  // Byte 6: Neuron 1 threshold byte 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00000000  // Byte 7: Neuron 1 threshold byte 3</a:t>
            </a:r>
          </a:p>
        </p:txBody>
      </p:sp>
    </p:spTree>
    <p:extLst>
      <p:ext uri="{BB962C8B-B14F-4D97-AF65-F5344CB8AC3E}">
        <p14:creationId xmlns:p14="http://schemas.microsoft.com/office/powerpoint/2010/main" val="37220765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FE7D34-D3E2-942D-EC55-B5112D35DD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400" dirty="0"/>
              <a:t>Where to store data after parsing it?</a:t>
            </a:r>
          </a:p>
          <a:p>
            <a:pPr lvl="1"/>
            <a:r>
              <a:rPr lang="en-US" sz="2000" dirty="0"/>
              <a:t>You will need to design your own custom memory architecture</a:t>
            </a:r>
          </a:p>
          <a:p>
            <a:pPr lvl="2"/>
            <a:r>
              <a:rPr lang="en-US" sz="1600" dirty="0"/>
              <a:t>And, figure out how to organize the data across the architecture (data layout)</a:t>
            </a:r>
          </a:p>
          <a:p>
            <a:pPr lvl="1"/>
            <a:r>
              <a:rPr lang="en-US" sz="2000" dirty="0"/>
              <a:t>Examples</a:t>
            </a:r>
          </a:p>
          <a:p>
            <a:pPr lvl="2"/>
            <a:r>
              <a:rPr lang="en-US" sz="1600" dirty="0"/>
              <a:t>Put all weights in one large block RAM addressable by layer, neuron, and input</a:t>
            </a:r>
          </a:p>
          <a:p>
            <a:pPr lvl="3"/>
            <a:r>
              <a:rPr lang="en-US" sz="1400" dirty="0"/>
              <a:t>Conceptually simple, but restricts parallelism</a:t>
            </a:r>
          </a:p>
          <a:p>
            <a:pPr lvl="2"/>
            <a:r>
              <a:rPr lang="en-US" sz="1600" dirty="0"/>
              <a:t>Separate block RAM for each neuron processor</a:t>
            </a:r>
          </a:p>
          <a:p>
            <a:pPr lvl="3"/>
            <a:r>
              <a:rPr lang="en-US" sz="1400" dirty="0"/>
              <a:t>Store the weights for all neurons that will be executed on that processor across all layers</a:t>
            </a:r>
          </a:p>
          <a:p>
            <a:pPr lvl="2"/>
            <a:r>
              <a:rPr lang="en-US" sz="1600" dirty="0"/>
              <a:t>Separate block RAM for each neuron processor in each layer</a:t>
            </a:r>
          </a:p>
          <a:p>
            <a:pPr lvl="2"/>
            <a:r>
              <a:rPr lang="en-US" sz="1600" dirty="0"/>
              <a:t>Separate block RAMs for weights and thresholds</a:t>
            </a:r>
          </a:p>
          <a:p>
            <a:pPr lvl="3"/>
            <a:r>
              <a:rPr lang="en-US" sz="1400" dirty="0"/>
              <a:t>Probably a good idea to simplify addressing logic</a:t>
            </a:r>
          </a:p>
          <a:p>
            <a:r>
              <a:rPr lang="en-US" sz="2400" dirty="0"/>
              <a:t>“Configuration Manager” will parse data from stream and store it in appropriate on-chip memory</a:t>
            </a:r>
          </a:p>
          <a:p>
            <a:pPr lvl="1"/>
            <a:r>
              <a:rPr lang="en-US" sz="2000" dirty="0"/>
              <a:t>Most important part of the entire project</a:t>
            </a:r>
          </a:p>
          <a:p>
            <a:pPr lvl="1"/>
            <a:r>
              <a:rPr lang="en-US" sz="2000" dirty="0"/>
              <a:t>All other parts rely on memory architecture </a:t>
            </a:r>
          </a:p>
          <a:p>
            <a:pPr lvl="2"/>
            <a:endParaRPr lang="en-US" sz="1600" dirty="0"/>
          </a:p>
          <a:p>
            <a:pPr lvl="3"/>
            <a:endParaRPr lang="en-US" sz="1400" dirty="0"/>
          </a:p>
          <a:p>
            <a:pPr lvl="2"/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99BBC1-ACB2-8B2E-E0B9-8DD934A6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Memory Architecture and Data Layout</a:t>
            </a:r>
          </a:p>
        </p:txBody>
      </p:sp>
    </p:spTree>
    <p:extLst>
      <p:ext uri="{BB962C8B-B14F-4D97-AF65-F5344CB8AC3E}">
        <p14:creationId xmlns:p14="http://schemas.microsoft.com/office/powerpoint/2010/main" val="334304361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D42B9F-7E66-5943-6AF9-0D58B6FA8757}"/>
              </a:ext>
            </a:extLst>
          </p:cNvPr>
          <p:cNvSpPr/>
          <p:nvPr/>
        </p:nvSpPr>
        <p:spPr>
          <a:xfrm>
            <a:off x="6565040" y="3997740"/>
            <a:ext cx="2197962" cy="720850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spc="0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rial" panose="020B0604020202020204" pitchFamily="34" charset="0"/>
              <a:ea typeface="Gill Sans"/>
              <a:cs typeface="Arial" panose="020B0604020202020204" pitchFamily="34" charset="0"/>
              <a:sym typeface="Gill San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D51709-C5B5-A6C5-A018-2B3CBD1EA99D}"/>
              </a:ext>
            </a:extLst>
          </p:cNvPr>
          <p:cNvSpPr/>
          <p:nvPr/>
        </p:nvSpPr>
        <p:spPr>
          <a:xfrm>
            <a:off x="6507890" y="3939097"/>
            <a:ext cx="2197962" cy="720850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spc="0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rial" panose="020B0604020202020204" pitchFamily="34" charset="0"/>
              <a:ea typeface="Gill Sans"/>
              <a:cs typeface="Arial" panose="020B0604020202020204" pitchFamily="34" charset="0"/>
              <a:sym typeface="Gill San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9C654F-661F-14EF-EB81-34F588E874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400" dirty="0"/>
              <a:t>Completely up to you, but I suggest something like this:</a:t>
            </a:r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C10340-6DA3-96C4-D2D9-7281239C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589BB1-C6C5-DB1B-7422-5787DF2E95AF}"/>
              </a:ext>
            </a:extLst>
          </p:cNvPr>
          <p:cNvSpPr/>
          <p:nvPr/>
        </p:nvSpPr>
        <p:spPr>
          <a:xfrm>
            <a:off x="1396138" y="3880454"/>
            <a:ext cx="2197962" cy="720850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Configuration </a:t>
            </a:r>
          </a:p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Manager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1F6DF2-8935-2EA2-4BE7-36A182B67FA1}"/>
              </a:ext>
            </a:extLst>
          </p:cNvPr>
          <p:cNvSpPr/>
          <p:nvPr/>
        </p:nvSpPr>
        <p:spPr>
          <a:xfrm>
            <a:off x="3923438" y="3880454"/>
            <a:ext cx="2197962" cy="720850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Weight/Threshold </a:t>
            </a:r>
            <a:b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</a:b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Memory Architecture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B090C6-4567-2FFC-BE58-ADA4A9E0B9C1}"/>
              </a:ext>
            </a:extLst>
          </p:cNvPr>
          <p:cNvSpPr/>
          <p:nvPr/>
        </p:nvSpPr>
        <p:spPr>
          <a:xfrm>
            <a:off x="6450740" y="3880454"/>
            <a:ext cx="2197962" cy="720850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Neuron</a:t>
            </a:r>
            <a:b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</a:b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Processors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92CAAD-2B93-A723-ADA3-B5C9D53AC3DD}"/>
              </a:ext>
            </a:extLst>
          </p:cNvPr>
          <p:cNvSpPr/>
          <p:nvPr/>
        </p:nvSpPr>
        <p:spPr>
          <a:xfrm>
            <a:off x="6450740" y="3127653"/>
            <a:ext cx="2197962" cy="418590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I/O Buffers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68AE15-B683-7941-FBB4-E53EB389992E}"/>
              </a:ext>
            </a:extLst>
          </p:cNvPr>
          <p:cNvSpPr/>
          <p:nvPr/>
        </p:nvSpPr>
        <p:spPr>
          <a:xfrm>
            <a:off x="6507890" y="5049567"/>
            <a:ext cx="2197962" cy="450246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argmax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1128D4-6222-F957-6854-8A4121BA8382}"/>
              </a:ext>
            </a:extLst>
          </p:cNvPr>
          <p:cNvSpPr/>
          <p:nvPr/>
        </p:nvSpPr>
        <p:spPr>
          <a:xfrm>
            <a:off x="6450740" y="2362595"/>
            <a:ext cx="2197962" cy="47101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i="1" baseline="-25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Input Binarization</a:t>
            </a:r>
            <a:endParaRPr kumimoji="0" lang="en-US" sz="2400" b="0" i="1" u="none" strike="noStrike" cap="none" spc="0" normalizeH="0" baseline="-25000" dirty="0">
              <a:ln>
                <a:noFill/>
              </a:ln>
              <a:solidFill>
                <a:schemeClr val="tx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Arial" panose="020B0604020202020204" pitchFamily="34" charset="0"/>
              <a:ea typeface="Gill Sans"/>
              <a:cs typeface="Arial" panose="020B0604020202020204" pitchFamily="34" charset="0"/>
              <a:sym typeface="Gill Sans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69A565-15A2-20F9-CA09-6063F4205DEA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495119" y="1994851"/>
            <a:ext cx="0" cy="1885603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7EFA5E-E9DE-79ED-0ABB-513EF46B2BA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594100" y="4240879"/>
            <a:ext cx="329338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1575291-C738-E9BA-5AFB-124321AF985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121400" y="4240879"/>
            <a:ext cx="329340" cy="0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67BD64-1DDB-2969-FF5B-7C5EE1E262AC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7549721" y="1987550"/>
            <a:ext cx="0" cy="375045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1D1CD62-88A5-0CFA-CB0B-B6A494F2B9F2}"/>
              </a:ext>
            </a:extLst>
          </p:cNvPr>
          <p:cNvCxnSpPr>
            <a:cxnSpLocks/>
            <a:stCxn id="9" idx="2"/>
            <a:endCxn id="7" idx="0"/>
          </p:cNvCxnSpPr>
          <p:nvPr/>
        </p:nvCxnSpPr>
        <p:spPr>
          <a:xfrm>
            <a:off x="7549721" y="2833612"/>
            <a:ext cx="0" cy="29404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EC12D2A-D43C-6642-A9FC-00B0DA13A33A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7549721" y="3546243"/>
            <a:ext cx="0" cy="334211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headEnd type="triangle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34F124F-C55E-2537-1BAB-7F78C532B5E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606871" y="4718590"/>
            <a:ext cx="0" cy="330977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6ACFEBB-6595-E76F-0318-58F43D186B17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606871" y="5499813"/>
            <a:ext cx="0" cy="24217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2E7AF2C-3B9F-17F1-8CD0-75382E37F39B}"/>
              </a:ext>
            </a:extLst>
          </p:cNvPr>
          <p:cNvSpPr txBox="1"/>
          <p:nvPr/>
        </p:nvSpPr>
        <p:spPr>
          <a:xfrm>
            <a:off x="1526850" y="1646038"/>
            <a:ext cx="2319136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i="1" dirty="0">
                <a:solidFill>
                  <a:srgbClr val="000000"/>
                </a:solidFill>
              </a:rPr>
              <a:t>Configuration Stream</a:t>
            </a:r>
            <a:endParaRPr kumimoji="0" lang="en-US" sz="12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289484-E23D-4644-2439-F3AAB644BAD5}"/>
              </a:ext>
            </a:extLst>
          </p:cNvPr>
          <p:cNvSpPr txBox="1"/>
          <p:nvPr/>
        </p:nvSpPr>
        <p:spPr>
          <a:xfrm>
            <a:off x="6507890" y="1646038"/>
            <a:ext cx="2319136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i="1" dirty="0">
                <a:solidFill>
                  <a:srgbClr val="000000"/>
                </a:solidFill>
              </a:rPr>
              <a:t>Input/Image Stream</a:t>
            </a:r>
            <a:endParaRPr kumimoji="0" lang="en-US" sz="12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EBCED7-F277-8539-DF17-0378E8ADCB35}"/>
              </a:ext>
            </a:extLst>
          </p:cNvPr>
          <p:cNvSpPr txBox="1"/>
          <p:nvPr/>
        </p:nvSpPr>
        <p:spPr>
          <a:xfrm>
            <a:off x="6844440" y="5708936"/>
            <a:ext cx="2319136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600" i="1" dirty="0">
                <a:solidFill>
                  <a:srgbClr val="000000"/>
                </a:solidFill>
              </a:rPr>
              <a:t>Output Stream</a:t>
            </a:r>
            <a:endParaRPr kumimoji="0" lang="en-US" sz="12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E7A632-7F7F-2116-F9CA-4249DB8A2F32}"/>
              </a:ext>
            </a:extLst>
          </p:cNvPr>
          <p:cNvSpPr txBox="1"/>
          <p:nvPr/>
        </p:nvSpPr>
        <p:spPr>
          <a:xfrm>
            <a:off x="1396138" y="4619401"/>
            <a:ext cx="2159192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Parses config stream and writes weights/thresholds </a:t>
            </a:r>
            <a:br>
              <a:rPr lang="en-US" sz="1400" i="1" dirty="0">
                <a:solidFill>
                  <a:srgbClr val="000000"/>
                </a:solidFill>
              </a:rPr>
            </a:br>
            <a:r>
              <a:rPr lang="en-US" sz="1400" i="1" dirty="0">
                <a:solidFill>
                  <a:srgbClr val="000000"/>
                </a:solidFill>
              </a:rPr>
              <a:t>to on-chip memory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F3544A-8F51-E2E2-8F28-C9D25A2E1936}"/>
              </a:ext>
            </a:extLst>
          </p:cNvPr>
          <p:cNvSpPr txBox="1"/>
          <p:nvPr/>
        </p:nvSpPr>
        <p:spPr>
          <a:xfrm>
            <a:off x="3948170" y="4581841"/>
            <a:ext cx="2159192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On-chip memories that </a:t>
            </a:r>
            <a:br>
              <a:rPr lang="en-US" sz="1400" i="1" dirty="0">
                <a:solidFill>
                  <a:srgbClr val="000000"/>
                </a:solidFill>
              </a:rPr>
            </a:br>
            <a:r>
              <a:rPr lang="en-US" sz="1400" i="1" dirty="0">
                <a:solidFill>
                  <a:srgbClr val="000000"/>
                </a:solidFill>
              </a:rPr>
              <a:t>provide stream of weights and thresholds to each </a:t>
            </a:r>
            <a:br>
              <a:rPr lang="en-US" sz="1400" i="1" dirty="0">
                <a:solidFill>
                  <a:srgbClr val="000000"/>
                </a:solidFill>
              </a:rPr>
            </a:br>
            <a:r>
              <a:rPr lang="en-US" sz="1400" i="1" dirty="0">
                <a:solidFill>
                  <a:srgbClr val="000000"/>
                </a:solidFill>
              </a:rPr>
              <a:t>processor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148A9A-E706-0F72-BB3E-754CD346679D}"/>
              </a:ext>
            </a:extLst>
          </p:cNvPr>
          <p:cNvSpPr txBox="1"/>
          <p:nvPr/>
        </p:nvSpPr>
        <p:spPr>
          <a:xfrm>
            <a:off x="8763002" y="3177930"/>
            <a:ext cx="215919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Buffer I/O for each layer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ED0970-3E2A-8A85-3191-8D01DE4D4A2C}"/>
              </a:ext>
            </a:extLst>
          </p:cNvPr>
          <p:cNvSpPr txBox="1"/>
          <p:nvPr/>
        </p:nvSpPr>
        <p:spPr>
          <a:xfrm>
            <a:off x="8869771" y="3997740"/>
            <a:ext cx="2781297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Parallel neurons (possibly across layers or all within a single layer)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B62312-5994-C10D-4D26-FF57F4E1647F}"/>
              </a:ext>
            </a:extLst>
          </p:cNvPr>
          <p:cNvSpPr txBox="1"/>
          <p:nvPr/>
        </p:nvSpPr>
        <p:spPr>
          <a:xfrm>
            <a:off x="8869771" y="4988086"/>
            <a:ext cx="2781297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Selects the highest </a:t>
            </a:r>
            <a:r>
              <a:rPr lang="en-US" sz="1400" i="1" dirty="0" err="1">
                <a:solidFill>
                  <a:srgbClr val="000000"/>
                </a:solidFill>
              </a:rPr>
              <a:t>popcount</a:t>
            </a:r>
            <a:r>
              <a:rPr lang="en-US" sz="1400" i="1" dirty="0">
                <a:solidFill>
                  <a:srgbClr val="000000"/>
                </a:solidFill>
              </a:rPr>
              <a:t> </a:t>
            </a:r>
            <a:br>
              <a:rPr lang="en-US" sz="1400" i="1" dirty="0">
                <a:solidFill>
                  <a:srgbClr val="000000"/>
                </a:solidFill>
              </a:rPr>
            </a:br>
            <a:r>
              <a:rPr lang="en-US" sz="1400" i="1" dirty="0">
                <a:solidFill>
                  <a:srgbClr val="000000"/>
                </a:solidFill>
              </a:rPr>
              <a:t>neuron from the output layer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7579242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534445-FE10-D061-3613-AE4B908361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7088" y="983495"/>
            <a:ext cx="11657824" cy="738187"/>
          </a:xfrm>
        </p:spPr>
        <p:txBody>
          <a:bodyPr/>
          <a:lstStyle/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C1A4CB-558B-98BD-525A-B0BE8D9CA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5F9E10-DB0F-A9B2-6B84-F4A1B59DC4DF}"/>
              </a:ext>
            </a:extLst>
          </p:cNvPr>
          <p:cNvSpPr/>
          <p:nvPr/>
        </p:nvSpPr>
        <p:spPr>
          <a:xfrm>
            <a:off x="1925770" y="3466797"/>
            <a:ext cx="250782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Neuron</a:t>
            </a:r>
            <a:b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</a:b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Processor 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20C673-BCCE-CADE-F8C7-1ECF86D8E9EA}"/>
              </a:ext>
            </a:extLst>
          </p:cNvPr>
          <p:cNvSpPr/>
          <p:nvPr/>
        </p:nvSpPr>
        <p:spPr>
          <a:xfrm>
            <a:off x="3259782" y="2379436"/>
            <a:ext cx="1229155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Threshold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RAM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75C092-0E08-5E1E-F3D6-70C4FF41EB76}"/>
              </a:ext>
            </a:extLst>
          </p:cNvPr>
          <p:cNvSpPr/>
          <p:nvPr/>
        </p:nvSpPr>
        <p:spPr>
          <a:xfrm>
            <a:off x="1841930" y="2381854"/>
            <a:ext cx="111846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Weight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RAM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4FA31F-EA22-3F4E-38C2-E046541AF556}"/>
              </a:ext>
            </a:extLst>
          </p:cNvPr>
          <p:cNvSpPr/>
          <p:nvPr/>
        </p:nvSpPr>
        <p:spPr>
          <a:xfrm>
            <a:off x="4247720" y="1422400"/>
            <a:ext cx="111846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I/O </a:t>
            </a:r>
            <a:b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</a:b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Buffer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B17EF5-3699-02D2-D4E6-D97001B07CB1}"/>
              </a:ext>
            </a:extLst>
          </p:cNvPr>
          <p:cNvSpPr/>
          <p:nvPr/>
        </p:nvSpPr>
        <p:spPr>
          <a:xfrm>
            <a:off x="4241370" y="5442042"/>
            <a:ext cx="1118460" cy="660591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I/O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Buffer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A42EDFE-5AB2-4465-7E29-88D6433FD275}"/>
              </a:ext>
            </a:extLst>
          </p:cNvPr>
          <p:cNvSpPr/>
          <p:nvPr/>
        </p:nvSpPr>
        <p:spPr>
          <a:xfrm>
            <a:off x="5162552" y="3466797"/>
            <a:ext cx="250782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Neuron</a:t>
            </a:r>
            <a:b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</a:b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Processor 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647D36-58A7-54F3-09C1-500A03FEED29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401160" y="3120041"/>
            <a:ext cx="0" cy="34675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C09CC6-70EE-71D5-C87D-E0347B2C647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3874359" y="3117623"/>
            <a:ext cx="1" cy="34917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737098-4364-579A-7F16-3F22ACCDC732}"/>
              </a:ext>
            </a:extLst>
          </p:cNvPr>
          <p:cNvCxnSpPr>
            <a:cxnSpLocks/>
          </p:cNvCxnSpPr>
          <p:nvPr/>
        </p:nvCxnSpPr>
        <p:spPr>
          <a:xfrm>
            <a:off x="3188560" y="4207402"/>
            <a:ext cx="0" cy="25150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5DBB98-0E7F-ED53-1C69-791BB799D0AE}"/>
              </a:ext>
            </a:extLst>
          </p:cNvPr>
          <p:cNvCxnSpPr>
            <a:cxnSpLocks/>
            <a:stCxn id="27" idx="2"/>
            <a:endCxn id="9" idx="0"/>
          </p:cNvCxnSpPr>
          <p:nvPr/>
        </p:nvCxnSpPr>
        <p:spPr>
          <a:xfrm>
            <a:off x="4798071" y="5132198"/>
            <a:ext cx="2529" cy="30984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C13AFC3-484F-490E-A081-B6328330AD7E}"/>
              </a:ext>
            </a:extLst>
          </p:cNvPr>
          <p:cNvSpPr/>
          <p:nvPr/>
        </p:nvSpPr>
        <p:spPr>
          <a:xfrm>
            <a:off x="1925770" y="4471608"/>
            <a:ext cx="5744601" cy="660590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P</a:t>
            </a:r>
            <a:r>
              <a:rPr lang="en-US" sz="1800" i="1" baseline="-25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N</a:t>
            </a: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 to P</a:t>
            </a:r>
            <a:r>
              <a:rPr lang="en-US" sz="1800" i="1" baseline="-25000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W</a:t>
            </a: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Conversion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C85D508-5696-74E8-D5BA-EE5E32A9D84A}"/>
              </a:ext>
            </a:extLst>
          </p:cNvPr>
          <p:cNvCxnSpPr>
            <a:stCxn id="8" idx="2"/>
            <a:endCxn id="4" idx="3"/>
          </p:cNvCxnSpPr>
          <p:nvPr/>
        </p:nvCxnSpPr>
        <p:spPr>
          <a:xfrm rot="5400000">
            <a:off x="3782618" y="2811559"/>
            <a:ext cx="1675304" cy="373360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E7A8ABE-A3FA-E54E-D904-7973D979D21B}"/>
              </a:ext>
            </a:extLst>
          </p:cNvPr>
          <p:cNvCxnSpPr>
            <a:cxnSpLocks/>
            <a:stCxn id="8" idx="2"/>
            <a:endCxn id="11" idx="1"/>
          </p:cNvCxnSpPr>
          <p:nvPr/>
        </p:nvCxnSpPr>
        <p:spPr>
          <a:xfrm rot="16200000" flipH="1">
            <a:off x="4147099" y="2820438"/>
            <a:ext cx="1675304" cy="355602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FBED7E3-683B-D4DC-C734-4F5B683C110E}"/>
              </a:ext>
            </a:extLst>
          </p:cNvPr>
          <p:cNvSpPr txBox="1"/>
          <p:nvPr/>
        </p:nvSpPr>
        <p:spPr>
          <a:xfrm>
            <a:off x="7864906" y="3642566"/>
            <a:ext cx="215919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b="1" i="1" dirty="0">
                <a:solidFill>
                  <a:srgbClr val="000000"/>
                </a:solidFill>
              </a:rPr>
              <a:t>. . . . . . . . . . . . . .</a:t>
            </a:r>
            <a:endParaRPr kumimoji="0" lang="en-US" sz="1100" b="1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A5EA7CC-B09C-63E7-1608-8F3EB9E3FD14}"/>
              </a:ext>
            </a:extLst>
          </p:cNvPr>
          <p:cNvSpPr txBox="1"/>
          <p:nvPr/>
        </p:nvSpPr>
        <p:spPr>
          <a:xfrm>
            <a:off x="8069320" y="2428613"/>
            <a:ext cx="3055880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Each processor has its own separate weight and threshold RAM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94339D4-33E8-11F5-0E72-D767769CB2BF}"/>
              </a:ext>
            </a:extLst>
          </p:cNvPr>
          <p:cNvCxnSpPr>
            <a:cxnSpLocks/>
          </p:cNvCxnSpPr>
          <p:nvPr/>
        </p:nvCxnSpPr>
        <p:spPr>
          <a:xfrm>
            <a:off x="2332854" y="3212873"/>
            <a:ext cx="136612" cy="96139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311B8FE-1F09-9248-272E-829C9FCBE75D}"/>
              </a:ext>
            </a:extLst>
          </p:cNvPr>
          <p:cNvSpPr txBox="1"/>
          <p:nvPr/>
        </p:nvSpPr>
        <p:spPr>
          <a:xfrm>
            <a:off x="2525621" y="3120650"/>
            <a:ext cx="2803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P</a:t>
            </a:r>
            <a:r>
              <a:rPr lang="en-US" sz="1600" i="1" baseline="-25000" dirty="0"/>
              <a:t>W</a:t>
            </a:r>
            <a:endParaRPr lang="en-US" sz="1200" i="1" baseline="-25000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DDEFE93-D60D-2601-9E0D-E0D85EEB2036}"/>
              </a:ext>
            </a:extLst>
          </p:cNvPr>
          <p:cNvSpPr/>
          <p:nvPr/>
        </p:nvSpPr>
        <p:spPr>
          <a:xfrm>
            <a:off x="6635751" y="2377018"/>
            <a:ext cx="1229155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Threshold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RAM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0E29D08-4C01-C0A4-279C-C0433A13FFD4}"/>
              </a:ext>
            </a:extLst>
          </p:cNvPr>
          <p:cNvSpPr/>
          <p:nvPr/>
        </p:nvSpPr>
        <p:spPr>
          <a:xfrm>
            <a:off x="5217899" y="2379436"/>
            <a:ext cx="111846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Weight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RAM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3367931-B77A-D4B4-2404-1DA113105E88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5777129" y="3117623"/>
            <a:ext cx="0" cy="34675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436F592-4695-4847-5566-69269505D129}"/>
              </a:ext>
            </a:extLst>
          </p:cNvPr>
          <p:cNvCxnSpPr>
            <a:cxnSpLocks/>
            <a:stCxn id="52" idx="2"/>
          </p:cNvCxnSpPr>
          <p:nvPr/>
        </p:nvCxnSpPr>
        <p:spPr>
          <a:xfrm flipH="1">
            <a:off x="7250328" y="3115205"/>
            <a:ext cx="1" cy="34917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4A291B7-8F22-6CC7-A61E-43E91DF8B677}"/>
              </a:ext>
            </a:extLst>
          </p:cNvPr>
          <p:cNvCxnSpPr>
            <a:cxnSpLocks/>
          </p:cNvCxnSpPr>
          <p:nvPr/>
        </p:nvCxnSpPr>
        <p:spPr>
          <a:xfrm>
            <a:off x="5708823" y="3210455"/>
            <a:ext cx="136612" cy="96139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B382EF6-D415-2E0C-BDB4-F24EB3885B0E}"/>
              </a:ext>
            </a:extLst>
          </p:cNvPr>
          <p:cNvSpPr txBox="1"/>
          <p:nvPr/>
        </p:nvSpPr>
        <p:spPr>
          <a:xfrm>
            <a:off x="5901590" y="3118232"/>
            <a:ext cx="2803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P</a:t>
            </a:r>
            <a:r>
              <a:rPr lang="en-US" sz="1600" i="1" baseline="-25000" dirty="0"/>
              <a:t>W</a:t>
            </a:r>
            <a:endParaRPr lang="en-US" sz="1200" i="1" baseline="-25000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E86DD9E-B824-66CB-914C-B6FBDF4182FF}"/>
              </a:ext>
            </a:extLst>
          </p:cNvPr>
          <p:cNvCxnSpPr>
            <a:cxnSpLocks/>
          </p:cNvCxnSpPr>
          <p:nvPr/>
        </p:nvCxnSpPr>
        <p:spPr>
          <a:xfrm>
            <a:off x="4744824" y="5185385"/>
            <a:ext cx="136612" cy="96139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17B6585-3687-11A4-4182-C52C1CFF6393}"/>
              </a:ext>
            </a:extLst>
          </p:cNvPr>
          <p:cNvSpPr txBox="1"/>
          <p:nvPr/>
        </p:nvSpPr>
        <p:spPr>
          <a:xfrm>
            <a:off x="4937591" y="5118562"/>
            <a:ext cx="2803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P</a:t>
            </a:r>
            <a:r>
              <a:rPr lang="en-US" sz="1600" i="1" baseline="-25000" dirty="0"/>
              <a:t>W</a:t>
            </a:r>
            <a:endParaRPr lang="en-US" sz="1200" i="1" baseline="-25000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B1BECAE-1609-4735-1A2A-4C52DE1524EF}"/>
              </a:ext>
            </a:extLst>
          </p:cNvPr>
          <p:cNvCxnSpPr>
            <a:cxnSpLocks/>
          </p:cNvCxnSpPr>
          <p:nvPr/>
        </p:nvCxnSpPr>
        <p:spPr>
          <a:xfrm>
            <a:off x="6503260" y="4204984"/>
            <a:ext cx="0" cy="25150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F68DF4A-DE8A-324A-36CD-A9E9251B9E26}"/>
              </a:ext>
            </a:extLst>
          </p:cNvPr>
          <p:cNvSpPr txBox="1"/>
          <p:nvPr/>
        </p:nvSpPr>
        <p:spPr>
          <a:xfrm>
            <a:off x="9291182" y="3676872"/>
            <a:ext cx="2159192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Neuron Processor P</a:t>
            </a:r>
            <a:r>
              <a:rPr lang="en-US" sz="1400" i="1" baseline="-25000" dirty="0">
                <a:solidFill>
                  <a:srgbClr val="000000"/>
                </a:solidFill>
              </a:rPr>
              <a:t>N-1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1833B0A-F08D-9202-D280-2AE1C5848972}"/>
              </a:ext>
            </a:extLst>
          </p:cNvPr>
          <p:cNvSpPr txBox="1"/>
          <p:nvPr/>
        </p:nvSpPr>
        <p:spPr>
          <a:xfrm>
            <a:off x="5484870" y="1576725"/>
            <a:ext cx="3259080" cy="31803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Inputs fan-out to all neuron processors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EB58952-06F2-5633-FC2B-F907DECEBDEE}"/>
              </a:ext>
            </a:extLst>
          </p:cNvPr>
          <p:cNvSpPr txBox="1"/>
          <p:nvPr/>
        </p:nvSpPr>
        <p:spPr>
          <a:xfrm>
            <a:off x="5366180" y="5501174"/>
            <a:ext cx="354171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Outputs are stored P</a:t>
            </a:r>
            <a:r>
              <a:rPr lang="en-US" sz="1400" i="1" baseline="-25000" dirty="0">
                <a:solidFill>
                  <a:srgbClr val="000000"/>
                </a:solidFill>
              </a:rPr>
              <a:t>W</a:t>
            </a:r>
            <a:r>
              <a:rPr lang="en-US" sz="1400" i="1" dirty="0">
                <a:solidFill>
                  <a:srgbClr val="000000"/>
                </a:solidFill>
              </a:rPr>
              <a:t> bits at a time to align with the next layer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7BCDEA-EA05-D55A-1C4D-A1875E170AFC}"/>
              </a:ext>
            </a:extLst>
          </p:cNvPr>
          <p:cNvCxnSpPr>
            <a:cxnSpLocks/>
          </p:cNvCxnSpPr>
          <p:nvPr/>
        </p:nvCxnSpPr>
        <p:spPr>
          <a:xfrm>
            <a:off x="4737986" y="3213504"/>
            <a:ext cx="136612" cy="96139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620B5DE-EB79-D423-FE89-D4034318CA72}"/>
              </a:ext>
            </a:extLst>
          </p:cNvPr>
          <p:cNvSpPr txBox="1"/>
          <p:nvPr/>
        </p:nvSpPr>
        <p:spPr>
          <a:xfrm>
            <a:off x="4930753" y="3121281"/>
            <a:ext cx="2803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P</a:t>
            </a:r>
            <a:r>
              <a:rPr lang="en-US" sz="1600" i="1" baseline="-25000" dirty="0"/>
              <a:t>W</a:t>
            </a:r>
            <a:endParaRPr lang="en-US" sz="1200" i="1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65130A-E2D5-F3C8-5DFD-C7A707F01553}"/>
              </a:ext>
            </a:extLst>
          </p:cNvPr>
          <p:cNvSpPr txBox="1"/>
          <p:nvPr/>
        </p:nvSpPr>
        <p:spPr>
          <a:xfrm>
            <a:off x="7722030" y="4516468"/>
            <a:ext cx="3541713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i="1" dirty="0">
                <a:solidFill>
                  <a:srgbClr val="000000"/>
                </a:solidFill>
              </a:rPr>
              <a:t>NPs generate P</a:t>
            </a:r>
            <a:r>
              <a:rPr lang="en-US" sz="1400" i="1" baseline="-25000" dirty="0">
                <a:solidFill>
                  <a:srgbClr val="000000"/>
                </a:solidFill>
              </a:rPr>
              <a:t>N</a:t>
            </a:r>
            <a:r>
              <a:rPr lang="en-US" sz="1400" i="1" dirty="0">
                <a:solidFill>
                  <a:srgbClr val="000000"/>
                </a:solidFill>
              </a:rPr>
              <a:t> bits at a time, but I/O </a:t>
            </a:r>
            <a:br>
              <a:rPr lang="en-US" sz="1400" i="1" dirty="0">
                <a:solidFill>
                  <a:srgbClr val="000000"/>
                </a:solidFill>
              </a:rPr>
            </a:br>
            <a:r>
              <a:rPr lang="en-US" sz="1400" i="1" dirty="0">
                <a:solidFill>
                  <a:srgbClr val="000000"/>
                </a:solidFill>
              </a:rPr>
              <a:t>buffers must provide P</a:t>
            </a:r>
            <a:r>
              <a:rPr lang="en-US" sz="1400" i="1" baseline="-25000" dirty="0">
                <a:solidFill>
                  <a:srgbClr val="000000"/>
                </a:solidFill>
              </a:rPr>
              <a:t>W</a:t>
            </a:r>
            <a:r>
              <a:rPr lang="en-US" sz="1400" i="1" dirty="0">
                <a:solidFill>
                  <a:srgbClr val="000000"/>
                </a:solidFill>
              </a:rPr>
              <a:t> bits at a time</a:t>
            </a:r>
            <a:endParaRPr kumimoji="0" lang="en-US" sz="11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3616640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4BDDD-DEED-5A12-8482-68DCEA43A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7169B4-93A1-AAEE-9F33-C97331FFC6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7088" y="983495"/>
            <a:ext cx="11657824" cy="738187"/>
          </a:xfrm>
        </p:spPr>
        <p:txBody>
          <a:bodyPr/>
          <a:lstStyle/>
          <a:p>
            <a:r>
              <a:rPr lang="en-US" sz="2400" dirty="0"/>
              <a:t>In general, number of neurons in a layer will exceed P</a:t>
            </a:r>
            <a:r>
              <a:rPr lang="en-US" sz="2400" baseline="-25000" dirty="0"/>
              <a:t>N</a:t>
            </a:r>
          </a:p>
          <a:p>
            <a:pPr lvl="1"/>
            <a:r>
              <a:rPr lang="en-US" sz="2000" dirty="0"/>
              <a:t>Processors will be shared across multiple actual neurons</a:t>
            </a:r>
          </a:p>
          <a:p>
            <a:pPr lvl="1"/>
            <a:r>
              <a:rPr lang="en-US" sz="2000" dirty="0"/>
              <a:t>e.g., 16 total neurons in layer, 2 neuron processors</a:t>
            </a:r>
          </a:p>
          <a:p>
            <a:pPr lvl="1"/>
            <a:r>
              <a:rPr lang="en-US" sz="2000" dirty="0"/>
              <a:t>Processor 0 handles neurons 0, 2, 4, 6, 8, etc.</a:t>
            </a:r>
          </a:p>
          <a:p>
            <a:pPr lvl="1"/>
            <a:r>
              <a:rPr lang="en-US" sz="2000" dirty="0"/>
              <a:t>Processor 1 handles neurons 1, 3, 5, 7, 9, etc.</a:t>
            </a:r>
          </a:p>
          <a:p>
            <a:r>
              <a:rPr lang="en-US" sz="2400" dirty="0"/>
              <a:t>Configuration manager must take this into consideration when storing weights/thresholds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127E94-4AB2-2C22-D26A-E0F186CF8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E0AA41-C1EE-C586-7FCC-8A9EBA0764FC}"/>
              </a:ext>
            </a:extLst>
          </p:cNvPr>
          <p:cNvSpPr/>
          <p:nvPr/>
        </p:nvSpPr>
        <p:spPr>
          <a:xfrm>
            <a:off x="3132270" y="5371797"/>
            <a:ext cx="250782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Neuron</a:t>
            </a:r>
            <a:b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</a:b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Processor 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A31835-6C70-F408-0386-961410E03294}"/>
              </a:ext>
            </a:extLst>
          </p:cNvPr>
          <p:cNvSpPr/>
          <p:nvPr/>
        </p:nvSpPr>
        <p:spPr>
          <a:xfrm>
            <a:off x="4466282" y="4284436"/>
            <a:ext cx="1229155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Threshold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RAM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6FBD0F-3C6C-D095-FF57-ACA38F6D818F}"/>
              </a:ext>
            </a:extLst>
          </p:cNvPr>
          <p:cNvSpPr/>
          <p:nvPr/>
        </p:nvSpPr>
        <p:spPr>
          <a:xfrm>
            <a:off x="3048430" y="4286854"/>
            <a:ext cx="111846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Weight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RAM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1D45A1-D981-33D0-DED1-4F65D117143C}"/>
              </a:ext>
            </a:extLst>
          </p:cNvPr>
          <p:cNvSpPr/>
          <p:nvPr/>
        </p:nvSpPr>
        <p:spPr>
          <a:xfrm>
            <a:off x="5454220" y="3327400"/>
            <a:ext cx="111846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I/O </a:t>
            </a:r>
            <a:b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</a:br>
            <a:r>
              <a:rPr kumimoji="0" lang="en-US" sz="2400" b="0" i="1" u="none" strike="noStrike" cap="none" spc="0" normalizeH="0" baseline="-2500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Buffer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C747C5-9370-0810-5B2C-85C5768BAC9A}"/>
              </a:ext>
            </a:extLst>
          </p:cNvPr>
          <p:cNvSpPr/>
          <p:nvPr/>
        </p:nvSpPr>
        <p:spPr>
          <a:xfrm>
            <a:off x="6369052" y="5371797"/>
            <a:ext cx="250782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Neuron</a:t>
            </a:r>
            <a:b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</a:br>
            <a:r>
              <a:rPr kumimoji="0" lang="en-US" sz="1800" b="0" i="1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Arial" panose="020B0604020202020204" pitchFamily="34" charset="0"/>
                <a:ea typeface="Gill Sans"/>
                <a:cs typeface="Arial" panose="020B0604020202020204" pitchFamily="34" charset="0"/>
                <a:sym typeface="Gill Sans"/>
              </a:rPr>
              <a:t>Processor 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D8F9DA-F5C9-4404-4F4A-85011BD95C09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607660" y="5025041"/>
            <a:ext cx="0" cy="34675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3124E1-2B78-CDD3-EE3E-CCA38B060CEC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080859" y="5022623"/>
            <a:ext cx="1" cy="34917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D2830C41-5104-361D-4597-FAA9CB9D1BDF}"/>
              </a:ext>
            </a:extLst>
          </p:cNvPr>
          <p:cNvCxnSpPr>
            <a:stCxn id="8" idx="2"/>
            <a:endCxn id="4" idx="3"/>
          </p:cNvCxnSpPr>
          <p:nvPr/>
        </p:nvCxnSpPr>
        <p:spPr>
          <a:xfrm rot="5400000">
            <a:off x="4989118" y="4716559"/>
            <a:ext cx="1675304" cy="373360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649399D6-B4AE-B175-AA24-5AA8965BB753}"/>
              </a:ext>
            </a:extLst>
          </p:cNvPr>
          <p:cNvCxnSpPr>
            <a:cxnSpLocks/>
            <a:stCxn id="8" idx="2"/>
            <a:endCxn id="11" idx="1"/>
          </p:cNvCxnSpPr>
          <p:nvPr/>
        </p:nvCxnSpPr>
        <p:spPr>
          <a:xfrm rot="16200000" flipH="1">
            <a:off x="5353599" y="4725438"/>
            <a:ext cx="1675304" cy="355602"/>
          </a:xfrm>
          <a:prstGeom prst="bentConnector2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2064C24-7E9F-15A4-718F-6E1F0F5F590B}"/>
              </a:ext>
            </a:extLst>
          </p:cNvPr>
          <p:cNvCxnSpPr>
            <a:cxnSpLocks/>
          </p:cNvCxnSpPr>
          <p:nvPr/>
        </p:nvCxnSpPr>
        <p:spPr>
          <a:xfrm>
            <a:off x="3539354" y="5117873"/>
            <a:ext cx="136612" cy="96139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18099E3-16F8-7E8C-397A-D05414C73E08}"/>
              </a:ext>
            </a:extLst>
          </p:cNvPr>
          <p:cNvSpPr txBox="1"/>
          <p:nvPr/>
        </p:nvSpPr>
        <p:spPr>
          <a:xfrm>
            <a:off x="3732121" y="5025650"/>
            <a:ext cx="2803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P</a:t>
            </a:r>
            <a:r>
              <a:rPr lang="en-US" sz="1600" i="1" baseline="-25000" dirty="0"/>
              <a:t>W</a:t>
            </a:r>
            <a:endParaRPr lang="en-US" sz="1200" i="1" baseline="-25000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766620D-65EF-16EA-D033-7836134D8A4E}"/>
              </a:ext>
            </a:extLst>
          </p:cNvPr>
          <p:cNvSpPr/>
          <p:nvPr/>
        </p:nvSpPr>
        <p:spPr>
          <a:xfrm>
            <a:off x="7842251" y="4282018"/>
            <a:ext cx="1229155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Threshold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RAM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078A098-F5C8-5F9A-F9EA-228455BE8D0B}"/>
              </a:ext>
            </a:extLst>
          </p:cNvPr>
          <p:cNvSpPr/>
          <p:nvPr/>
        </p:nvSpPr>
        <p:spPr>
          <a:xfrm>
            <a:off x="6424399" y="4284436"/>
            <a:ext cx="1118460" cy="738187"/>
          </a:xfrm>
          <a:prstGeom prst="roundRect">
            <a:avLst/>
          </a:prstGeom>
          <a:solidFill>
            <a:schemeClr val="bg2"/>
          </a:solidFill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0" rIns="50800" bIns="0" numCol="1" spcCol="38100" rtlCol="0" anchor="t" anchorCtr="0">
            <a:noAutofit/>
          </a:bodyPr>
          <a:lstStyle/>
          <a:p>
            <a:pPr algn="ctr" defTabSz="584200" rtl="0" latinLnBrk="1" hangingPunct="0"/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Weight </a:t>
            </a:r>
            <a:b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</a:br>
            <a:r>
              <a:rPr lang="en-US" sz="1800" i="1" dirty="0">
                <a:solidFill>
                  <a:schemeClr val="tx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Gill Sans"/>
              </a:rPr>
              <a:t>RAM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AC90B71-AB40-CCFC-EB22-0AA28FF6DCE5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6983629" y="5022623"/>
            <a:ext cx="0" cy="34675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499F28C-D861-2C60-0F4A-E6BADC5320ED}"/>
              </a:ext>
            </a:extLst>
          </p:cNvPr>
          <p:cNvCxnSpPr>
            <a:cxnSpLocks/>
            <a:stCxn id="52" idx="2"/>
          </p:cNvCxnSpPr>
          <p:nvPr/>
        </p:nvCxnSpPr>
        <p:spPr>
          <a:xfrm flipH="1">
            <a:off x="8456828" y="5020205"/>
            <a:ext cx="1" cy="349174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9DD4F71-E8A8-6DB3-1D46-BF3A097A97F6}"/>
              </a:ext>
            </a:extLst>
          </p:cNvPr>
          <p:cNvCxnSpPr>
            <a:cxnSpLocks/>
          </p:cNvCxnSpPr>
          <p:nvPr/>
        </p:nvCxnSpPr>
        <p:spPr>
          <a:xfrm>
            <a:off x="6915323" y="5115455"/>
            <a:ext cx="136612" cy="96139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539A3DB-A7D3-FACF-4C27-6611EE0F9978}"/>
              </a:ext>
            </a:extLst>
          </p:cNvPr>
          <p:cNvSpPr txBox="1"/>
          <p:nvPr/>
        </p:nvSpPr>
        <p:spPr>
          <a:xfrm>
            <a:off x="7108090" y="5023232"/>
            <a:ext cx="2803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i="1" dirty="0"/>
              <a:t>P</a:t>
            </a:r>
            <a:r>
              <a:rPr lang="en-US" sz="1600" i="1" baseline="-25000" dirty="0"/>
              <a:t>W</a:t>
            </a:r>
            <a:endParaRPr lang="en-US" sz="1200" i="1" baseline="-25000" dirty="0"/>
          </a:p>
        </p:txBody>
      </p:sp>
    </p:spTree>
    <p:extLst>
      <p:ext uri="{BB962C8B-B14F-4D97-AF65-F5344CB8AC3E}">
        <p14:creationId xmlns:p14="http://schemas.microsoft.com/office/powerpoint/2010/main" val="124929356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D02AF7-05D4-529B-20AA-B50C9035C7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000" dirty="0"/>
              <a:t>One layer at a time</a:t>
            </a:r>
          </a:p>
          <a:p>
            <a:pPr lvl="1"/>
            <a:r>
              <a:rPr lang="en-US" sz="1800" dirty="0"/>
              <a:t>Prioritizes latency of each individual layer at cost of throughput</a:t>
            </a:r>
          </a:p>
          <a:p>
            <a:r>
              <a:rPr lang="en-US" sz="2000" dirty="0"/>
              <a:t>Multiple layers at a time</a:t>
            </a:r>
          </a:p>
          <a:p>
            <a:pPr lvl="1"/>
            <a:r>
              <a:rPr lang="en-US" sz="1800" dirty="0"/>
              <a:t>Each layer takes longer, but better throughput</a:t>
            </a:r>
          </a:p>
          <a:p>
            <a:r>
              <a:rPr lang="en-US" sz="2000" dirty="0"/>
              <a:t>All layers in parallel</a:t>
            </a:r>
          </a:p>
          <a:p>
            <a:pPr lvl="1"/>
            <a:r>
              <a:rPr lang="en-US" sz="1800" dirty="0"/>
              <a:t>Each layer is slow, but throughput likely best</a:t>
            </a:r>
          </a:p>
          <a:p>
            <a:pPr lvl="1"/>
            <a:r>
              <a:rPr lang="en-US" sz="1800" dirty="0"/>
              <a:t>Throughput limited to latency of slowest layer, which might suffer from fewer allocated resources</a:t>
            </a:r>
          </a:p>
          <a:p>
            <a:r>
              <a:rPr lang="en-US" sz="2000" dirty="0"/>
              <a:t>Use same P</a:t>
            </a:r>
            <a:r>
              <a:rPr lang="en-US" sz="2000" baseline="-25000" dirty="0"/>
              <a:t>N</a:t>
            </a:r>
            <a:r>
              <a:rPr lang="en-US" sz="2000" dirty="0"/>
              <a:t> and P</a:t>
            </a:r>
            <a:r>
              <a:rPr lang="en-US" sz="2000" baseline="-25000" dirty="0"/>
              <a:t>W </a:t>
            </a:r>
            <a:r>
              <a:rPr lang="en-US" sz="2000" dirty="0"/>
              <a:t>for all layers?</a:t>
            </a:r>
          </a:p>
          <a:p>
            <a:pPr lvl="1"/>
            <a:r>
              <a:rPr lang="en-US" sz="1800" dirty="0"/>
              <a:t>Greatly simplifies configuration manager</a:t>
            </a:r>
          </a:p>
          <a:p>
            <a:pPr lvl="1"/>
            <a:r>
              <a:rPr lang="en-US" sz="1800" dirty="0"/>
              <a:t>But, restricts parallelism</a:t>
            </a:r>
          </a:p>
          <a:p>
            <a:pPr lvl="2"/>
            <a:r>
              <a:rPr lang="en-US" sz="1600" dirty="0"/>
              <a:t>E.g., might want a higher P</a:t>
            </a:r>
            <a:r>
              <a:rPr lang="en-US" sz="1600" baseline="-25000" dirty="0"/>
              <a:t>W</a:t>
            </a:r>
            <a:r>
              <a:rPr lang="en-US" sz="1600" dirty="0"/>
              <a:t> for first hidden layer, which has many inputs (784 vs. 256)</a:t>
            </a:r>
          </a:p>
          <a:p>
            <a:r>
              <a:rPr lang="en-US" sz="2000" dirty="0"/>
              <a:t>Recommendation: start simple, maybe even P</a:t>
            </a:r>
            <a:r>
              <a:rPr lang="en-US" sz="2000" baseline="-25000" dirty="0"/>
              <a:t>N</a:t>
            </a:r>
            <a:r>
              <a:rPr lang="en-US" sz="2000" dirty="0"/>
              <a:t>=1, P</a:t>
            </a:r>
            <a:r>
              <a:rPr lang="en-US" sz="2000" baseline="-25000" dirty="0"/>
              <a:t>W</a:t>
            </a:r>
            <a:r>
              <a:rPr lang="en-US" sz="2000" dirty="0"/>
              <a:t>=1</a:t>
            </a:r>
          </a:p>
          <a:p>
            <a:pPr lvl="1"/>
            <a:r>
              <a:rPr lang="en-US" sz="1800" dirty="0"/>
              <a:t>Get it working, then increase parallelism and parameterize</a:t>
            </a:r>
          </a:p>
          <a:p>
            <a:pPr lvl="1"/>
            <a:r>
              <a:rPr lang="en-US" sz="1800" dirty="0"/>
              <a:t>Or, set P</a:t>
            </a:r>
            <a:r>
              <a:rPr lang="en-US" sz="1800" baseline="-25000" dirty="0"/>
              <a:t>N</a:t>
            </a:r>
            <a:r>
              <a:rPr lang="en-US" sz="1800" dirty="0"/>
              <a:t>=P</a:t>
            </a:r>
            <a:r>
              <a:rPr lang="en-US" sz="1800" baseline="-25000" dirty="0"/>
              <a:t>W</a:t>
            </a:r>
            <a:r>
              <a:rPr lang="en-US" sz="1800" dirty="0"/>
              <a:t>=8 to initially eliminate all width conversion challenges</a:t>
            </a:r>
          </a:p>
          <a:p>
            <a:pPr lvl="2"/>
            <a:r>
              <a:rPr lang="en-US" sz="1400" dirty="0"/>
              <a:t>Explained in future presentation</a:t>
            </a:r>
            <a:r>
              <a:rPr lang="en-US" sz="1200" dirty="0"/>
              <a:t> </a:t>
            </a:r>
            <a:endParaRPr lang="en-US" sz="1200" baseline="-25000" dirty="0"/>
          </a:p>
          <a:p>
            <a:pPr lvl="2"/>
            <a:endParaRPr lang="en-US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63BEBF-93D4-B3EC-FBA0-07D858649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Parallelization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3684855900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ig Logo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New template wide.pptx" id="{2F7E3479-46E5-4D2F-9C4A-A44092FA6F11}" vid="{9997ABD2-C28D-460D-AECD-CC9F085155FB}"/>
    </a:ext>
  </a:extLst>
</a:theme>
</file>

<file path=ppt/theme/theme2.xml><?xml version="1.0" encoding="utf-8"?>
<a:theme xmlns:a="http://schemas.openxmlformats.org/drawingml/2006/main" name="Text with normal heading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New template wide.pptx" id="{2F7E3479-46E5-4D2F-9C4A-A44092FA6F11}" vid="{9997ABD2-C28D-460D-AECD-CC9F085155FB}"/>
    </a:ext>
  </a:extLst>
</a:theme>
</file>

<file path=ppt/theme/theme3.xml><?xml version="1.0" encoding="utf-8"?>
<a:theme xmlns:a="http://schemas.openxmlformats.org/drawingml/2006/main" name="Fancy Header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New template wide.pptx" id="{2F7E3479-46E5-4D2F-9C4A-A44092FA6F11}" vid="{9997ABD2-C28D-460D-AECD-CC9F085155FB}"/>
    </a:ext>
  </a:extLst>
</a:theme>
</file>

<file path=ppt/theme/theme4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Gill Sans"/>
            <a:ea typeface="Gill Sans"/>
            <a:cs typeface="Gill San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15A10438976445A4F2A564A9063629" ma:contentTypeVersion="6" ma:contentTypeDescription="Create a new document." ma:contentTypeScope="" ma:versionID="45806b5510493321e140864de03fb7ad">
  <xsd:schema xmlns:xsd="http://www.w3.org/2001/XMLSchema" xmlns:xs="http://www.w3.org/2001/XMLSchema" xmlns:p="http://schemas.microsoft.com/office/2006/metadata/properties" xmlns:ns2="63fc63a6-18cf-4814-8dee-b8d6616a2bda" targetNamespace="http://schemas.microsoft.com/office/2006/metadata/properties" ma:root="true" ma:fieldsID="3db532ccb85098a64b7e52bb711c9525" ns2:_="">
    <xsd:import namespace="63fc63a6-18cf-4814-8dee-b8d6616a2b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fc63a6-18cf-4814-8dee-b8d6616a2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EF2080-A3D2-46D5-AF20-1C20554745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fc63a6-18cf-4814-8dee-b8d6616a2b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D54C70-8A1F-433D-B3DF-B7287D9E16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6C1367-8D37-49A1-BF4B-2E9150DA2B52}">
  <ds:schemaRefs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63fc63a6-18cf-4814-8dee-b8d6616a2bda"/>
    <ds:schemaRef ds:uri="http://purl.org/dc/terms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FICS template wide</Template>
  <TotalTime>23998</TotalTime>
  <Words>2551</Words>
  <Application>Microsoft Office PowerPoint</Application>
  <PresentationFormat>Widescreen</PresentationFormat>
  <Paragraphs>394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Gill Sans</vt:lpstr>
      <vt:lpstr>Gill Sans Light</vt:lpstr>
      <vt:lpstr>Lucida Grande</vt:lpstr>
      <vt:lpstr>Monaspace Neon</vt:lpstr>
      <vt:lpstr>Arial</vt:lpstr>
      <vt:lpstr>Courier New</vt:lpstr>
      <vt:lpstr>Helvetica</vt:lpstr>
      <vt:lpstr>Wingdings</vt:lpstr>
      <vt:lpstr>Big Logo</vt:lpstr>
      <vt:lpstr>Text with normal heading</vt:lpstr>
      <vt:lpstr>Fancy Header</vt:lpstr>
      <vt:lpstr>PowerPoint Presentation</vt:lpstr>
      <vt:lpstr>Introduction</vt:lpstr>
      <vt:lpstr>Use Cases</vt:lpstr>
      <vt:lpstr>Background</vt:lpstr>
      <vt:lpstr>Background: Neurons</vt:lpstr>
      <vt:lpstr>Background: MLP Topology</vt:lpstr>
      <vt:lpstr>Project Topology</vt:lpstr>
      <vt:lpstr>Why BNNs?</vt:lpstr>
      <vt:lpstr>Why BNNs?</vt:lpstr>
      <vt:lpstr>MLP Neuron vs BNN Neuron</vt:lpstr>
      <vt:lpstr>Neuron Processor (NP) Architecture</vt:lpstr>
      <vt:lpstr>Neuron Processor (NP) Architecture</vt:lpstr>
      <vt:lpstr>Translating Problem to BNN</vt:lpstr>
      <vt:lpstr>Translating Problem to BNN</vt:lpstr>
      <vt:lpstr>DUT (bnn_fcc) Interface</vt:lpstr>
      <vt:lpstr>Configuration Format</vt:lpstr>
      <vt:lpstr>Configuration Format</vt:lpstr>
      <vt:lpstr>Configuration Format</vt:lpstr>
      <vt:lpstr>Memory Architecture and Data Layout</vt:lpstr>
      <vt:lpstr>Overall Architecture</vt:lpstr>
      <vt:lpstr>Overall Architecture</vt:lpstr>
      <vt:lpstr>Overall Architecture</vt:lpstr>
      <vt:lpstr>Parallelization Strategies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 PAC Training</dc:title>
  <dc:creator>Greg Stitt</dc:creator>
  <cp:lastModifiedBy>Stitt,Gregory</cp:lastModifiedBy>
  <cp:revision>480</cp:revision>
  <dcterms:created xsi:type="dcterms:W3CDTF">2017-01-16T21:37:43Z</dcterms:created>
  <dcterms:modified xsi:type="dcterms:W3CDTF">2026-01-16T15:30:54Z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0x010100DD15A10438976445A4F2A564A9063629</vt:lpwstr>
  </property>
</Properties>
</file>